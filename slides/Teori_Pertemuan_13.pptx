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2d2740fb5644f9" /><Relationship Type="http://schemas.openxmlformats.org/officeDocument/2006/relationships/extended-properties" Target="/docProps/app.xml" Id="R5ffdb47bd166489b" /><Relationship Type="http://schemas.openxmlformats.org/officeDocument/2006/relationships/officeDocument" Target="/ppt/presentation.xml" Id="R1f0a5feb554e40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4623553c254851"/>
  </p:sldMasterIdLst>
  <p:notesMasterIdLst>
    <p:notesMasterId xmlns:r="http://schemas.openxmlformats.org/officeDocument/2006/relationships" r:id="Re844e276fd904e47"/>
  </p:notesMasterIdLst>
  <p:sldIdLst>
    <p:sldId xmlns:r="http://schemas.openxmlformats.org/officeDocument/2006/relationships" id="256" r:id="R277ac1a8324e4265"/>
    <p:sldId xmlns:r="http://schemas.openxmlformats.org/officeDocument/2006/relationships" id="257" r:id="Reabb04d135f64519"/>
    <p:sldId xmlns:r="http://schemas.openxmlformats.org/officeDocument/2006/relationships" id="258" r:id="R99c128d90bc64c9b"/>
    <p:sldId xmlns:r="http://schemas.openxmlformats.org/officeDocument/2006/relationships" id="259" r:id="R3b112604e31544b1"/>
    <p:sldId xmlns:r="http://schemas.openxmlformats.org/officeDocument/2006/relationships" id="260" r:id="Rfe6480ef24ba42c1"/>
    <p:sldId xmlns:r="http://schemas.openxmlformats.org/officeDocument/2006/relationships" id="261" r:id="R6410814ecda9494b"/>
    <p:sldId xmlns:r="http://schemas.openxmlformats.org/officeDocument/2006/relationships" id="262" r:id="R53eca81bdeec499b"/>
    <p:sldId xmlns:r="http://schemas.openxmlformats.org/officeDocument/2006/relationships" id="263" r:id="R501fe8dad4b848fe"/>
    <p:sldId xmlns:r="http://schemas.openxmlformats.org/officeDocument/2006/relationships" id="264" r:id="R4445ddd007984d60"/>
    <p:sldId xmlns:r="http://schemas.openxmlformats.org/officeDocument/2006/relationships" id="265" r:id="R43743b7e1bf347ff"/>
    <p:sldId xmlns:r="http://schemas.openxmlformats.org/officeDocument/2006/relationships" id="266" r:id="Rc0c0219538644e04"/>
    <p:sldId xmlns:r="http://schemas.openxmlformats.org/officeDocument/2006/relationships" id="267" r:id="Rb073c7eb9a454278"/>
    <p:sldId xmlns:r="http://schemas.openxmlformats.org/officeDocument/2006/relationships" id="268" r:id="R9b3237a5ba5b444d"/>
    <p:sldId xmlns:r="http://schemas.openxmlformats.org/officeDocument/2006/relationships" id="269" r:id="R19eb175620f44654"/>
    <p:sldId xmlns:r="http://schemas.openxmlformats.org/officeDocument/2006/relationships" id="270" r:id="R01e0d2cf65bf47c0"/>
    <p:sldId xmlns:r="http://schemas.openxmlformats.org/officeDocument/2006/relationships" id="271" r:id="Rd084efd342054530"/>
    <p:sldId xmlns:r="http://schemas.openxmlformats.org/officeDocument/2006/relationships" id="272" r:id="R1bfd9be26eff4411"/>
    <p:sldId xmlns:r="http://schemas.openxmlformats.org/officeDocument/2006/relationships" id="273" r:id="Rb35a101f8ccf42b6"/>
    <p:sldId xmlns:r="http://schemas.openxmlformats.org/officeDocument/2006/relationships" id="274" r:id="Rd527045aaeb0417a"/>
    <p:sldId xmlns:r="http://schemas.openxmlformats.org/officeDocument/2006/relationships" id="275" r:id="Re745563ef5ca42eb"/>
    <p:sldId xmlns:r="http://schemas.openxmlformats.org/officeDocument/2006/relationships" id="276" r:id="R4e6c3628412f44d6"/>
    <p:sldId xmlns:r="http://schemas.openxmlformats.org/officeDocument/2006/relationships" id="277" r:id="R356e2b5320ee465e"/>
    <p:sldId xmlns:r="http://schemas.openxmlformats.org/officeDocument/2006/relationships" id="278" r:id="R6686647f7b7b414d"/>
    <p:sldId xmlns:r="http://schemas.openxmlformats.org/officeDocument/2006/relationships" id="279" r:id="R36eff955462b4095"/>
    <p:sldId xmlns:r="http://schemas.openxmlformats.org/officeDocument/2006/relationships" id="280" r:id="Rb07bbe59a0164a4b"/>
    <p:sldId xmlns:r="http://schemas.openxmlformats.org/officeDocument/2006/relationships" id="281" r:id="R6fe17cab283644e6"/>
    <p:sldId xmlns:r="http://schemas.openxmlformats.org/officeDocument/2006/relationships" id="282" r:id="R1008108ed2be4cda"/>
    <p:sldId xmlns:r="http://schemas.openxmlformats.org/officeDocument/2006/relationships" id="283" r:id="R8edf273dd0674944"/>
    <p:sldId xmlns:r="http://schemas.openxmlformats.org/officeDocument/2006/relationships" id="284" r:id="R49b5b6ec75c7493e"/>
    <p:sldId xmlns:r="http://schemas.openxmlformats.org/officeDocument/2006/relationships" id="285" r:id="Ra96cc55ec4c740a2"/>
    <p:sldId xmlns:r="http://schemas.openxmlformats.org/officeDocument/2006/relationships" id="286" r:id="Rf4ca2ad4f3614057"/>
    <p:sldId xmlns:r="http://schemas.openxmlformats.org/officeDocument/2006/relationships" id="287" r:id="Rd18a278bceb443d6"/>
    <p:sldId xmlns:r="http://schemas.openxmlformats.org/officeDocument/2006/relationships" id="288" r:id="R92b0b6aabb964a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561930ce2645ec" /><Relationship Type="http://schemas.openxmlformats.org/officeDocument/2006/relationships/slideMaster" Target="/ppt/slideMasters/slideMaster1.xml" Id="R874623553c254851" /><Relationship Type="http://schemas.openxmlformats.org/officeDocument/2006/relationships/notesMaster" Target="/ppt/notesMasters/notesMaster1.xml" Id="Re844e276fd904e47" /><Relationship Type="http://schemas.openxmlformats.org/officeDocument/2006/relationships/presProps" Target="/ppt/presProps.xml" Id="Rf467d6fcd6634478" /><Relationship Type="http://schemas.openxmlformats.org/officeDocument/2006/relationships/viewProps" Target="/ppt/viewProps.xml" Id="Rf36f87c35a14492e" /><Relationship Type="http://schemas.openxmlformats.org/officeDocument/2006/relationships/tableStyles" Target="/ppt/tableStyles.xml" Id="R477e15c51de44a1a" /><Relationship Type="http://schemas.openxmlformats.org/officeDocument/2006/relationships/slide" Target="/ppt/slides/slide1.xml" Id="R277ac1a8324e4265" /><Relationship Type="http://schemas.openxmlformats.org/officeDocument/2006/relationships/slide" Target="/ppt/slides/slide2.xml" Id="Reabb04d135f64519" /><Relationship Type="http://schemas.openxmlformats.org/officeDocument/2006/relationships/slide" Target="/ppt/slides/slide3.xml" Id="R99c128d90bc64c9b" /><Relationship Type="http://schemas.openxmlformats.org/officeDocument/2006/relationships/slide" Target="/ppt/slides/slide4.xml" Id="R3b112604e31544b1" /><Relationship Type="http://schemas.openxmlformats.org/officeDocument/2006/relationships/slide" Target="/ppt/slides/slide5.xml" Id="Rfe6480ef24ba42c1" /><Relationship Type="http://schemas.openxmlformats.org/officeDocument/2006/relationships/slide" Target="/ppt/slides/slide6.xml" Id="R6410814ecda9494b" /><Relationship Type="http://schemas.openxmlformats.org/officeDocument/2006/relationships/slide" Target="/ppt/slides/slide7.xml" Id="R53eca81bdeec499b" /><Relationship Type="http://schemas.openxmlformats.org/officeDocument/2006/relationships/slide" Target="/ppt/slides/slide8.xml" Id="R501fe8dad4b848fe" /><Relationship Type="http://schemas.openxmlformats.org/officeDocument/2006/relationships/slide" Target="/ppt/slides/slide9.xml" Id="R4445ddd007984d60" /><Relationship Type="http://schemas.openxmlformats.org/officeDocument/2006/relationships/slide" Target="/ppt/slides/slide10.xml" Id="R43743b7e1bf347ff" /><Relationship Type="http://schemas.openxmlformats.org/officeDocument/2006/relationships/slide" Target="/ppt/slides/slide11.xml" Id="Rc0c0219538644e04" /><Relationship Type="http://schemas.openxmlformats.org/officeDocument/2006/relationships/slide" Target="/ppt/slides/slide12.xml" Id="Rb073c7eb9a454278" /><Relationship Type="http://schemas.openxmlformats.org/officeDocument/2006/relationships/slide" Target="/ppt/slides/slide13.xml" Id="R9b3237a5ba5b444d" /><Relationship Type="http://schemas.openxmlformats.org/officeDocument/2006/relationships/slide" Target="/ppt/slides/slide14.xml" Id="R19eb175620f44654" /><Relationship Type="http://schemas.openxmlformats.org/officeDocument/2006/relationships/slide" Target="/ppt/slides/slide15.xml" Id="R01e0d2cf65bf47c0" /><Relationship Type="http://schemas.openxmlformats.org/officeDocument/2006/relationships/slide" Target="/ppt/slides/slide16.xml" Id="Rd084efd342054530" /><Relationship Type="http://schemas.openxmlformats.org/officeDocument/2006/relationships/slide" Target="/ppt/slides/slide17.xml" Id="R1bfd9be26eff4411" /><Relationship Type="http://schemas.openxmlformats.org/officeDocument/2006/relationships/slide" Target="/ppt/slides/slide18.xml" Id="Rb35a101f8ccf42b6" /><Relationship Type="http://schemas.openxmlformats.org/officeDocument/2006/relationships/slide" Target="/ppt/slides/slide19.xml" Id="Rd527045aaeb0417a" /><Relationship Type="http://schemas.openxmlformats.org/officeDocument/2006/relationships/slide" Target="/ppt/slides/slide20.xml" Id="Re745563ef5ca42eb" /><Relationship Type="http://schemas.openxmlformats.org/officeDocument/2006/relationships/slide" Target="/ppt/slides/slide21.xml" Id="R4e6c3628412f44d6" /><Relationship Type="http://schemas.openxmlformats.org/officeDocument/2006/relationships/slide" Target="/ppt/slides/slide22.xml" Id="R356e2b5320ee465e" /><Relationship Type="http://schemas.openxmlformats.org/officeDocument/2006/relationships/slide" Target="/ppt/slides/slide23.xml" Id="R6686647f7b7b414d" /><Relationship Type="http://schemas.openxmlformats.org/officeDocument/2006/relationships/slide" Target="/ppt/slides/slide24.xml" Id="R36eff955462b4095" /><Relationship Type="http://schemas.openxmlformats.org/officeDocument/2006/relationships/slide" Target="/ppt/slides/slide25.xml" Id="Rb07bbe59a0164a4b" /><Relationship Type="http://schemas.openxmlformats.org/officeDocument/2006/relationships/slide" Target="/ppt/slides/slide26.xml" Id="R6fe17cab283644e6" /><Relationship Type="http://schemas.openxmlformats.org/officeDocument/2006/relationships/slide" Target="/ppt/slides/slide27.xml" Id="R1008108ed2be4cda" /><Relationship Type="http://schemas.openxmlformats.org/officeDocument/2006/relationships/slide" Target="/ppt/slides/slide28.xml" Id="R8edf273dd0674944" /><Relationship Type="http://schemas.openxmlformats.org/officeDocument/2006/relationships/slide" Target="/ppt/slides/slide29.xml" Id="R49b5b6ec75c7493e" /><Relationship Type="http://schemas.openxmlformats.org/officeDocument/2006/relationships/slide" Target="/ppt/slides/slide30.xml" Id="Ra96cc55ec4c740a2" /><Relationship Type="http://schemas.openxmlformats.org/officeDocument/2006/relationships/slide" Target="/ppt/slides/slide31.xml" Id="Rf4ca2ad4f3614057" /><Relationship Type="http://schemas.openxmlformats.org/officeDocument/2006/relationships/slide" Target="/ppt/slides/slide32.xml" Id="Rd18a278bceb443d6" /><Relationship Type="http://schemas.openxmlformats.org/officeDocument/2006/relationships/slide" Target="/ppt/slides/slide33.xml" Id="R92b0b6aabb964a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c836923128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4f0b3d1dad4dd5" /><Relationship Type="http://schemas.openxmlformats.org/officeDocument/2006/relationships/notesMaster" Target="/ppt/notesMasters/notesMaster1.xml" Id="R414c8561d7dc49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5adeda335142c2" /><Relationship Type="http://schemas.openxmlformats.org/officeDocument/2006/relationships/notesMaster" Target="/ppt/notesMasters/notesMaster1.xml" Id="R3a24389e7ebc45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9e7d0604b34701" /><Relationship Type="http://schemas.openxmlformats.org/officeDocument/2006/relationships/notesMaster" Target="/ppt/notesMasters/notesMaster1.xml" Id="Rf389e0be54e14f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df795585e1408e" /><Relationship Type="http://schemas.openxmlformats.org/officeDocument/2006/relationships/notesMaster" Target="/ppt/notesMasters/notesMaster1.xml" Id="R3779f91162a84d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17513817a8478e" /><Relationship Type="http://schemas.openxmlformats.org/officeDocument/2006/relationships/notesMaster" Target="/ppt/notesMasters/notesMaster1.xml" Id="R71fd27a3f65c43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19dfb2cb0e46d7" /><Relationship Type="http://schemas.openxmlformats.org/officeDocument/2006/relationships/notesMaster" Target="/ppt/notesMasters/notesMaster1.xml" Id="Ra6e9495775f641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e65696a8794b20" /><Relationship Type="http://schemas.openxmlformats.org/officeDocument/2006/relationships/notesMaster" Target="/ppt/notesMasters/notesMaster1.xml" Id="Rf137597dcd3d46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0d5550310546a8" /><Relationship Type="http://schemas.openxmlformats.org/officeDocument/2006/relationships/notesMaster" Target="/ppt/notesMasters/notesMaster1.xml" Id="Rc84e725112ea4a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472b51fcca44ac" /><Relationship Type="http://schemas.openxmlformats.org/officeDocument/2006/relationships/notesMaster" Target="/ppt/notesMasters/notesMaster1.xml" Id="R0124d5899a5547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d7dcc2b9094228" /><Relationship Type="http://schemas.openxmlformats.org/officeDocument/2006/relationships/notesMaster" Target="/ppt/notesMasters/notesMaster1.xml" Id="Ree3bb0dae75142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2ec063911340db" /><Relationship Type="http://schemas.openxmlformats.org/officeDocument/2006/relationships/notesMaster" Target="/ppt/notesMasters/notesMaster1.xml" Id="R1c8c6cff115846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77797a09594e0c" /><Relationship Type="http://schemas.openxmlformats.org/officeDocument/2006/relationships/notesMaster" Target="/ppt/notesMasters/notesMaster1.xml" Id="R9951d8c1d4854a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3967dd7cc74ebb" /><Relationship Type="http://schemas.openxmlformats.org/officeDocument/2006/relationships/notesMaster" Target="/ppt/notesMasters/notesMaster1.xml" Id="R4a1b5133ad9345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4bbec41256434a" /><Relationship Type="http://schemas.openxmlformats.org/officeDocument/2006/relationships/notesMaster" Target="/ppt/notesMasters/notesMaster1.xml" Id="R8de2d1e615f14f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d334eee4a84f98" /><Relationship Type="http://schemas.openxmlformats.org/officeDocument/2006/relationships/notesMaster" Target="/ppt/notesMasters/notesMaster1.xml" Id="R42c6f31cd0cd49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4ccba451994d20" /><Relationship Type="http://schemas.openxmlformats.org/officeDocument/2006/relationships/notesMaster" Target="/ppt/notesMasters/notesMaster1.xml" Id="Ref48fad08d0c4b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60a8884b024113" /><Relationship Type="http://schemas.openxmlformats.org/officeDocument/2006/relationships/notesMaster" Target="/ppt/notesMasters/notesMaster1.xml" Id="R6a1cf78116a64d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6921d3be68473f" /><Relationship Type="http://schemas.openxmlformats.org/officeDocument/2006/relationships/notesMaster" Target="/ppt/notesMasters/notesMaster1.xml" Id="Rd7aecb9b9f524a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aa2e6e3481496c" /><Relationship Type="http://schemas.openxmlformats.org/officeDocument/2006/relationships/notesMaster" Target="/ppt/notesMasters/notesMaster1.xml" Id="Rf8d1cfb92e604f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081940e5fc4fc8" /><Relationship Type="http://schemas.openxmlformats.org/officeDocument/2006/relationships/notesMaster" Target="/ppt/notesMasters/notesMaster1.xml" Id="Rb98f32acbc6c44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4f08f601ef4af6" /><Relationship Type="http://schemas.openxmlformats.org/officeDocument/2006/relationships/notesMaster" Target="/ppt/notesMasters/notesMaster1.xml" Id="Rcdbd5c4d7c344a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fd0caf24ea4c85" /><Relationship Type="http://schemas.openxmlformats.org/officeDocument/2006/relationships/notesMaster" Target="/ppt/notesMasters/notesMaster1.xml" Id="R90bcb1fdfb014c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6db65893f34bfb" /><Relationship Type="http://schemas.openxmlformats.org/officeDocument/2006/relationships/notesMaster" Target="/ppt/notesMasters/notesMaster1.xml" Id="Rf5c754d42a3d41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c2b1a344c74453e" /><Relationship Type="http://schemas.openxmlformats.org/officeDocument/2006/relationships/notesMaster" Target="/ppt/notesMasters/notesMaster1.xml" Id="R2dfe3cf20f3444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e7a8b2a9ab4c51" /><Relationship Type="http://schemas.openxmlformats.org/officeDocument/2006/relationships/notesMaster" Target="/ppt/notesMasters/notesMaster1.xml" Id="R481aa45d00b8490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442dd8fcb54f97" /><Relationship Type="http://schemas.openxmlformats.org/officeDocument/2006/relationships/notesMaster" Target="/ppt/notesMasters/notesMaster1.xml" Id="R46d9c348fda74ec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4404cb28cc04284" /><Relationship Type="http://schemas.openxmlformats.org/officeDocument/2006/relationships/notesMaster" Target="/ppt/notesMasters/notesMaster1.xml" Id="R61ccc44fb52f4dc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747ad33d2f345b7" /><Relationship Type="http://schemas.openxmlformats.org/officeDocument/2006/relationships/notesMaster" Target="/ppt/notesMasters/notesMaster1.xml" Id="Rc58c66fda01a4ae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9064f3d405e44e9" /><Relationship Type="http://schemas.openxmlformats.org/officeDocument/2006/relationships/notesMaster" Target="/ppt/notesMasters/notesMaster1.xml" Id="R6dd6c68818a042f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05a7ed0aa894c7e" /><Relationship Type="http://schemas.openxmlformats.org/officeDocument/2006/relationships/notesMaster" Target="/ppt/notesMasters/notesMaster1.xml" Id="R7104d38895ef40d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5adfcf272df4970" /><Relationship Type="http://schemas.openxmlformats.org/officeDocument/2006/relationships/notesMaster" Target="/ppt/notesMasters/notesMaster1.xml" Id="Rffb54f7ec72448a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585ef200fdd45bf" /><Relationship Type="http://schemas.openxmlformats.org/officeDocument/2006/relationships/notesMaster" Target="/ppt/notesMasters/notesMaster1.xml" Id="Rae11ceb2fa65412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79d832198ee408e" /><Relationship Type="http://schemas.openxmlformats.org/officeDocument/2006/relationships/notesMaster" Target="/ppt/notesMasters/notesMaster1.xml" Id="Re2b61fedf76040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Sesi 13 adalah gladi; presentasi UAS proyek kelompok 3 orang berlangsung minggu 14.</a:t>
            </a:r>
          </a:p>
          <a:p xmlns:a="http://schemas.openxmlformats.org/drawingml/2006/main">
            <a:r>
              <a:t>Jadwal/durasi final mengikuti LMS.</a:t>
            </a:r>
          </a:p>
          <a:p xmlns:a="http://schemas.openxmlformats.org/drawingml/2006/main">
            <a:r>
              <a:t>Rujukan presentasi: https://learn.microsoft.com/en-us/power-platform/guidance/adoption/show-and-tell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Gladi presentasi proyek UAS</a:t>
            </a:r>
          </a:p>
          <a:p xmlns:a="http://schemas.openxmlformats.org/drawingml/2006/main">
            <a:r>
              <a:t>Kasus kerja: Kasus kerja: tim harus meyakinkan reviewer bahwa sistemnya berfungsi, aman dipakai, dan keputusan teknisnya sesuai kebutuhan.</a:t>
            </a:r>
          </a:p>
          <a:p xmlns:a="http://schemas.openxmlformats.org/drawingml/2006/main">
            <a:r>
              <a:t>Aktivitas kelas: Sesi 13: tiap kelompok 3 orang berlatih alur masalah, arsitektur, demo, dan bukti uji. Presentasi UAS berlangsung minggu 14 sesuai jadwal LMS.</a:t>
            </a:r>
          </a:p>
          <a:p xmlns:a="http://schemas.openxmlformats.org/drawingml/2006/main">
            <a:r>
              <a:t>Artikel resmi: https://learn.microsoft.com/en-us/power-platform/guidance/adoption/show-and-tell</a:t>
            </a:r>
          </a:p>
          <a:p xmlns:a="http://schemas.openxmlformats.org/drawingml/2006/main">
            <a:r>
              <a:t>Video resmi: https://learn.microsoft.com/en-us/shows/regular-it-guy/tips-on-better-demo-presentation-skills-storytelling</a:t>
            </a:r>
          </a:p>
          <a:p xmlns:a="http://schemas.openxmlformats.org/drawingml/2006/main">
            <a:r>
              <a:t>Pertanyaan diskusi: Diskusi: bukti apa yang paling cepat menunjukkan bahwa aplikasi bekerja end to end?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374f15d9049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567f01a4e4cb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9e471797034288" /><Relationship Type="http://schemas.openxmlformats.org/officeDocument/2006/relationships/slideLayout" Target="/ppt/slideLayouts/slideLayout1.xml" Id="Rcc88c517e36a4dea" /><Relationship Type="http://schemas.openxmlformats.org/officeDocument/2006/relationships/slideLayout" Target="/ppt/slideLayouts/slideLayout2.xml" Id="Rfd0f73c2f1234eb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88c517e36a4dea"/>
    <p:sldLayoutId xmlns:r="http://schemas.openxmlformats.org/officeDocument/2006/relationships" id="2147483650" r:id="Rfd0f73c2f1234eb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e5046b6d74d80" /><Relationship Type="http://schemas.openxmlformats.org/officeDocument/2006/relationships/image" Target="/ppt/media/image.jpeg" Id="R3123095ecdcc49ff" /><Relationship Type="http://schemas.openxmlformats.org/officeDocument/2006/relationships/image" Target="/ppt/media/image.png" Id="Rb5bfb9b9f3dd4028" /><Relationship Type="http://schemas.openxmlformats.org/officeDocument/2006/relationships/image" Target="/ppt/media/image2.png" Id="R3ab3f85447f64b6d" /><Relationship Type="http://schemas.openxmlformats.org/officeDocument/2006/relationships/notesSlide" Target="/ppt/notesSlides/notesSlide1.xml" Id="R57282ef6335743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5acadc39d4a28" /><Relationship Type="http://schemas.openxmlformats.org/officeDocument/2006/relationships/image" Target="/ppt/media/image.png" Id="R4f431c3d868d4719" /><Relationship Type="http://schemas.openxmlformats.org/officeDocument/2006/relationships/image" Target="/ppt/media/image2.png" Id="R21a8cb3c4b7b40b7" /><Relationship Type="http://schemas.openxmlformats.org/officeDocument/2006/relationships/image" Target="/ppt/media/image3.png" Id="Raf0fac4f39074c46" /><Relationship Type="http://schemas.openxmlformats.org/officeDocument/2006/relationships/image" Target="/ppt/media/image4.png" Id="Rdf37b536b7264f1f" /><Relationship Type="http://schemas.openxmlformats.org/officeDocument/2006/relationships/image" Target="/ppt/media/image5.png" Id="Ree7b4a9c301141f4" /><Relationship Type="http://schemas.openxmlformats.org/officeDocument/2006/relationships/image" Target="/ppt/media/image6.png" Id="Ra7064d607f614106" /><Relationship Type="http://schemas.openxmlformats.org/officeDocument/2006/relationships/image" Target="/ppt/media/image7.png" Id="R3b49893a386f4272" /><Relationship Type="http://schemas.openxmlformats.org/officeDocument/2006/relationships/notesSlide" Target="/ppt/notesSlides/notesSlide2.xml" Id="Rc929c3a5ac674b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14f66448c4587" /><Relationship Type="http://schemas.openxmlformats.org/officeDocument/2006/relationships/image" Target="/ppt/media/image.png" Id="R29758b6d1d154fa1" /><Relationship Type="http://schemas.openxmlformats.org/officeDocument/2006/relationships/image" Target="/ppt/media/image2.png" Id="R7c35ccbe3a244da1" /><Relationship Type="http://schemas.openxmlformats.org/officeDocument/2006/relationships/image" Target="/ppt/media/image6.png" Id="R756e6da9a3c14609" /><Relationship Type="http://schemas.openxmlformats.org/officeDocument/2006/relationships/image" Target="/ppt/media/image8.png" Id="R108043409d654122" /><Relationship Type="http://schemas.openxmlformats.org/officeDocument/2006/relationships/image" Target="/ppt/media/image9.png" Id="R4710df29a4d8445e" /><Relationship Type="http://schemas.openxmlformats.org/officeDocument/2006/relationships/image" Target="/ppt/media/image10.png" Id="R8feb149490b54ebe" /><Relationship Type="http://schemas.openxmlformats.org/officeDocument/2006/relationships/notesSlide" Target="/ppt/notesSlides/notesSlide3.xml" Id="Rf5b2730475d540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bae54f58e493e" /><Relationship Type="http://schemas.openxmlformats.org/officeDocument/2006/relationships/image" Target="/ppt/media/image.png" Id="R5d50c9e04b2c42c0" /><Relationship Type="http://schemas.openxmlformats.org/officeDocument/2006/relationships/image" Target="/ppt/media/image2.png" Id="Ra7c8c068725a4340" /><Relationship Type="http://schemas.openxmlformats.org/officeDocument/2006/relationships/notesSlide" Target="/ppt/notesSlides/notesSlide4.xml" Id="Rdfc1ec751aef4c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823ea9ca54975" /><Relationship Type="http://schemas.openxmlformats.org/officeDocument/2006/relationships/image" Target="/ppt/media/image.png" Id="Rd53e6b0587a84962" /><Relationship Type="http://schemas.openxmlformats.org/officeDocument/2006/relationships/image" Target="/ppt/media/image2.png" Id="Rb5ac7fce689f471d" /><Relationship Type="http://schemas.openxmlformats.org/officeDocument/2006/relationships/image" Target="/ppt/media/image3.png" Id="R9cd92807ac404378" /><Relationship Type="http://schemas.openxmlformats.org/officeDocument/2006/relationships/image" Target="/ppt/media/image11.png" Id="R18e861d173094ce9" /><Relationship Type="http://schemas.openxmlformats.org/officeDocument/2006/relationships/image" Target="/ppt/media/image8.png" Id="R0d0f6db149d84b03" /><Relationship Type="http://schemas.openxmlformats.org/officeDocument/2006/relationships/image" Target="/ppt/media/image10.png" Id="Rc186ae33a3334ed2" /><Relationship Type="http://schemas.openxmlformats.org/officeDocument/2006/relationships/image" Target="/ppt/media/image4.png" Id="R05ae5da91b6549f7" /><Relationship Type="http://schemas.openxmlformats.org/officeDocument/2006/relationships/image" Target="/ppt/media/image12.png" Id="Ra5323643382f4152" /><Relationship Type="http://schemas.openxmlformats.org/officeDocument/2006/relationships/image" Target="/ppt/media/image13.png" Id="Raa41302eb19249a5" /><Relationship Type="http://schemas.openxmlformats.org/officeDocument/2006/relationships/image" Target="/ppt/media/image14.png" Id="Ra46cf357858a4a27" /><Relationship Type="http://schemas.openxmlformats.org/officeDocument/2006/relationships/image" Target="/ppt/media/image15.png" Id="R5ba17804853b411e" /><Relationship Type="http://schemas.openxmlformats.org/officeDocument/2006/relationships/image" Target="/ppt/media/image16.png" Id="R16ed6679173645ec" /><Relationship Type="http://schemas.openxmlformats.org/officeDocument/2006/relationships/image" Target="/ppt/media/image6.png" Id="Rcecbbda624f142d6" /><Relationship Type="http://schemas.openxmlformats.org/officeDocument/2006/relationships/notesSlide" Target="/ppt/notesSlides/notesSlide5.xml" Id="R449cd12ed7f243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6119e5cd9435e" /><Relationship Type="http://schemas.openxmlformats.org/officeDocument/2006/relationships/image" Target="/ppt/media/image.png" Id="R23de73c460b64b0b" /><Relationship Type="http://schemas.openxmlformats.org/officeDocument/2006/relationships/image" Target="/ppt/media/image2.png" Id="R0d7f16490a4943a7" /><Relationship Type="http://schemas.openxmlformats.org/officeDocument/2006/relationships/image" Target="/ppt/media/image17.png" Id="R31cd253d21db46f0" /><Relationship Type="http://schemas.openxmlformats.org/officeDocument/2006/relationships/image" Target="/ppt/media/image18.png" Id="R4439552ed86d4ad3" /><Relationship Type="http://schemas.openxmlformats.org/officeDocument/2006/relationships/image" Target="/ppt/media/image19.png" Id="R7550ddacec7e4a26" /><Relationship Type="http://schemas.openxmlformats.org/officeDocument/2006/relationships/image" Target="/ppt/media/image10.png" Id="R040a7bfc074646f3" /><Relationship Type="http://schemas.openxmlformats.org/officeDocument/2006/relationships/image" Target="/ppt/media/image7.png" Id="Rd8f3cea463154a74" /><Relationship Type="http://schemas.openxmlformats.org/officeDocument/2006/relationships/notesSlide" Target="/ppt/notesSlides/notesSlide6.xml" Id="Rd1621469e66c41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ff3a051fa4b60" /><Relationship Type="http://schemas.openxmlformats.org/officeDocument/2006/relationships/image" Target="/ppt/media/image.png" Id="R2f750cac55a84d6b" /><Relationship Type="http://schemas.openxmlformats.org/officeDocument/2006/relationships/image" Target="/ppt/media/image2.png" Id="R56c682cef32241b3" /><Relationship Type="http://schemas.openxmlformats.org/officeDocument/2006/relationships/notesSlide" Target="/ppt/notesSlides/notesSlide7.xml" Id="R6214423861a24a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7b41aa65b4e5c" /><Relationship Type="http://schemas.openxmlformats.org/officeDocument/2006/relationships/image" Target="/ppt/media/image.png" Id="R6b803c166368448c" /><Relationship Type="http://schemas.openxmlformats.org/officeDocument/2006/relationships/image" Target="/ppt/media/image2.png" Id="R9052c1e9e5de485b" /><Relationship Type="http://schemas.openxmlformats.org/officeDocument/2006/relationships/image" Target="/ppt/media/image17.png" Id="Rfab21a5fbc144ad0" /><Relationship Type="http://schemas.openxmlformats.org/officeDocument/2006/relationships/image" Target="/ppt/media/image6.png" Id="Rb6852045dfb14233" /><Relationship Type="http://schemas.openxmlformats.org/officeDocument/2006/relationships/image" Target="/ppt/media/image8.png" Id="Rb81c253945584895" /><Relationship Type="http://schemas.openxmlformats.org/officeDocument/2006/relationships/image" Target="/ppt/media/image18.png" Id="R747115d14c0d4d93" /><Relationship Type="http://schemas.openxmlformats.org/officeDocument/2006/relationships/image" Target="/ppt/media/image7.png" Id="R5f042f2490d0485a" /><Relationship Type="http://schemas.openxmlformats.org/officeDocument/2006/relationships/notesSlide" Target="/ppt/notesSlides/notesSlide8.xml" Id="R6a17a4006fca4f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89a5c453a4494" /><Relationship Type="http://schemas.openxmlformats.org/officeDocument/2006/relationships/image" Target="/ppt/media/image.png" Id="Rf7a42b5abb5f41ac" /><Relationship Type="http://schemas.openxmlformats.org/officeDocument/2006/relationships/image" Target="/ppt/media/image2.png" Id="R736adb6347b54224" /><Relationship Type="http://schemas.openxmlformats.org/officeDocument/2006/relationships/notesSlide" Target="/ppt/notesSlides/notesSlide9.xml" Id="R7a17741a7ea44b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d478d3b444153" /><Relationship Type="http://schemas.openxmlformats.org/officeDocument/2006/relationships/image" Target="/ppt/media/image.png" Id="R76ef0aee89084a43" /><Relationship Type="http://schemas.openxmlformats.org/officeDocument/2006/relationships/image" Target="/ppt/media/image2.png" Id="Rd54d38aa63154dc7" /><Relationship Type="http://schemas.openxmlformats.org/officeDocument/2006/relationships/image" Target="/ppt/media/image7.png" Id="Re3ca21fdd0b34364" /><Relationship Type="http://schemas.openxmlformats.org/officeDocument/2006/relationships/image" Target="/ppt/media/image20.png" Id="R86a46c7bcf3d49ee" /><Relationship Type="http://schemas.openxmlformats.org/officeDocument/2006/relationships/notesSlide" Target="/ppt/notesSlides/notesSlide10.xml" Id="R47099337630b41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4de98c3834d62" /><Relationship Type="http://schemas.openxmlformats.org/officeDocument/2006/relationships/image" Target="/ppt/media/image.png" Id="R48f805e2286248ed" /><Relationship Type="http://schemas.openxmlformats.org/officeDocument/2006/relationships/image" Target="/ppt/media/image2.png" Id="Rf93dc1d0c8a04b4c" /><Relationship Type="http://schemas.openxmlformats.org/officeDocument/2006/relationships/image" Target="/ppt/media/image7.png" Id="R236d28396d774fb6" /><Relationship Type="http://schemas.openxmlformats.org/officeDocument/2006/relationships/image" Target="/ppt/media/image20.png" Id="Rb03b8465be80480a" /><Relationship Type="http://schemas.openxmlformats.org/officeDocument/2006/relationships/notesSlide" Target="/ppt/notesSlides/notesSlide11.xml" Id="R53df9de06bcd40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93c5eb0544680" /><Relationship Type="http://schemas.openxmlformats.org/officeDocument/2006/relationships/image" Target="/ppt/media/image.png" Id="Reb2afb9045aa4c16" /><Relationship Type="http://schemas.openxmlformats.org/officeDocument/2006/relationships/image" Target="/ppt/media/image2.png" Id="R751a0fbd913b424a" /><Relationship Type="http://schemas.openxmlformats.org/officeDocument/2006/relationships/image" Target="/ppt/media/image7.png" Id="R1a2364dc87ba4384" /><Relationship Type="http://schemas.openxmlformats.org/officeDocument/2006/relationships/image" Target="/ppt/media/image20.png" Id="Rbb128b96407a48ef" /><Relationship Type="http://schemas.openxmlformats.org/officeDocument/2006/relationships/notesSlide" Target="/ppt/notesSlides/notesSlide12.xml" Id="R5c3c104d9fbf48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7beaad8044c7b" /><Relationship Type="http://schemas.openxmlformats.org/officeDocument/2006/relationships/image" Target="/ppt/media/image.png" Id="Rad6c34a56e1e4814" /><Relationship Type="http://schemas.openxmlformats.org/officeDocument/2006/relationships/image" Target="/ppt/media/image2.png" Id="R0398d44fa8b04772" /><Relationship Type="http://schemas.openxmlformats.org/officeDocument/2006/relationships/notesSlide" Target="/ppt/notesSlides/notesSlide13.xml" Id="R74dfebbf38dd48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2b521d7de4e4e" /><Relationship Type="http://schemas.openxmlformats.org/officeDocument/2006/relationships/image" Target="/ppt/media/image.png" Id="R687761bac3654817" /><Relationship Type="http://schemas.openxmlformats.org/officeDocument/2006/relationships/image" Target="/ppt/media/image2.png" Id="Rbeb5f0f5b1854d08" /><Relationship Type="http://schemas.openxmlformats.org/officeDocument/2006/relationships/notesSlide" Target="/ppt/notesSlides/notesSlide14.xml" Id="R5cc18d01841b43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862e2c1a2479c" /><Relationship Type="http://schemas.openxmlformats.org/officeDocument/2006/relationships/image" Target="/ppt/media/image.png" Id="R7ba1888a16204a46" /><Relationship Type="http://schemas.openxmlformats.org/officeDocument/2006/relationships/image" Target="/ppt/media/image2.png" Id="Rf357b688f8404c20" /><Relationship Type="http://schemas.openxmlformats.org/officeDocument/2006/relationships/notesSlide" Target="/ppt/notesSlides/notesSlide15.xml" Id="Rc24c4b7b75d64b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e8ddfc44c4e13" /><Relationship Type="http://schemas.openxmlformats.org/officeDocument/2006/relationships/image" Target="/ppt/media/image.png" Id="Ra3ae7f24709a4ddf" /><Relationship Type="http://schemas.openxmlformats.org/officeDocument/2006/relationships/image" Target="/ppt/media/image2.png" Id="R6e31f790594341ec" /><Relationship Type="http://schemas.openxmlformats.org/officeDocument/2006/relationships/notesSlide" Target="/ppt/notesSlides/notesSlide16.xml" Id="Rc7b2d96a820746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82ecb42e74ff0" /><Relationship Type="http://schemas.openxmlformats.org/officeDocument/2006/relationships/image" Target="/ppt/media/image.png" Id="R39c8f95ec469433c" /><Relationship Type="http://schemas.openxmlformats.org/officeDocument/2006/relationships/image" Target="/ppt/media/image2.png" Id="R409831be02de4797" /><Relationship Type="http://schemas.openxmlformats.org/officeDocument/2006/relationships/image" Target="/ppt/media/image7.png" Id="Rb2ad01fd7de84d09" /><Relationship Type="http://schemas.openxmlformats.org/officeDocument/2006/relationships/image" Target="/ppt/media/image20.png" Id="R469c46d771fd4183" /><Relationship Type="http://schemas.openxmlformats.org/officeDocument/2006/relationships/notesSlide" Target="/ppt/notesSlides/notesSlide17.xml" Id="Rf1e44f904e4e44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3721b4bed4b95" /><Relationship Type="http://schemas.openxmlformats.org/officeDocument/2006/relationships/image" Target="/ppt/media/image.png" Id="R9561aef6082c4387" /><Relationship Type="http://schemas.openxmlformats.org/officeDocument/2006/relationships/image" Target="/ppt/media/image2.png" Id="R7c374537c20142e3" /><Relationship Type="http://schemas.openxmlformats.org/officeDocument/2006/relationships/notesSlide" Target="/ppt/notesSlides/notesSlide18.xml" Id="R9f7beb0e1d8843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9a460d0664d03" /><Relationship Type="http://schemas.openxmlformats.org/officeDocument/2006/relationships/image" Target="/ppt/media/image.png" Id="R7c7fa44db1414f51" /><Relationship Type="http://schemas.openxmlformats.org/officeDocument/2006/relationships/image" Target="/ppt/media/image2.png" Id="R45f2753051434faa" /><Relationship Type="http://schemas.openxmlformats.org/officeDocument/2006/relationships/image" Target="/ppt/media/image10.png" Id="Rf323fc8f7f3d4bf3" /><Relationship Type="http://schemas.openxmlformats.org/officeDocument/2006/relationships/image" Target="/ppt/media/image8.png" Id="R32ceda34fdee45f4" /><Relationship Type="http://schemas.openxmlformats.org/officeDocument/2006/relationships/image" Target="/ppt/media/image20.png" Id="R4d7ceb3410414ea7" /><Relationship Type="http://schemas.openxmlformats.org/officeDocument/2006/relationships/image" Target="/ppt/media/image6.png" Id="R470d5fbe62524d11" /><Relationship Type="http://schemas.openxmlformats.org/officeDocument/2006/relationships/image" Target="/ppt/media/image18.png" Id="R73ba0bbac81a4dd0" /><Relationship Type="http://schemas.openxmlformats.org/officeDocument/2006/relationships/image" Target="/ppt/media/image17.png" Id="Rbca0acca0db246ef" /><Relationship Type="http://schemas.openxmlformats.org/officeDocument/2006/relationships/notesSlide" Target="/ppt/notesSlides/notesSlide19.xml" Id="R384f7783393e41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47cca34f14d81" /><Relationship Type="http://schemas.openxmlformats.org/officeDocument/2006/relationships/image" Target="/ppt/media/image.png" Id="Rdf6f97d6174d4899" /><Relationship Type="http://schemas.openxmlformats.org/officeDocument/2006/relationships/image" Target="/ppt/media/image2.png" Id="R2fa0187458e4451e" /><Relationship Type="http://schemas.openxmlformats.org/officeDocument/2006/relationships/notesSlide" Target="/ppt/notesSlides/notesSlide20.xml" Id="R17cc5baa78e64c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26f5375d74fa6" /><Relationship Type="http://schemas.openxmlformats.org/officeDocument/2006/relationships/image" Target="/ppt/media/image.png" Id="Ra130fbd93c974939" /><Relationship Type="http://schemas.openxmlformats.org/officeDocument/2006/relationships/image" Target="/ppt/media/image2.png" Id="Rd26a562819874747" /><Relationship Type="http://schemas.openxmlformats.org/officeDocument/2006/relationships/notesSlide" Target="/ppt/notesSlides/notesSlide21.xml" Id="R5bd5bab1714145b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45866eef64b4b" /><Relationship Type="http://schemas.openxmlformats.org/officeDocument/2006/relationships/image" Target="/ppt/media/image.png" Id="R125399edc91d4c72" /><Relationship Type="http://schemas.openxmlformats.org/officeDocument/2006/relationships/image" Target="/ppt/media/image2.png" Id="R7fa546f46541407a" /><Relationship Type="http://schemas.openxmlformats.org/officeDocument/2006/relationships/image" Target="/ppt/media/image3.png" Id="Rc87f29b63ea24076" /><Relationship Type="http://schemas.openxmlformats.org/officeDocument/2006/relationships/image" Target="/ppt/media/image21.png" Id="R89f020224f2e408c" /><Relationship Type="http://schemas.openxmlformats.org/officeDocument/2006/relationships/image" Target="/ppt/media/image18.png" Id="R2e5733b9c2934166" /><Relationship Type="http://schemas.openxmlformats.org/officeDocument/2006/relationships/image" Target="/ppt/media/image16.png" Id="R4091ea16135a4db9" /><Relationship Type="http://schemas.openxmlformats.org/officeDocument/2006/relationships/notesSlide" Target="/ppt/notesSlides/notesSlide22.xml" Id="R6475a69c622d4c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8161ab69f4a72" /><Relationship Type="http://schemas.openxmlformats.org/officeDocument/2006/relationships/image" Target="/ppt/media/image.png" Id="R22e9ae1ebbe64a11" /><Relationship Type="http://schemas.openxmlformats.org/officeDocument/2006/relationships/image" Target="/ppt/media/image2.png" Id="Ra8b79d4d3bd44888" /><Relationship Type="http://schemas.openxmlformats.org/officeDocument/2006/relationships/notesSlide" Target="/ppt/notesSlides/notesSlide23.xml" Id="R1551223f77be4bf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a058604a842d2" /><Relationship Type="http://schemas.openxmlformats.org/officeDocument/2006/relationships/image" Target="/ppt/media/image.png" Id="R9feaa4c77f4e4ae5" /><Relationship Type="http://schemas.openxmlformats.org/officeDocument/2006/relationships/image" Target="/ppt/media/image2.png" Id="R9394a3636c81467f" /><Relationship Type="http://schemas.openxmlformats.org/officeDocument/2006/relationships/image" Target="/ppt/media/image17.png" Id="R12edfa54c21245dc" /><Relationship Type="http://schemas.openxmlformats.org/officeDocument/2006/relationships/image" Target="/ppt/media/image18.png" Id="Rd3719994b3ef4ffb" /><Relationship Type="http://schemas.openxmlformats.org/officeDocument/2006/relationships/image" Target="/ppt/media/image8.png" Id="R8af37ffb49a0405d" /><Relationship Type="http://schemas.openxmlformats.org/officeDocument/2006/relationships/image" Target="/ppt/media/image5.png" Id="R5209c56e7d334a6c" /><Relationship Type="http://schemas.openxmlformats.org/officeDocument/2006/relationships/notesSlide" Target="/ppt/notesSlides/notesSlide24.xml" Id="Re76423e6eab7423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efbced3254bf5" /><Relationship Type="http://schemas.openxmlformats.org/officeDocument/2006/relationships/image" Target="/ppt/media/image.png" Id="R79ba9311f288437e" /><Relationship Type="http://schemas.openxmlformats.org/officeDocument/2006/relationships/image" Target="/ppt/media/image2.png" Id="R42a203008e7a4ae2" /><Relationship Type="http://schemas.openxmlformats.org/officeDocument/2006/relationships/notesSlide" Target="/ppt/notesSlides/notesSlide25.xml" Id="R79098c3eb42640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11efe6627492c" /><Relationship Type="http://schemas.openxmlformats.org/officeDocument/2006/relationships/image" Target="/ppt/media/image.png" Id="R0bdbf9b27b824125" /><Relationship Type="http://schemas.openxmlformats.org/officeDocument/2006/relationships/image" Target="/ppt/media/image2.png" Id="R103402f64e5d4d32" /><Relationship Type="http://schemas.openxmlformats.org/officeDocument/2006/relationships/image" Target="/ppt/media/image16.png" Id="R8e739f27ca264a7b" /><Relationship Type="http://schemas.openxmlformats.org/officeDocument/2006/relationships/image" Target="/ppt/media/image6.png" Id="R9a2171c901c14347" /><Relationship Type="http://schemas.openxmlformats.org/officeDocument/2006/relationships/image" Target="/ppt/media/image10.png" Id="R5fb1eefa57c9405e" /><Relationship Type="http://schemas.openxmlformats.org/officeDocument/2006/relationships/image" Target="/ppt/media/image18.png" Id="R730de3f7fd97452d" /><Relationship Type="http://schemas.openxmlformats.org/officeDocument/2006/relationships/image" Target="/ppt/media/image9.png" Id="R4b8b9b5cab454048" /><Relationship Type="http://schemas.openxmlformats.org/officeDocument/2006/relationships/image" Target="/ppt/media/image8.png" Id="Rd241480585c24173" /><Relationship Type="http://schemas.openxmlformats.org/officeDocument/2006/relationships/notesSlide" Target="/ppt/notesSlides/notesSlide26.xml" Id="Rb067533b4dad434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4e107198c4a1d" /><Relationship Type="http://schemas.openxmlformats.org/officeDocument/2006/relationships/image" Target="/ppt/media/image.png" Id="R5efe258330434a2a" /><Relationship Type="http://schemas.openxmlformats.org/officeDocument/2006/relationships/image" Target="/ppt/media/image2.png" Id="R879723e1e2714280" /><Relationship Type="http://schemas.openxmlformats.org/officeDocument/2006/relationships/notesSlide" Target="/ppt/notesSlides/notesSlide27.xml" Id="R94285828877145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2edeb95754a55" /><Relationship Type="http://schemas.openxmlformats.org/officeDocument/2006/relationships/image" Target="/ppt/media/image.png" Id="R1f2c07de1cde469b" /><Relationship Type="http://schemas.openxmlformats.org/officeDocument/2006/relationships/image" Target="/ppt/media/image2.png" Id="Rb6372b90765c4d82" /><Relationship Type="http://schemas.openxmlformats.org/officeDocument/2006/relationships/image" Target="/ppt/media/image7.png" Id="R783c9f31d4b54fe0" /><Relationship Type="http://schemas.openxmlformats.org/officeDocument/2006/relationships/image" Target="/ppt/media/image20.png" Id="R1f1bd04c13bf4175" /><Relationship Type="http://schemas.openxmlformats.org/officeDocument/2006/relationships/image" Target="/ppt/media/image17.png" Id="Re0b8d597956a41f3" /><Relationship Type="http://schemas.openxmlformats.org/officeDocument/2006/relationships/image" Target="/ppt/media/image6.png" Id="R344a426fe639407b" /><Relationship Type="http://schemas.openxmlformats.org/officeDocument/2006/relationships/notesSlide" Target="/ppt/notesSlides/notesSlide28.xml" Id="R77869bd1cba540f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d1800a5f24efa" /><Relationship Type="http://schemas.openxmlformats.org/officeDocument/2006/relationships/image" Target="/ppt/media/image.png" Id="R154d18dd57a04a99" /><Relationship Type="http://schemas.openxmlformats.org/officeDocument/2006/relationships/image" Target="/ppt/media/image2.png" Id="R54525cd600f940cb" /><Relationship Type="http://schemas.openxmlformats.org/officeDocument/2006/relationships/image" Target="/ppt/media/image17.png" Id="R96cfde3296e74752" /><Relationship Type="http://schemas.openxmlformats.org/officeDocument/2006/relationships/image" Target="/ppt/media/image8.png" Id="R26e78f9bceb34bea" /><Relationship Type="http://schemas.openxmlformats.org/officeDocument/2006/relationships/image" Target="/ppt/media/image16.png" Id="R2b6f58d5b2ea444e" /><Relationship Type="http://schemas.openxmlformats.org/officeDocument/2006/relationships/image" Target="/ppt/media/image22.png" Id="R4787ba5a890a4c4d" /><Relationship Type="http://schemas.openxmlformats.org/officeDocument/2006/relationships/image" Target="/ppt/media/image18.png" Id="R05fc1a67e25940e7" /><Relationship Type="http://schemas.openxmlformats.org/officeDocument/2006/relationships/image" Target="/ppt/media/image6.png" Id="R46e80a04db284c3a" /><Relationship Type="http://schemas.openxmlformats.org/officeDocument/2006/relationships/image" Target="/ppt/media/image7.png" Id="Rdc520b379e894a47" /><Relationship Type="http://schemas.openxmlformats.org/officeDocument/2006/relationships/notesSlide" Target="/ppt/notesSlides/notesSlide29.xml" Id="R8f19199f3b2a480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7cd61dfea471f" /><Relationship Type="http://schemas.openxmlformats.org/officeDocument/2006/relationships/image" Target="/ppt/media/image.png" Id="R3872a943aa4e478a" /><Relationship Type="http://schemas.openxmlformats.org/officeDocument/2006/relationships/image" Target="/ppt/media/image2.png" Id="Rf46c68112ce8420c" /><Relationship Type="http://schemas.openxmlformats.org/officeDocument/2006/relationships/notesSlide" Target="/ppt/notesSlides/notesSlide30.xml" Id="Rf08d16c33e7d440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3fd5f009a4c2b" /><Relationship Type="http://schemas.openxmlformats.org/officeDocument/2006/relationships/image" Target="/ppt/media/image.jpeg" Id="R70d5bc283c544ae9" /><Relationship Type="http://schemas.openxmlformats.org/officeDocument/2006/relationships/image" Target="/ppt/media/image.png" Id="R08dba892d9214e95" /><Relationship Type="http://schemas.openxmlformats.org/officeDocument/2006/relationships/image" Target="/ppt/media/image2.png" Id="Rd6f28559ee6a4fc5" /><Relationship Type="http://schemas.openxmlformats.org/officeDocument/2006/relationships/notesSlide" Target="/ppt/notesSlides/notesSlide31.xml" Id="R324b76e0da4f403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8dc797e9194c98" /><Relationship Type="http://schemas.openxmlformats.org/officeDocument/2006/relationships/notesSlide" Target="/ppt/notesSlides/notesSlide32.xml" Id="Re450252ce2f54f4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473165edf4d45" /><Relationship Type="http://schemas.openxmlformats.org/officeDocument/2006/relationships/hyperlink" Target="https://learn.microsoft.com/en-us/power-platform/guidance/adoption/show-and-tell" TargetMode="External" Id="R9609478c95cc4ecb" /><Relationship Type="http://schemas.openxmlformats.org/officeDocument/2006/relationships/hyperlink" Target="https://learn.microsoft.com/en-us/shows/regular-it-guy/tips-on-better-demo-presentation-skills-storytelling" TargetMode="External" Id="Rf8d629cad80f4094" /><Relationship Type="http://schemas.openxmlformats.org/officeDocument/2006/relationships/notesSlide" Target="/ppt/notesSlides/notesSlide33.xml" Id="R0e7660f2b8454312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123095ecdcc49f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fb9b9f3dd4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3f85447f64b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3E9A4FAA-FA8B-465D-948F-30ECACFF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2 SKS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B38E390B-73FC-415A-B4CF-4DF7D947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UAS</a:t>
            </a:r>
            <a:endParaRPr sz="56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05277E18-F5A3-4F29-A44D-4C9D1044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REHEARSAL</a:t>
            </a:r>
            <a:endParaRPr sz="36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B2909957-ABE7-49CE-9A79-8B8AA216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Latihan demo proyek kelompok sebelum UAS minggu 14</a:t>
            </a:r>
            <a:endParaRPr sz="18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B35BB52A-D06B-475C-951F-FFD88F17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FEE6326-4FC0-4DAE-B868-20C7E641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13  |  100 MENIT  |  </a:t>
            </a: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GLADI PRESENTASI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B3D8A06-60F6-4D10-A466-FDE9E633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1C6A4F7-947C-49DB-B731-8AE4C9E9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95674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2E4CC2-1DC2-4B22-B4D4-C0077ACE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349FF4-C8B3-4CF2-B152-1A63FEC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A81D794-212D-4891-8F5F-A21F675C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31c3d868d4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8cb3c4b7b40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3A4B639-8028-4919-8FE9-0CC319C7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8775F5E-ECA3-4588-988C-3856C875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Sesi 13: Gladi Menuju UAS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B1057ED-2958-480B-9343-9E555CBB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untuk latihan presentasi proyek kelompok; UAS dijadwalkan minggu 14.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88AD69F-7DC3-4672-813E-A25D5A4A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44FD9FC-C292-49D9-BC2C-1CACC97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13 PERTEMUAN COMP6991031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Kita Sampai di Sini</a:t>
            </a:r>
            <a:endParaRPr sz="1100"/>
          </a:p>
        </p:txBody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fac4f39074c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CF367BF-8A2E-47EE-B5C8-5CC693E5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100+ menit per pertemuan x 13 = 22 jam material</a:t>
            </a:r>
            <a:endParaRPr sz="1200"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7b536b7264f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5AF10936-CEC4-458D-8C76-4CDEF70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7 stack production-ready (Linux -&gt; Docker -&gt; LLM)</a:t>
            </a:r>
            <a:endParaRPr sz="1200"/>
          </a:p>
        </p:txBody>
      </p:sp>
      <p:pic>
        <p:nvPicPr>
          <p:cNvPr id="4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b4a9c301141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89644EDF-FB56-4A79-96D1-AC7F2D52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11 lab hands-on sebagai bahan satu proyek kelompok</a:t>
            </a:r>
            <a:endParaRPr sz="1200"/>
          </a:p>
        </p:txBody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64d607f614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7B0916E0-3D45-41E3-BA75-72DD499B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 proyek besar per kelompok 3 orang</a:t>
            </a:r>
            <a:endParaRPr sz="1200"/>
          </a:p>
        </p:txBody>
      </p:sp>
      <p:pic>
        <p:nvPicPr>
          <p:cNvPr id="5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9893a386f42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0590B9C4-9CB8-409A-85C0-FD0D5A7D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Skill yang bisa langsung dipakai di industri</a:t>
            </a:r>
            <a:endParaRPr sz="12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528F23AF-22AE-4B32-B879-DDD0042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C68A0908-251B-4A4F-977D-5EC99B7D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AGENDA HARI INI: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Rehearsal Flow</a:t>
            </a: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9680624D-997A-480A-AF85-30F94509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Recap journey + apa yang dipelajari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Aturan presentation - flow + waktu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Latihan demo per kelompok + cek bukti uji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Q&amp;A guidelines + feedback dari teman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Course reflection + next steps karier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Perbaikan terakhir dan rujukan teknis</a:t>
            </a:r>
            <a:endParaRPr sz="1200"/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0D18D2D1-02C2-40A5-93D6-44C5B7FC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Format latihan: tiap kelompok 3 orang berbagi peran presentasi, demo, dan jawaban teknis. Durasi resmi UAS mengikuti LMS.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69392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596978-A96F-45F4-ADC4-9B5AAE2D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29C0B8-5C64-470F-98FB-46D81049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32DCCBD-2649-4850-A105-33C800C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58b6d1d154f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5ccbe3a244d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DE8FC86-F698-4FC1-B3F7-D477B8F1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8AAB45F-AF37-4F1C-AB04-74E8A1A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Outcomes - Pertemuan 13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F97ED96-A7F0-4030-85FB-B3502FCD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Capaian Sesi Hari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D82240A-AAA1-4E69-B5C2-BBB15982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526E922-B689-4D3C-BFCD-77A834C8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ACED60A4-6E44-4A3E-B104-E68B7938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BDBCC5F-2928-4726-943E-9249ADDC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e6da9a3c1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3E884828-4F8A-40C0-B776-96E3A78D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Mendemonstrasikan</a:t>
            </a:r>
            <a:endParaRPr sz="16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08FD961-3A3D-4685-A04B-6F40627E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alur demo proyek kelompok dan penjelasan arsitektur sebelum UAS.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59DD737-5FD1-4616-A693-A60484B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288AFFA2-DB7E-42B4-B443-ABBAAD6B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EA4D0437-9760-4A3A-88AA-F55E34C7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F659E69-BF3D-4111-A756-52A20292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043409d654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072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CB741EF2-B8CD-4FCF-BBF1-76AF19D0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Mengartikulasikan</a:t>
            </a:r>
            <a:endParaRPr sz="16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9F1B3111-528F-4A0D-8380-2D0D8B6D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trade-off + tech decision di project - jawab Q&amp;A dengan confident.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9C278DA0-3E53-4DE5-888A-B3E790FF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DB5D3D25-52C1-45A7-9CAD-CD7869CB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87CCBBFD-0F35-4C3F-A2D3-D40E2178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4FE4C88-F457-4890-98D7-8ADC1DF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0df29a4d844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144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7FB8BBC1-9BD3-47BD-99A2-EBFB8709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Mengevaluasi</a:t>
            </a:r>
            <a:endParaRPr sz="16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7B25BA91-7F28-4409-91EE-8C0B0CCF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project teman secara konstruktif - learn from feedback dan critique.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B9645035-487F-4AB1-82CD-921B1CC1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08E9CFE-E8C6-4B37-9447-BBA29AFA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3B8FA4E0-073B-495F-8C24-555A831C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1A97FBE-C62C-4CF1-9C9A-1DEA8D48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b149490b54e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2216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EA07EB8F-F2E7-4033-AABD-DFA5CE7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Merefleksikan</a:t>
            </a:r>
            <a:endParaRPr sz="16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29E7B4C7-EF4F-44F7-B1C9-D4735538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journey course - apa yang dipelajari, mana yang ingin dieksplor lebih.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6DDB9183-4B28-4A0E-A00D-F6080E7C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LO1 + LO2 + LO3 (final integration &amp; evaluation)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7806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C24BFA-33EF-497A-AE63-D3305A3E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0FAD91-748F-4434-AA61-EDDB5A76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8A0761D-0D9E-4E9C-B2F9-D59C6F0C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DB86B9A-1B11-47A6-B2BA-46C28DC3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1D33A88-85F2-4B42-8A96-62E9837B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65DDC6C-9E83-4E82-8594-15EEF85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7AE7120-D709-4EDC-BD68-D7A6C9F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0c9e04b2c42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8c068725a43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130C80E-FC44-4FCD-890B-EF44847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552D501-113C-42DE-937A-4E361740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Course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Recap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23D8AA2-7EF0-4381-AA38-06FB3259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C3A287F-5C75-4EEC-82B7-41014C83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Lihat balik perjalanan 12 pertemuan yang sudah dilalui.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29112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E5E99B-1282-4336-8004-570758D7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0DF87F-B176-4053-B179-277AEF98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4EE7C31-733F-45F0-B71E-FF3D4F13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e6b0587a849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0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c7fce689f47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4CDCB67-3358-4DD0-BA2A-8AB5726C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D5851CA-B162-48C2-9F05-4A88F044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13 Sesi - Yang Sudah Anda Pelajari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02B3A4B-C9A1-4F5F-9C8E-AFBCB38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Dari konsep dasar cloud sampai bikin LLM app production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847AFEC-F58C-4A9E-8EC7-13D1DC5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32B6DB2-292E-4815-99C0-6B9BFA13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99CEA0B-318B-49FE-9F37-8181A69F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P1</a:t>
            </a:r>
            <a:endParaRPr sz="1400"/>
          </a:p>
        </p:txBody>
      </p:sp>
      <p:pic>
        <p:nvPicPr>
          <p:cNvPr id="10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92807ac4043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20" y="19202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FF2D900-603B-4C20-AD6E-689F7DBB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Pengantar Cloud</a:t>
            </a:r>
            <a:endParaRPr sz="9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E2AED74F-2008-4381-8949-70F8929F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4630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4F318F1A-E680-4B90-AD6A-A6E55128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4630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C5EB14B0-DE95-475D-952C-E48EBD51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4630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</a:t>
            </a:r>
            <a:endParaRPr sz="1400"/>
          </a:p>
        </p:txBody>
      </p:sp>
      <p:pic>
        <p:nvPicPr>
          <p:cNvPr id="11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861d173094c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1780" y="19202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0A526B08-9CF9-4354-842B-E59AB91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4231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Linux Fundamentals</a:t>
            </a:r>
            <a:endParaRPr sz="9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DF7461E9-2F47-4405-991D-B4E99011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4630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AB3CA812-BEDE-40FD-B611-BA0F8CD6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4630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2ADDAF0-82DB-4AC6-A7E4-28E09D7F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4630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</a:t>
            </a:r>
            <a:endParaRPr sz="1400"/>
          </a:p>
        </p:txBody>
      </p:sp>
      <p:pic>
        <p:nvPicPr>
          <p:cNvPr id="11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f6db149d84b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9140" y="19202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C93D62C2-AC82-4148-AA5D-95BFEF4E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231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Networking + DNS</a:t>
            </a:r>
            <a:endParaRPr sz="90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6B2F7BB5-F5CF-4A6E-BBDC-6CC5C6F2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4630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9E958DD3-E4A7-4DEF-A318-2ABCD2DB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4630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FC9751A0-B676-4CDF-9FCE-52ED8A78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4630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P4</a:t>
            </a:r>
            <a:endParaRPr sz="1400"/>
          </a:p>
        </p:txBody>
      </p:sp>
      <p:pic>
        <p:nvPicPr>
          <p:cNvPr id="12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6ae33a3334e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9202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AA38E754-924E-4C17-B758-32EDEDE5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31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Virtualisasi+Container</a:t>
            </a:r>
            <a:endParaRPr sz="900"/>
          </a:p>
        </p:txBody>
      </p:sp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98CDFB48-37D1-42D4-9A98-2F6B87C5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630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3">
            <a:extLst xmlns:a="http://schemas.openxmlformats.org/drawingml/2006/main">
              <a:ext uri="{FF2B5EF4-FFF2-40B4-BE49-F238E27FC236}">
                <a16:creationId xmlns:a16="http://schemas.microsoft.com/office/drawing/2014/main" id="{338A1859-9B67-4620-9DC8-67354B8E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630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AD73E15B-32F7-4736-AE73-C8C50AC0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630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P5</a:t>
            </a:r>
            <a:endParaRPr sz="1400"/>
          </a:p>
        </p:txBody>
      </p:sp>
      <p:pic>
        <p:nvPicPr>
          <p:cNvPr id="12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e5da91b6549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3860" y="19202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18A3AE9E-73B4-4E69-B561-2B492B71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4231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Core</a:t>
            </a:r>
            <a:endParaRPr sz="900"/>
          </a:p>
        </p:txBody>
      </p:sp>
      <p:sp>
        <p:nvSpPr>
          <p:cNvPr id="35" name="Shape 26">
            <a:extLst xmlns:a="http://schemas.openxmlformats.org/drawingml/2006/main">
              <a:ext uri="{FF2B5EF4-FFF2-40B4-BE49-F238E27FC236}">
                <a16:creationId xmlns:a16="http://schemas.microsoft.com/office/drawing/2014/main" id="{01A03062-0492-4950-9D59-F8EF444D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630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27">
            <a:extLst xmlns:a="http://schemas.openxmlformats.org/drawingml/2006/main">
              <a:ext uri="{FF2B5EF4-FFF2-40B4-BE49-F238E27FC236}">
                <a16:creationId xmlns:a16="http://schemas.microsoft.com/office/drawing/2014/main" id="{7BF0BB04-8BF5-470C-A67B-992843F8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630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C15D2EE5-CB97-4E7C-A4C0-D2F9F342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630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P6</a:t>
            </a:r>
            <a:endParaRPr sz="1400"/>
          </a:p>
        </p:txBody>
      </p:sp>
      <p:pic>
        <p:nvPicPr>
          <p:cNvPr id="13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e5da91b6549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1220" y="19202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29">
            <a:extLst xmlns:a="http://schemas.openxmlformats.org/drawingml/2006/main">
              <a:ext uri="{FF2B5EF4-FFF2-40B4-BE49-F238E27FC236}">
                <a16:creationId xmlns:a16="http://schemas.microsoft.com/office/drawing/2014/main" id="{80EAD232-25B6-4A65-9A24-83F5F2DF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4231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Compose</a:t>
            </a:r>
            <a:endParaRPr sz="900"/>
          </a:p>
        </p:txBody>
      </p:sp>
      <p:sp>
        <p:nvSpPr>
          <p:cNvPr id="40" name="Shape 30">
            <a:extLst xmlns:a="http://schemas.openxmlformats.org/drawingml/2006/main">
              <a:ext uri="{FF2B5EF4-FFF2-40B4-BE49-F238E27FC236}">
                <a16:creationId xmlns:a16="http://schemas.microsoft.com/office/drawing/2014/main" id="{56673295-8BAB-4C2C-AEF2-4E5A44F6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4630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1">
            <a:extLst xmlns:a="http://schemas.openxmlformats.org/drawingml/2006/main">
              <a:ext uri="{FF2B5EF4-FFF2-40B4-BE49-F238E27FC236}">
                <a16:creationId xmlns:a16="http://schemas.microsoft.com/office/drawing/2014/main" id="{35951DC8-2555-41F2-81A3-5F796E8A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4630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DAC6C582-012F-441F-8227-0A788A00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14630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P7</a:t>
            </a:r>
            <a:endParaRPr sz="1400"/>
          </a:p>
        </p:txBody>
      </p:sp>
      <p:pic>
        <p:nvPicPr>
          <p:cNvPr id="13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23643382f4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98580" y="19202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4" name="Text 33">
            <a:extLst xmlns:a="http://schemas.openxmlformats.org/drawingml/2006/main">
              <a:ext uri="{FF2B5EF4-FFF2-40B4-BE49-F238E27FC236}">
                <a16:creationId xmlns:a16="http://schemas.microsoft.com/office/drawing/2014/main" id="{40763A87-6CA9-4179-A034-DD06367D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24231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Supabase BaaS</a:t>
            </a:r>
            <a:endParaRPr sz="900"/>
          </a:p>
        </p:txBody>
      </p:sp>
      <p:sp>
        <p:nvSpPr>
          <p:cNvPr id="45" name="Shape 34">
            <a:extLst xmlns:a="http://schemas.openxmlformats.org/drawingml/2006/main">
              <a:ext uri="{FF2B5EF4-FFF2-40B4-BE49-F238E27FC236}">
                <a16:creationId xmlns:a16="http://schemas.microsoft.com/office/drawing/2014/main" id="{2B3B23AF-D2B6-4511-BF00-378D9E9C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0632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35">
            <a:extLst xmlns:a="http://schemas.openxmlformats.org/drawingml/2006/main">
              <a:ext uri="{FF2B5EF4-FFF2-40B4-BE49-F238E27FC236}">
                <a16:creationId xmlns:a16="http://schemas.microsoft.com/office/drawing/2014/main" id="{B6682D3B-B732-4602-842A-0445AB38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7AC14859-3DAD-42CB-9565-8E3BC3F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P8</a:t>
            </a:r>
            <a:endParaRPr sz="1400"/>
          </a:p>
        </p:txBody>
      </p:sp>
      <p:pic>
        <p:nvPicPr>
          <p:cNvPr id="142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1302eb19249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43100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9" name="Text 37">
            <a:extLst xmlns:a="http://schemas.openxmlformats.org/drawingml/2006/main">
              <a:ext uri="{FF2B5EF4-FFF2-40B4-BE49-F238E27FC236}">
                <a16:creationId xmlns:a16="http://schemas.microsoft.com/office/drawing/2014/main" id="{7B43E4BD-8B47-48BE-8DCD-36307E7E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33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Frontend</a:t>
            </a:r>
            <a:endParaRPr sz="900"/>
          </a:p>
        </p:txBody>
      </p:sp>
      <p:sp>
        <p:nvSpPr>
          <p:cNvPr id="50" name="Shape 38">
            <a:extLst xmlns:a="http://schemas.openxmlformats.org/drawingml/2006/main">
              <a:ext uri="{FF2B5EF4-FFF2-40B4-BE49-F238E27FC236}">
                <a16:creationId xmlns:a16="http://schemas.microsoft.com/office/drawing/2014/main" id="{98F51799-1EDF-4B67-B57B-3050AC7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0632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1" name="Shape 39">
            <a:extLst xmlns:a="http://schemas.openxmlformats.org/drawingml/2006/main">
              <a:ext uri="{FF2B5EF4-FFF2-40B4-BE49-F238E27FC236}">
                <a16:creationId xmlns:a16="http://schemas.microsoft.com/office/drawing/2014/main" id="{FA013B94-042D-4297-AD4F-F66EA34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5BE7CCA3-88E0-468C-AD36-57D37FB9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P9</a:t>
            </a:r>
            <a:endParaRPr sz="1400"/>
          </a:p>
        </p:txBody>
      </p:sp>
      <p:pic>
        <p:nvPicPr>
          <p:cNvPr id="147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cf357858a4a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80460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4" name="Text 41">
            <a:extLst xmlns:a="http://schemas.openxmlformats.org/drawingml/2006/main">
              <a:ext uri="{FF2B5EF4-FFF2-40B4-BE49-F238E27FC236}">
                <a16:creationId xmlns:a16="http://schemas.microsoft.com/office/drawing/2014/main" id="{A5AA685B-487B-4D03-B394-146E457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233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Hugging Face Spaces</a:t>
            </a:r>
            <a:endParaRPr sz="900"/>
          </a:p>
        </p:txBody>
      </p:sp>
      <p:sp>
        <p:nvSpPr>
          <p:cNvPr id="55" name="Shape 42">
            <a:extLst xmlns:a="http://schemas.openxmlformats.org/drawingml/2006/main">
              <a:ext uri="{FF2B5EF4-FFF2-40B4-BE49-F238E27FC236}">
                <a16:creationId xmlns:a16="http://schemas.microsoft.com/office/drawing/2014/main" id="{3224AB42-25AD-4A14-9D2C-61ED7CBF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32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6" name="Shape 43">
            <a:extLst xmlns:a="http://schemas.openxmlformats.org/drawingml/2006/main">
              <a:ext uri="{FF2B5EF4-FFF2-40B4-BE49-F238E27FC236}">
                <a16:creationId xmlns:a16="http://schemas.microsoft.com/office/drawing/2014/main" id="{BFB08EEE-013B-4E56-9331-BE86ECA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7" name="Text 44">
            <a:extLst xmlns:a="http://schemas.openxmlformats.org/drawingml/2006/main">
              <a:ext uri="{FF2B5EF4-FFF2-40B4-BE49-F238E27FC236}">
                <a16:creationId xmlns:a16="http://schemas.microsoft.com/office/drawing/2014/main" id="{5913FDA0-1567-4A80-9D95-04656A62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P10</a:t>
            </a:r>
            <a:endParaRPr sz="1400"/>
          </a:p>
        </p:txBody>
      </p:sp>
      <p:pic>
        <p:nvPicPr>
          <p:cNvPr id="152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17804853b41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7820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9" name="Text 45">
            <a:extLst xmlns:a="http://schemas.openxmlformats.org/drawingml/2006/main">
              <a:ext uri="{FF2B5EF4-FFF2-40B4-BE49-F238E27FC236}">
                <a16:creationId xmlns:a16="http://schemas.microsoft.com/office/drawing/2014/main" id="{57EB9ED2-F6C6-4F18-8B8C-6CCA36E7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233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 in Production</a:t>
            </a:r>
            <a:endParaRPr sz="900"/>
          </a:p>
        </p:txBody>
      </p:sp>
      <p:sp>
        <p:nvSpPr>
          <p:cNvPr id="60" name="Shape 46">
            <a:extLst xmlns:a="http://schemas.openxmlformats.org/drawingml/2006/main">
              <a:ext uri="{FF2B5EF4-FFF2-40B4-BE49-F238E27FC236}">
                <a16:creationId xmlns:a16="http://schemas.microsoft.com/office/drawing/2014/main" id="{17CBF3A0-E869-4237-9E87-0C68C0AE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632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1" name="Shape 47">
            <a:extLst xmlns:a="http://schemas.openxmlformats.org/drawingml/2006/main">
              <a:ext uri="{FF2B5EF4-FFF2-40B4-BE49-F238E27FC236}">
                <a16:creationId xmlns:a16="http://schemas.microsoft.com/office/drawing/2014/main" id="{E19C120F-0D0B-4546-8100-B59E852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62" name="Text 48">
            <a:extLst xmlns:a="http://schemas.openxmlformats.org/drawingml/2006/main">
              <a:ext uri="{FF2B5EF4-FFF2-40B4-BE49-F238E27FC236}">
                <a16:creationId xmlns:a16="http://schemas.microsoft.com/office/drawing/2014/main" id="{D3901660-EAAD-4B0F-B785-C079F79B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P11</a:t>
            </a:r>
            <a:endParaRPr sz="1400"/>
          </a:p>
        </p:txBody>
      </p:sp>
      <p:pic>
        <p:nvPicPr>
          <p:cNvPr id="157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d6679173645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5180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4" name="Text 49">
            <a:extLst xmlns:a="http://schemas.openxmlformats.org/drawingml/2006/main">
              <a:ext uri="{FF2B5EF4-FFF2-40B4-BE49-F238E27FC236}">
                <a16:creationId xmlns:a16="http://schemas.microsoft.com/office/drawing/2014/main" id="{C127A7E6-60E2-4B1C-86F9-51FA4C2F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0233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NLP &amp; LLM Integration</a:t>
            </a:r>
            <a:endParaRPr sz="900"/>
          </a:p>
        </p:txBody>
      </p:sp>
      <p:sp>
        <p:nvSpPr>
          <p:cNvPr id="65" name="Shape 50">
            <a:extLst xmlns:a="http://schemas.openxmlformats.org/drawingml/2006/main">
              <a:ext uri="{FF2B5EF4-FFF2-40B4-BE49-F238E27FC236}">
                <a16:creationId xmlns:a16="http://schemas.microsoft.com/office/drawing/2014/main" id="{17FFF1D9-4F8A-4467-8BD2-54C5AF2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0632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6" name="Shape 51">
            <a:extLst xmlns:a="http://schemas.openxmlformats.org/drawingml/2006/main">
              <a:ext uri="{FF2B5EF4-FFF2-40B4-BE49-F238E27FC236}">
                <a16:creationId xmlns:a16="http://schemas.microsoft.com/office/drawing/2014/main" id="{A7D7F619-1CD5-4A11-A363-5508A249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67" name="Text 52">
            <a:extLst xmlns:a="http://schemas.openxmlformats.org/drawingml/2006/main">
              <a:ext uri="{FF2B5EF4-FFF2-40B4-BE49-F238E27FC236}">
                <a16:creationId xmlns:a16="http://schemas.microsoft.com/office/drawing/2014/main" id="{A8B9D46F-C215-4E17-B208-C2672DC2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P12</a:t>
            </a:r>
            <a:endParaRPr sz="1400"/>
          </a:p>
        </p:txBody>
      </p:sp>
      <p:pic>
        <p:nvPicPr>
          <p:cNvPr id="162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6ae33a3334e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2540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9" name="Text 53">
            <a:extLst xmlns:a="http://schemas.openxmlformats.org/drawingml/2006/main">
              <a:ext uri="{FF2B5EF4-FFF2-40B4-BE49-F238E27FC236}">
                <a16:creationId xmlns:a16="http://schemas.microsoft.com/office/drawing/2014/main" id="{A214E787-1E77-4B66-A718-BA6D3417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0233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Capstone Brief</a:t>
            </a:r>
            <a:endParaRPr sz="900"/>
          </a:p>
        </p:txBody>
      </p:sp>
      <p:sp>
        <p:nvSpPr>
          <p:cNvPr id="70" name="Shape 54">
            <a:extLst xmlns:a="http://schemas.openxmlformats.org/drawingml/2006/main">
              <a:ext uri="{FF2B5EF4-FFF2-40B4-BE49-F238E27FC236}">
                <a16:creationId xmlns:a16="http://schemas.microsoft.com/office/drawing/2014/main" id="{5E95CC81-6EE0-4002-95B3-F4485F83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063240"/>
            <a:ext cx="1691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1" name="Shape 55">
            <a:extLst xmlns:a="http://schemas.openxmlformats.org/drawingml/2006/main">
              <a:ext uri="{FF2B5EF4-FFF2-40B4-BE49-F238E27FC236}">
                <a16:creationId xmlns:a16="http://schemas.microsoft.com/office/drawing/2014/main" id="{252A6031-82C4-4BD1-8B57-2CBDCBE7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72" name="Text 56">
            <a:extLst xmlns:a="http://schemas.openxmlformats.org/drawingml/2006/main">
              <a:ext uri="{FF2B5EF4-FFF2-40B4-BE49-F238E27FC236}">
                <a16:creationId xmlns:a16="http://schemas.microsoft.com/office/drawing/2014/main" id="{BF953E4E-3A9C-4D67-9B9E-51AAEC0C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P13</a:t>
            </a:r>
            <a:endParaRPr sz="1400"/>
          </a:p>
        </p:txBody>
      </p:sp>
      <p:pic>
        <p:nvPicPr>
          <p:cNvPr id="167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bbda624f142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0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4" name="Text 57">
            <a:extLst xmlns:a="http://schemas.openxmlformats.org/drawingml/2006/main">
              <a:ext uri="{FF2B5EF4-FFF2-40B4-BE49-F238E27FC236}">
                <a16:creationId xmlns:a16="http://schemas.microsoft.com/office/drawing/2014/main" id="{FF197785-03AD-48FC-BB05-5CEB9C0F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2336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Gladi UAS</a:t>
            </a:r>
            <a:endParaRPr sz="900"/>
          </a:p>
        </p:txBody>
      </p:sp>
      <p:sp>
        <p:nvSpPr>
          <p:cNvPr id="75" name="Shape 58">
            <a:extLst xmlns:a="http://schemas.openxmlformats.org/drawingml/2006/main">
              <a:ext uri="{FF2B5EF4-FFF2-40B4-BE49-F238E27FC236}">
                <a16:creationId xmlns:a16="http://schemas.microsoft.com/office/drawing/2014/main" id="{ED1464E9-5F58-4F63-A4F5-B558D094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1124712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76" name="Text 59">
            <a:extLst xmlns:a="http://schemas.openxmlformats.org/drawingml/2006/main">
              <a:ext uri="{FF2B5EF4-FFF2-40B4-BE49-F238E27FC236}">
                <a16:creationId xmlns:a16="http://schemas.microsoft.com/office/drawing/2014/main" id="{4165EC90-6CB9-4C37-9193-674648CD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Tema Besar yang Berkesinambungan</a:t>
            </a:r>
            <a:endParaRPr sz="1300"/>
          </a:p>
        </p:txBody>
      </p:sp>
      <p:sp>
        <p:nvSpPr>
          <p:cNvPr id="77" name="Text 60">
            <a:extLst xmlns:a="http://schemas.openxmlformats.org/drawingml/2006/main">
              <a:ext uri="{FF2B5EF4-FFF2-40B4-BE49-F238E27FC236}">
                <a16:creationId xmlns:a16="http://schemas.microsoft.com/office/drawing/2014/main" id="{586B200D-7B27-4B61-911D-26503E44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5440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Foundation (P1-3):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OS, jaringan, protokol - dasar yang sering dilupakan</a:t>
            </a:r>
            <a:endParaRPr sz="1000"/>
          </a:p>
        </p:txBody>
      </p:sp>
      <p:sp>
        <p:nvSpPr>
          <p:cNvPr id="78" name="Text 61">
            <a:extLst xmlns:a="http://schemas.openxmlformats.org/drawingml/2006/main">
              <a:ext uri="{FF2B5EF4-FFF2-40B4-BE49-F238E27FC236}">
                <a16:creationId xmlns:a16="http://schemas.microsoft.com/office/drawing/2014/main" id="{0053F212-10FE-43A6-A4F1-0C7DEC39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2080"/>
            <a:ext cx="5440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Container Era (P4-6):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= cara modern package aplikasi</a:t>
            </a:r>
            <a:endParaRPr sz="1000"/>
          </a:p>
        </p:txBody>
      </p:sp>
      <p:sp>
        <p:nvSpPr>
          <p:cNvPr id="79" name="Text 62">
            <a:extLst xmlns:a="http://schemas.openxmlformats.org/drawingml/2006/main">
              <a:ext uri="{FF2B5EF4-FFF2-40B4-BE49-F238E27FC236}">
                <a16:creationId xmlns:a16="http://schemas.microsoft.com/office/drawing/2014/main" id="{B8FC3A72-28DB-4083-9FFE-986223C3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15000"/>
            <a:ext cx="5440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Modern Stack (P7-8):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Backend-as-a-Service + edge deployment</a:t>
            </a:r>
            <a:endParaRPr sz="1000"/>
          </a:p>
        </p:txBody>
      </p:sp>
      <p:sp>
        <p:nvSpPr>
          <p:cNvPr id="80" name="Text 63">
            <a:extLst xmlns:a="http://schemas.openxmlformats.org/drawingml/2006/main">
              <a:ext uri="{FF2B5EF4-FFF2-40B4-BE49-F238E27FC236}">
                <a16:creationId xmlns:a16="http://schemas.microsoft.com/office/drawing/2014/main" id="{C11F7786-680B-4B05-872F-325FB7DD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15000"/>
            <a:ext cx="5440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ML Era (P9-11):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 ML, monitoring, integrate LLM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00213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3DEA33-0214-4DA9-A5DE-CD3735B0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70C6A2-7FA3-4DCB-982B-90AA4B81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25775D4-738C-468F-BBBE-D9F51204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e73c460b64b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f16490a4943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8140C2D-DF5B-4B12-A33E-B510275D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7F3BD5B-26C6-4C8B-9F39-BE5ACB04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Course dalam Angka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78EF5E8-914D-4F14-BD9B-69BEC792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Apa yang dipelajari dalam 13 sesi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14580E0-C96C-4F10-8A28-D0386DB2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432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4FD7C05-DD76-468D-AE4D-3FCD165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4320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d253d21db46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480" y="169164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423A1AF-1152-479B-87DA-932934B8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22</a:t>
            </a:r>
            <a:endParaRPr sz="56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E24DC323-0E59-4947-9BF7-C5C1C86C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Jam Kuliah</a:t>
            </a:r>
            <a:endParaRPr sz="14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1888BF5-3D8A-438F-91A4-82707D42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100 menit x 13 pertemuan</a:t>
            </a:r>
            <a:endParaRPr sz="10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E6C5BB25-CEE5-4E12-8E7A-D3B2D89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417320"/>
            <a:ext cx="27432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4DDDE109-F0ED-42FA-8CDA-847FDC82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417320"/>
            <a:ext cx="274320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9552ed86d4a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69164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FC41D8C5-3154-46C8-BDAA-10A1304A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28600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11</a:t>
            </a:r>
            <a:endParaRPr sz="56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5385BD3D-C289-42E9-9192-966AA17C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9260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Lab hands-on</a:t>
            </a:r>
            <a:endParaRPr sz="14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29C3772F-BA4B-4726-9F93-E98E7714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756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Latihan untuk proyek kelompok</a:t>
            </a:r>
            <a:endParaRPr sz="100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F1FBE509-EB12-40A8-A699-A1C870EE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27432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5DBA87D4-30B1-4269-A1C6-B86A14B0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274320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0ddacec7e4a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0" y="169164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346BC172-2519-432B-8E99-897CA36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8600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7</a:t>
            </a:r>
            <a:endParaRPr sz="5600"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693AA5B5-A97F-4FF6-982B-04B18C6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9260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Stack Cloud</a:t>
            </a:r>
            <a:endParaRPr sz="14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F62D1EDB-40D4-4192-96B3-A7E3BF57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3756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→ Supabase → Vercel → HF → LLM</a:t>
            </a:r>
            <a:endParaRPr sz="100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BFE46453-0F4B-4A17-903C-2FC6AFDD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417320"/>
            <a:ext cx="27432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972C6525-58B6-4D34-ADC1-7086630E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417320"/>
            <a:ext cx="274320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10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a7bfc074646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560" y="169164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7DA9EC6A-FB5D-41DA-B5B3-613A70A7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1</a:t>
            </a:r>
            <a:endParaRPr sz="560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9657781C-1067-4C7D-91DF-1A7BD06A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9260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Capstone Project</a:t>
            </a:r>
            <a:endParaRPr sz="14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A4E573EC-CF25-4299-9905-453B65C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33756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Integrasi end-to-end</a:t>
            </a:r>
            <a:endParaRPr sz="10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E55A2B67-9711-4D5C-A412-04EE9E09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112471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D172BE35-A52F-41B4-A50E-ED0A6404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Soft Skills yang Anda Bangun (Sering Dilupakan)</a:t>
            </a:r>
            <a:endParaRPr sz="1400"/>
          </a:p>
        </p:txBody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C5E852BD-3BB0-42DD-B3F2-FB9E8727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0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3cea463154a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6177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7BACECE4-EC2A-49BE-9F38-3B5674BA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Reading Docs</a:t>
            </a:r>
            <a:endParaRPr sz="1100"/>
          </a:p>
        </p:txBody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138DFE5D-98FF-41DD-AA2C-404905D2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64608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Belajar dari dokumentasi resmi, bukan tutorial saja</a:t>
            </a:r>
            <a:endParaRPr sz="950"/>
          </a:p>
        </p:txBody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C481D134-D1E0-4F11-97B7-35A583F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177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1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3cea463154a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46177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C35B3CB0-DC0F-486A-AFD3-5B867C62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57200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Debugging Cloud</a:t>
            </a:r>
            <a:endParaRPr sz="1100"/>
          </a:p>
        </p:txBody>
      </p:sp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2B78D563-4D6F-4C17-BDE8-6B639584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864608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Bedakan masalah local vs server, baca log produksi</a:t>
            </a:r>
            <a:endParaRPr sz="950"/>
          </a:p>
        </p:txBody>
      </p:sp>
      <p:sp>
        <p:nvSpPr>
          <p:cNvPr id="44" name="Shape 34">
            <a:extLst xmlns:a="http://schemas.openxmlformats.org/drawingml/2006/main">
              <a:ext uri="{FF2B5EF4-FFF2-40B4-BE49-F238E27FC236}">
                <a16:creationId xmlns:a16="http://schemas.microsoft.com/office/drawing/2014/main" id="{8DAE234D-A9D9-443B-9049-67B79CEF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6177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1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3cea463154a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46177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6" name="Text 35">
            <a:extLst xmlns:a="http://schemas.openxmlformats.org/drawingml/2006/main">
              <a:ext uri="{FF2B5EF4-FFF2-40B4-BE49-F238E27FC236}">
                <a16:creationId xmlns:a16="http://schemas.microsoft.com/office/drawing/2014/main" id="{F0BAACA5-C096-47BB-B806-72A956C8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57200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Cost Awareness</a:t>
            </a:r>
            <a:endParaRPr sz="1100"/>
          </a:p>
        </p:txBody>
      </p:sp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E499AD5D-64C3-4D09-9864-7AF965B3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64608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Tools tidak gratis selamanya - kapan upgrade, kapan optimize</a:t>
            </a:r>
            <a:endParaRPr sz="950"/>
          </a:p>
        </p:txBody>
      </p:sp>
      <p:sp>
        <p:nvSpPr>
          <p:cNvPr id="48" name="Shape 37">
            <a:extLst xmlns:a="http://schemas.openxmlformats.org/drawingml/2006/main">
              <a:ext uri="{FF2B5EF4-FFF2-40B4-BE49-F238E27FC236}">
                <a16:creationId xmlns:a16="http://schemas.microsoft.com/office/drawing/2014/main" id="{7D955574-0C4C-4F20-8FD7-B3A8C7ED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1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3cea463154a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440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50" name="Text 38">
            <a:extLst xmlns:a="http://schemas.openxmlformats.org/drawingml/2006/main">
              <a:ext uri="{FF2B5EF4-FFF2-40B4-BE49-F238E27FC236}">
                <a16:creationId xmlns:a16="http://schemas.microsoft.com/office/drawing/2014/main" id="{035FF125-6FB9-4F6F-8C29-BA21583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9496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Tech Trade-off</a:t>
            </a:r>
            <a:endParaRPr sz="1100"/>
          </a:p>
        </p:txBody>
      </p:sp>
      <p:sp>
        <p:nvSpPr>
          <p:cNvPr id="51" name="Text 39">
            <a:extLst xmlns:a="http://schemas.openxmlformats.org/drawingml/2006/main">
              <a:ext uri="{FF2B5EF4-FFF2-40B4-BE49-F238E27FC236}">
                <a16:creationId xmlns:a16="http://schemas.microsoft.com/office/drawing/2014/main" id="{ADDAC342-9190-4E4B-A675-AAD8CD28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87568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ada solusi 'terbaik' - ada solusi tepat untuk konteks</a:t>
            </a:r>
            <a:endParaRPr sz="950"/>
          </a:p>
        </p:txBody>
      </p:sp>
      <p:sp>
        <p:nvSpPr>
          <p:cNvPr id="52" name="Shape 40">
            <a:extLst xmlns:a="http://schemas.openxmlformats.org/drawingml/2006/main">
              <a:ext uri="{FF2B5EF4-FFF2-40B4-BE49-F238E27FC236}">
                <a16:creationId xmlns:a16="http://schemas.microsoft.com/office/drawing/2014/main" id="{D1054160-22DA-494B-9478-045586C9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4068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23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3cea463154a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5440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54" name="Text 41">
            <a:extLst xmlns:a="http://schemas.openxmlformats.org/drawingml/2006/main">
              <a:ext uri="{FF2B5EF4-FFF2-40B4-BE49-F238E27FC236}">
                <a16:creationId xmlns:a16="http://schemas.microsoft.com/office/drawing/2014/main" id="{39E2F7BE-5679-4E2E-A148-D366C18E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39496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Production Mindset</a:t>
            </a:r>
            <a:endParaRPr sz="1100"/>
          </a:p>
        </p:txBody>
      </p:sp>
      <p:sp>
        <p:nvSpPr>
          <p:cNvPr id="55" name="Text 42">
            <a:extLst xmlns:a="http://schemas.openxmlformats.org/drawingml/2006/main">
              <a:ext uri="{FF2B5EF4-FFF2-40B4-BE49-F238E27FC236}">
                <a16:creationId xmlns:a16="http://schemas.microsoft.com/office/drawing/2014/main" id="{624DA244-32F2-4163-878F-1161D97E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687568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Demo jalan vs production-ready - beda jauh effort-nya</a:t>
            </a:r>
            <a:endParaRPr sz="950"/>
          </a:p>
        </p:txBody>
      </p:sp>
      <p:sp>
        <p:nvSpPr>
          <p:cNvPr id="56" name="Shape 43">
            <a:extLst xmlns:a="http://schemas.openxmlformats.org/drawingml/2006/main">
              <a:ext uri="{FF2B5EF4-FFF2-40B4-BE49-F238E27FC236}">
                <a16:creationId xmlns:a16="http://schemas.microsoft.com/office/drawing/2014/main" id="{FF39826B-F13D-45ED-843C-040CE113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44068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27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3cea463154a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5440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58" name="Text 44">
            <a:extLst xmlns:a="http://schemas.openxmlformats.org/drawingml/2006/main">
              <a:ext uri="{FF2B5EF4-FFF2-40B4-BE49-F238E27FC236}">
                <a16:creationId xmlns:a16="http://schemas.microsoft.com/office/drawing/2014/main" id="{67ABBA40-DEFD-4119-A654-5185ACB3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9496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Async Workflow</a:t>
            </a:r>
            <a:endParaRPr sz="1100"/>
          </a:p>
        </p:txBody>
      </p:sp>
      <p:sp>
        <p:nvSpPr>
          <p:cNvPr id="59" name="Text 45">
            <a:extLst xmlns:a="http://schemas.openxmlformats.org/drawingml/2006/main">
              <a:ext uri="{FF2B5EF4-FFF2-40B4-BE49-F238E27FC236}">
                <a16:creationId xmlns:a16="http://schemas.microsoft.com/office/drawing/2014/main" id="{3BD5EB08-E079-4DA4-B93E-89B68C24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687568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Pull-request, code review, deploy preview - cara kerja modern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372595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FE915B-D29A-49F6-A5AE-6066717C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43AA1B-9054-4381-9215-8C1EF852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2B80E0F-78B5-42AB-8FBC-F64A8D07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51B541A-82DA-4F6A-95FD-91041BC4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82C578E-D7CD-4BAE-9953-C4120543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97BA952-5B45-4052-8774-D6502AA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94A5A91-CD43-4B12-9F59-7CA56FCC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50cac55a84d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682cef32241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D969C83-0902-4E25-A1E7-E43CAAE3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A7E0158-7DA7-4E97-8E5D-809FDDB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Presentation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Flow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7B2A8E7-34CC-460B-AF2D-A726A463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9D1E680-9DDF-45E3-A3CB-C0D791B2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Alur latihan presentasi dan bukti yang perlu disiapkan untuk UAS.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39307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84D4696-D0F3-4374-9856-15C10353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8E70E6-934B-4376-B5B3-4829D7CA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D9FBC47-E62A-4A91-AC5F-A06E6C88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03c16636844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2c1e9e5de48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ACC21DC-51AD-4FD7-B981-2FD35C8C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768251-4009-434B-9B39-AE470961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Contoh alur gladi sesi 13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EA10973-9CCC-4C58-A479-F4BD754C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Estimasi untuk 5-6 kelompok - sesuaikan dengan jumlah peserta aktual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1885090-9F20-4BB0-B9FD-A950C5E5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6EF8FBB-68D8-492C-B8B3-C777BA6E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A14A22A-35D2-4DFF-9293-791E90BC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8804A1D-58D9-4C91-8B8A-4D70249A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0-10 min</a:t>
            </a:r>
            <a:endParaRPr sz="1100"/>
          </a:p>
        </p:txBody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21a5fbc144a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16459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A777267-0DB0-4831-BD34-CAA7015B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0876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Opening + Recap</a:t>
            </a:r>
            <a:endParaRPr sz="13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5BD0D3B-1729-497C-BE90-C53C457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7452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Intro + course recap + aturan presentation (slide 1-9).</a:t>
            </a:r>
            <a:endParaRPr sz="10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22BC3684-154E-41DA-B92C-9260424D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DE9C33A7-E626-4961-A1F4-7EEBBD40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A9E08891-021B-4BBB-8072-A2E53201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09CC24A0-859B-404A-B6BD-8047833B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10-80 min</a:t>
            </a:r>
            <a:endParaRPr sz="1100"/>
          </a:p>
        </p:txBody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52045dfb14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26060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076F0E6-EEDE-4722-98D4-4293CAD4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888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Latihan kelompok</a:t>
            </a:r>
            <a:endParaRPr sz="13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C1AA85C-186F-4158-B2D4-0ABFDC9F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464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Alokasi per kelompok disesuaikan jumlah peserta; semua anggota berbicara.</a:t>
            </a:r>
            <a:endParaRPr sz="10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E48299C6-D40B-473B-89C1-E9F879A9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E6880A8D-1787-4AA4-BDDE-B370972B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2586926E-C269-46E6-95A6-772426DB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7277AEE6-8C69-48B6-90CB-EE918450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80-90 min</a:t>
            </a:r>
            <a:endParaRPr sz="1100"/>
          </a:p>
        </p:txBody>
      </p:sp>
      <p:pic>
        <p:nvPicPr>
          <p:cNvPr id="7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c253945584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35661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75075D25-A9F8-4359-8589-5BD2B59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Class Discussion + Feedback</a:t>
            </a:r>
            <a:endParaRPr sz="13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F78E16B3-D33D-499A-8854-0AEE2DCA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9476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Diskusi tema yang muncul, observation pattern, pelajaran kolektif.</a:t>
            </a:r>
            <a:endParaRPr sz="10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7310457E-8D00-4D7B-B368-6F2FD69E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66685BA9-C336-42A3-A9E2-B507ED60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76A5D407-F07F-4C87-BD16-48361F9E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05DC507E-41EF-4D48-88F1-5CCA5338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90-95 min</a:t>
            </a:r>
            <a:endParaRPr sz="1100"/>
          </a:p>
        </p:txBody>
      </p:sp>
      <p:pic>
        <p:nvPicPr>
          <p:cNvPr id="8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15d14c0d4d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45262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3370D128-C326-4580-86A8-22864C8B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891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Course Reflection + Next Steps</a:t>
            </a:r>
            <a:endParaRPr sz="13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A9120F7F-9BB3-4F9D-92AE-25C6A648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5488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Resources lanjutan, career path, sertifikasi, dunia kerja cloud.</a:t>
            </a:r>
            <a:endParaRPr sz="100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0F93F36A-8E8D-45AB-805F-E5D7CAE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37201980-4DEF-40EB-98B5-9C763E0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937E2F98-8912-458E-AFC7-E6ACF6AC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CB12C7DB-61F3-4EEF-A66F-9323FBB5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95-100 min</a:t>
            </a:r>
            <a:endParaRPr sz="1100"/>
          </a:p>
        </p:txBody>
      </p:sp>
      <p:pic>
        <p:nvPicPr>
          <p:cNvPr id="9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42f2490d048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54864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47278B77-9D59-4AC5-A0A4-DB1959D1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4924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Rencana perbaikan</a:t>
            </a:r>
            <a:endParaRPr sz="130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1C99436A-6398-48E1-99CE-E944C99E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1500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Catat bug, perbaiki README, cek kesiapan demo dan backup.</a:t>
            </a:r>
            <a:endParaRPr sz="1000"/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2B57DE84-AFAC-4641-9C93-AB6715CF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Jadwal dan durasi UAS minggu 14 mengikuti pengumuman resmi di LMS.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96698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6C06EE-AA44-465B-B906-9188C0B6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7B9D95-2275-40BC-9BA9-2F8C82A3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73CAD3-F842-4400-A967-99A25054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42b5abb5f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adb6347b54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B0786D1-EBE2-42F8-9C68-B59200B7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8D3C105-2AA7-466A-AF90-BCA4CBD1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Struktur presentasi proyek kelompok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561E019-2390-4CAE-B578-ECA91589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Gunakan contoh alokasi ini untuk latihan; durasi resmi mengikuti LMS.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6764BAD-7CC3-4AD9-9DD1-008A7E4B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CA1CA0E-B17B-4145-9607-217EC33B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9A139C0-E690-431D-A9C3-CF0FD9E6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0:00-1:30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493EB86-7BC1-42F3-9577-44D21889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417320"/>
            <a:ext cx="1965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Problem + Hook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A365506-595B-4F2D-87E8-1EAC3C8B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pain apa yang Anda selesaikan? Tunjukkan dalam 90 detik.</a:t>
            </a:r>
            <a:endParaRPr sz="10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92D9000-7A7D-475A-80A8-0E6D810D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33375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CD03D24-7D26-4415-852F-82C72D5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Tip: 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Hindari 'nama, NIM, jurusan' panjang - langsung problem.</a:t>
            </a:r>
            <a:endParaRPr sz="9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C37CA403-3372-4158-9D3B-6FE72BC4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6F5FDA73-6BC2-4CBD-8183-991FE445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AE00C07-F016-4FC0-A9A6-4CD4E8AB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1:30-3:30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C6FE714-B155-43CC-89EE-3605D5F3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417320"/>
            <a:ext cx="1965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Solution + Stack</a:t>
            </a:r>
            <a:endParaRPr sz="11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8D91DA6-E68B-4E44-8126-AD888BF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 app Anda + stack yang dipakai + kenapa pilih itu.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58B948D-ABC6-4781-BE37-E7150749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34640"/>
            <a:ext cx="33375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EA30C72-E028-402C-9DC5-D394D812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8036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Tip: 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Justifikasi 1 tech choice (mis. 'kenapa Supabase bukan Firebase').</a:t>
            </a:r>
            <a:endParaRPr sz="9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BD29FDA1-0C55-4F8D-8382-0A815F83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EAC4B9A0-BF9E-48FC-B63D-8C7C9CD4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F808361-75CF-4468-B13E-F05AA0B7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3:30-7:30</a:t>
            </a:r>
            <a:endParaRPr sz="10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E0AA0448-6652-47E6-B2CA-E3E19D83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17320"/>
            <a:ext cx="1965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Live Demo / Video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0BF9EF5E-C24E-494C-8A2B-F3884695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Walkthrough user journey - login -&gt; fitur utama -&gt; hasil.</a:t>
            </a:r>
            <a:endParaRPr sz="10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6842BE0-F483-4E12-B711-A52B08DE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34640"/>
            <a:ext cx="33375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3E653940-86E7-4BFF-BB50-6D32FD07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88036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Tip: 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Backup video kalau live demo crash. JANGAN demo tanpa rehearsal.</a:t>
            </a:r>
            <a:endParaRPr sz="9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21C7BAE4-517C-47E9-91FD-A54D109B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F4A9174C-71D6-4E51-BA61-A161645F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D4D2AD70-A88F-44A6-B4DA-B1834FE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7:30-9:30</a:t>
            </a:r>
            <a:endParaRPr sz="10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C6442EB-3BFC-4B01-8C73-462BE5BF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94760"/>
            <a:ext cx="1965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Architecture + Code</a:t>
            </a:r>
            <a:endParaRPr sz="11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CEE9D9D2-BF6C-4CC6-BE55-98301F2E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Tampilkan diagram. Jelaskan 'apa yang terjadi saat user click X'.</a:t>
            </a:r>
            <a:endParaRPr sz="10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0C41318F-12F4-40E9-B7E8-A3D3BC87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33375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3051943-B371-4BE3-83F8-9250EB42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5780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Tip: 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Highlight 1 integration menarik antar service.</a:t>
            </a:r>
            <a:endParaRPr sz="9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73012103-3D0D-48F0-8407-75F2F857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E970AB5E-19B3-4483-A1DE-F3C326B4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B775D0F1-8377-4931-B485-624A29D7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9:30-11:00</a:t>
            </a:r>
            <a:endParaRPr sz="10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9DC31A5E-92DD-40B2-BF71-0130F983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794760"/>
            <a:ext cx="1965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Trade-offs + Learnings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26536FE7-7B8C-4F3F-9DF8-D70778CB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 challenge yang dihadapi + cara solve. 1 thing Anda pelajari.</a:t>
            </a:r>
            <a:endParaRPr sz="1000"/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DD415505-E96D-4B9B-88BD-B76B88CB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212080"/>
            <a:ext cx="33375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B0EE7803-3E7B-440F-B734-47376443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5780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Tip: 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Honest - dosen menghargai 'gagal lalu pivot' lebih dari 'semua perfect'.</a:t>
            </a:r>
            <a:endParaRPr sz="95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9FA14BCA-6EB6-43A2-9731-2EA878B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8995ECA6-4B01-477F-A288-B4134937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2376FA33-73DF-4843-AFE1-0495A3BB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9476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11:00-12:00</a:t>
            </a:r>
            <a:endParaRPr sz="10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11468911-ACF7-4AB4-9C60-6ED010D0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794760"/>
            <a:ext cx="1965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Wrap + Future Work</a:t>
            </a:r>
            <a:endParaRPr sz="11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06DDA683-CDED-448A-A281-23E53A07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 scope-out + 1 future improvement. Thank you slide.</a:t>
            </a:r>
            <a:endParaRPr sz="1000"/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066C1C39-550E-46CA-97BB-7E951D34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12080"/>
            <a:ext cx="33375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9E188E60-0D3B-4F17-BB1D-091A7106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25780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Tip: 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Bukan 'semoga bermanfaat' - tapi 'next step kalau lanjut develop'.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8570135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08359A-80CD-4317-8D33-8CE23175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CA4390-8E8F-4FE0-B560-515E92D5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5E54DE-06AB-4F6F-BC69-C6718D0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f0aee89084a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8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d38aa6315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2544776-3ECE-46F8-96E9-616A42C6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B17CE4B-2C0F-40D4-ADC9-EE1592EE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Contoh struktur 10 slide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BCE7DD5-DFED-4079-8E77-820AC57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Pilih bukti utama agar alur presentasi mudah diikuti.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D023409-FC9E-460D-AAAB-5A4E742C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095FE90-DDD9-4B4D-AEB0-E4E30955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10 Slide Wajib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51723E-897B-4FC8-B2EB-AD344C4B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19D6634-B9E4-48A2-AD8A-F5CE569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1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E77A2D6-1F0F-4259-8011-E844CF40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168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Title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8045E67-38F8-445E-AB38-70F210F6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1168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Project name + Anda + tanggal</a:t>
            </a:r>
            <a:endParaRPr sz="9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7790E52-9AB0-4CA1-9D5C-5530258E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675D375-A585-41B0-87CE-CEDFC5C6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231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2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BBBAE94-921D-4B42-9634-2D9B865F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316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FDEE0CED-7179-4E90-A177-3B94A456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42316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pain + scope yang di-address</a:t>
            </a:r>
            <a:endParaRPr sz="9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472CE21-2EC6-4A9B-83DC-7A5C8564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FF55BE7-0776-46BD-BD22-1A026390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3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6AAAE6C2-C942-4704-9F3F-68064EF7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464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Solution Overview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A868DB-1A22-4C41-BA57-83FCAC32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3464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Screenshot UI utama + value prop</a:t>
            </a:r>
            <a:endParaRPr sz="9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8C5E0910-F2ED-4292-95E0-34545E09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6517F89-A386-45F3-9B4C-951B6989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4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4ECD378A-8D78-4C81-AD14-A10F5DE2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612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Live Demo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AA4001B9-0910-4784-9669-165BE45D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24612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Placeholder - actual demo di browser</a:t>
            </a:r>
            <a:endParaRPr sz="9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FE1266E2-82A4-4AB8-B655-54D21D5B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4FC18081-3923-4212-A573-19EC1F29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5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2B11B52A-E7A6-44B3-9974-1FD1ADF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Architecture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6B139FE-56BF-405A-8615-8F877904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65760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Diagram component + data flow</a:t>
            </a:r>
            <a:endParaRPr sz="9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5CBF344-9D95-4054-934D-DD06732E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BA53029-CB5A-4857-819C-7F67ADE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6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3700BFAE-52F4-46D3-9889-8FD41EF4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908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Tech Stack + Why</a:t>
            </a:r>
            <a:endParaRPr sz="11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B5C466A4-EB67-4A81-87FF-BDD0D0F3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06908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Pilihan tools + justifikasi</a:t>
            </a:r>
            <a:endParaRPr sz="95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0FC58C44-EA07-4918-8BB3-4CFA0821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552F4039-1FFF-408E-A235-A5A83FED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7</a:t>
            </a:r>
            <a:endParaRPr sz="11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AF75A829-0DAD-44F1-B562-1456AB61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056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Integration</a:t>
            </a:r>
            <a:endParaRPr sz="11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13F1720D-EF71-4D39-97D1-98E69B7C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48056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Highlight 1 part yang menarik</a:t>
            </a:r>
            <a:endParaRPr sz="95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A2841484-20AE-4646-981A-CE1E30EF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6C19D181-1BDF-44F4-8ADE-9BFA3F89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8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B603AEF0-76ED-4112-8026-746B3E9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204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Challenges + Solution</a:t>
            </a:r>
            <a:endParaRPr sz="11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E8442E13-7FC8-4505-A238-F6034BD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89204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1-2 problem + cara solve</a:t>
            </a:r>
            <a:endParaRPr sz="9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FDF6BE0-DC78-4DD1-9298-EE7FD81A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BAB1F4DD-497C-496D-8515-E175EF07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03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9</a:t>
            </a:r>
            <a:endParaRPr sz="11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0C4E4328-2C3E-452E-B30B-FBA5A424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352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Trade-offs + Limits</a:t>
            </a:r>
            <a:endParaRPr sz="11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DFD62365-EA1A-4F0C-82EA-51D297EB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30352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Honest tentang yang scope-out</a:t>
            </a:r>
            <a:endParaRPr sz="950"/>
          </a:p>
        </p:txBody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5288E1BF-4CAB-4D22-B905-9ECF346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1500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093CBB48-2F79-4939-B092-414388E6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10</a:t>
            </a:r>
            <a:endParaRPr sz="11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D99A01C6-77DA-4CFA-861F-7B9DEB0C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Future Work + Thanks</a:t>
            </a:r>
            <a:endParaRPr sz="110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305CE37-A4B4-4059-BBE8-4EE48FF9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71500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Next step + contact info</a:t>
            </a:r>
            <a:endParaRPr sz="950"/>
          </a:p>
        </p:txBody>
      </p:sp>
      <p:sp>
        <p:nvSpPr>
          <p:cNvPr id="52" name="Shape 48">
            <a:extLst xmlns:a="http://schemas.openxmlformats.org/drawingml/2006/main">
              <a:ext uri="{FF2B5EF4-FFF2-40B4-BE49-F238E27FC236}">
                <a16:creationId xmlns:a16="http://schemas.microsoft.com/office/drawing/2014/main" id="{A910BFD2-00E7-411E-A1DC-C91C843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6A4A1111-46C3-48BA-8B50-6D9D5F05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Slide Design Tips</a:t>
            </a:r>
            <a:endParaRPr sz="1400"/>
          </a:p>
        </p:txBody>
      </p:sp>
      <p:pic>
        <p:nvPicPr>
          <p:cNvPr id="1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a21fdd0b3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03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5" name="Text 50">
            <a:extLst xmlns:a="http://schemas.openxmlformats.org/drawingml/2006/main">
              <a:ext uri="{FF2B5EF4-FFF2-40B4-BE49-F238E27FC236}">
                <a16:creationId xmlns:a16="http://schemas.microsoft.com/office/drawing/2014/main" id="{3ACC2F1D-93BA-46F1-ADFB-1CC89385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02996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1 ide per slide</a:t>
            </a:r>
            <a:endParaRPr sz="1100"/>
          </a:p>
        </p:txBody>
      </p:sp>
      <p:sp>
        <p:nvSpPr>
          <p:cNvPr id="56" name="Text 51">
            <a:extLst xmlns:a="http://schemas.openxmlformats.org/drawingml/2006/main">
              <a:ext uri="{FF2B5EF4-FFF2-40B4-BE49-F238E27FC236}">
                <a16:creationId xmlns:a16="http://schemas.microsoft.com/office/drawing/2014/main" id="{B05BAB12-4844-457B-8F4E-EC34B5BE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28600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overload - audience cuma 12 detik per slide</a:t>
            </a:r>
            <a:endParaRPr sz="950"/>
          </a:p>
        </p:txBody>
      </p:sp>
      <p:pic>
        <p:nvPicPr>
          <p:cNvPr id="13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a21fdd0b3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670048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8" name="Text 52">
            <a:extLst xmlns:a="http://schemas.openxmlformats.org/drawingml/2006/main">
              <a:ext uri="{FF2B5EF4-FFF2-40B4-BE49-F238E27FC236}">
                <a16:creationId xmlns:a16="http://schemas.microsoft.com/office/drawing/2014/main" id="{736B4571-9C6D-41B6-B8D3-9556924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596896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Big font, sedikit text</a:t>
            </a:r>
            <a:endParaRPr sz="1100"/>
          </a:p>
        </p:txBody>
      </p:sp>
      <p:sp>
        <p:nvSpPr>
          <p:cNvPr id="59" name="Text 53">
            <a:extLst xmlns:a="http://schemas.openxmlformats.org/drawingml/2006/main">
              <a:ext uri="{FF2B5EF4-FFF2-40B4-BE49-F238E27FC236}">
                <a16:creationId xmlns:a16="http://schemas.microsoft.com/office/drawing/2014/main" id="{DCB53737-BE20-4F78-A29E-C00A4DB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852928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Minimum 18pt body. Code snippet boleh kecil tapi maksimal 10 baris</a:t>
            </a:r>
            <a:endParaRPr sz="950"/>
          </a:p>
        </p:txBody>
      </p:sp>
      <p:pic>
        <p:nvPicPr>
          <p:cNvPr id="14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a21fdd0b3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236976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61" name="Text 54">
            <a:extLst xmlns:a="http://schemas.openxmlformats.org/drawingml/2006/main">
              <a:ext uri="{FF2B5EF4-FFF2-40B4-BE49-F238E27FC236}">
                <a16:creationId xmlns:a16="http://schemas.microsoft.com/office/drawing/2014/main" id="{B8935CB1-6E93-433E-8C53-448123DB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63824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Visual &gt; text</a:t>
            </a:r>
            <a:endParaRPr sz="1100"/>
          </a:p>
        </p:txBody>
      </p:sp>
      <p:sp>
        <p:nvSpPr>
          <p:cNvPr id="62" name="Text 55">
            <a:extLst xmlns:a="http://schemas.openxmlformats.org/drawingml/2006/main">
              <a:ext uri="{FF2B5EF4-FFF2-40B4-BE49-F238E27FC236}">
                <a16:creationId xmlns:a16="http://schemas.microsoft.com/office/drawing/2014/main" id="{A3F70B62-6D60-4C6F-A971-A840370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9856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Diagram, screenshot, atau live UI selalu menang</a:t>
            </a:r>
            <a:endParaRPr sz="950"/>
          </a:p>
        </p:txBody>
      </p:sp>
      <p:pic>
        <p:nvPicPr>
          <p:cNvPr id="14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a21fdd0b3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803904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64" name="Text 56">
            <a:extLst xmlns:a="http://schemas.openxmlformats.org/drawingml/2006/main">
              <a:ext uri="{FF2B5EF4-FFF2-40B4-BE49-F238E27FC236}">
                <a16:creationId xmlns:a16="http://schemas.microsoft.com/office/drawing/2014/main" id="{6EA66970-98DA-40FF-B343-6E861FD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73075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1 highlight color</a:t>
            </a:r>
            <a:endParaRPr sz="1100"/>
          </a:p>
        </p:txBody>
      </p:sp>
      <p:sp>
        <p:nvSpPr>
          <p:cNvPr id="65" name="Text 57">
            <a:extLst xmlns:a="http://schemas.openxmlformats.org/drawingml/2006/main">
              <a:ext uri="{FF2B5EF4-FFF2-40B4-BE49-F238E27FC236}">
                <a16:creationId xmlns:a16="http://schemas.microsoft.com/office/drawing/2014/main" id="{6487F5FB-7B29-40DE-8DAC-C3BF2DC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986784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warna accent untuk emphasize - bukan rainbow palette</a:t>
            </a:r>
            <a:endParaRPr sz="950"/>
          </a:p>
        </p:txBody>
      </p:sp>
      <p:pic>
        <p:nvPicPr>
          <p:cNvPr id="14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46c7bcf3d49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37083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67" name="Text 58">
            <a:extLst xmlns:a="http://schemas.openxmlformats.org/drawingml/2006/main">
              <a:ext uri="{FF2B5EF4-FFF2-40B4-BE49-F238E27FC236}">
                <a16:creationId xmlns:a16="http://schemas.microsoft.com/office/drawing/2014/main" id="{249CD195-54A0-40E4-B084-36ACD43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29768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JANGAN: bullet wall</a:t>
            </a:r>
            <a:endParaRPr sz="1100"/>
          </a:p>
        </p:txBody>
      </p:sp>
      <p:sp>
        <p:nvSpPr>
          <p:cNvPr id="68" name="Text 59">
            <a:extLst xmlns:a="http://schemas.openxmlformats.org/drawingml/2006/main">
              <a:ext uri="{FF2B5EF4-FFF2-40B4-BE49-F238E27FC236}">
                <a16:creationId xmlns:a16="http://schemas.microsoft.com/office/drawing/2014/main" id="{1338ED20-9FEC-466D-BBA9-BD754494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55371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 bullet point per slide = audience lost</a:t>
            </a:r>
            <a:endParaRPr sz="950"/>
          </a:p>
        </p:txBody>
      </p:sp>
      <p:pic>
        <p:nvPicPr>
          <p:cNvPr id="15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46c7bcf3d49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9377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70" name="Text 60">
            <a:extLst xmlns:a="http://schemas.openxmlformats.org/drawingml/2006/main">
              <a:ext uri="{FF2B5EF4-FFF2-40B4-BE49-F238E27FC236}">
                <a16:creationId xmlns:a16="http://schemas.microsoft.com/office/drawing/2014/main" id="{7EE6D3BE-6F6A-4E4B-8909-BCBF3BD2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86460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JANGAN: code beyond 1 screen</a:t>
            </a:r>
            <a:endParaRPr sz="1100"/>
          </a:p>
        </p:txBody>
      </p:sp>
      <p:sp>
        <p:nvSpPr>
          <p:cNvPr id="71" name="Text 61">
            <a:extLst xmlns:a="http://schemas.openxmlformats.org/drawingml/2006/main">
              <a:ext uri="{FF2B5EF4-FFF2-40B4-BE49-F238E27FC236}">
                <a16:creationId xmlns:a16="http://schemas.microsoft.com/office/drawing/2014/main" id="{17B495BE-D994-41FD-A3F5-1EE6190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12064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Highlight bagian kunci saja</a:t>
            </a:r>
            <a:endParaRPr sz="950"/>
          </a:p>
        </p:txBody>
      </p:sp>
      <p:pic>
        <p:nvPicPr>
          <p:cNvPr id="154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46c7bcf3d49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504688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73" name="Text 62">
            <a:extLst xmlns:a="http://schemas.openxmlformats.org/drawingml/2006/main">
              <a:ext uri="{FF2B5EF4-FFF2-40B4-BE49-F238E27FC236}">
                <a16:creationId xmlns:a16="http://schemas.microsoft.com/office/drawing/2014/main" id="{1C50DC61-8D21-41F4-8CB5-B36D2569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31536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JANGAN: stock photo gimmick</a:t>
            </a:r>
            <a:endParaRPr sz="1100"/>
          </a:p>
        </p:txBody>
      </p:sp>
      <p:sp>
        <p:nvSpPr>
          <p:cNvPr id="74" name="Text 63">
            <a:extLst xmlns:a="http://schemas.openxmlformats.org/drawingml/2006/main">
              <a:ext uri="{FF2B5EF4-FFF2-40B4-BE49-F238E27FC236}">
                <a16:creationId xmlns:a16="http://schemas.microsoft.com/office/drawing/2014/main" id="{CBCD6B79-693A-4342-AEAC-CE0D0BCD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687568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relevant - audience tahu Anda copy-paste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875851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16430F3-9E4F-436A-97F1-51970159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F1A741-7B1C-4536-B33F-8719D844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67AFBE-E55B-4362-BBAC-16884573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805e2286248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dc1d0c8a04b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F0E0BF7-53C2-4694-A84E-0AE7A964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AB45A73-1C2B-4C5C-A405-DBC05E65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Live Demo Survival Guide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A7FCD87-1E89-40F8-833E-1653FAD8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Live demo bisa bikin presentation jadi great - atau disaster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F1D8F5C-15B6-4024-9AE3-89B63FC6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4D67B6C-7D8D-4EC2-B605-0E77747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Aturan no.1: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selalu ada backup. Live demo crash itu normal -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reaksi tim menunjukkan kesiapan teknis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Backup minimum: pre-recorded video. Backup ideal: screenshot per step.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ED4EDB1-8F4D-413E-A584-1462EA91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6657673-9BF5-4E2B-9F34-FC9A4A49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D2400E5-9127-4A9D-87EF-C8CC3DE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PRE-DEMO CHECKLIST</a:t>
            </a:r>
            <a:endParaRPr sz="1200"/>
          </a:p>
        </p:txBody>
      </p:sp>
      <p:pic>
        <p:nvPicPr>
          <p:cNvPr id="7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d28396d77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12724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C203E682-A5D6-40D4-887A-2353A05F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6324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Live URL responsive di laptop presentation</a:t>
            </a:r>
            <a:endParaRPr sz="1050"/>
          </a:p>
        </p:txBody>
      </p:sp>
      <p:pic>
        <p:nvPicPr>
          <p:cNvPr id="7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d28396d77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5478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5269A1B2-3621-4B27-82D2-106CE476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83864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Test login flow 1 jam sebelum (Supabase awake)</a:t>
            </a:r>
            <a:endParaRPr sz="1050"/>
          </a:p>
        </p:txBody>
      </p:sp>
      <p:pic>
        <p:nvPicPr>
          <p:cNvPr id="7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d28396d77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96849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1745A0FB-FE61-4019-94F6-3645DBF9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04488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Tab browser terbuka di state yang siap demo</a:t>
            </a:r>
            <a:endParaRPr sz="1050"/>
          </a:p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d28396d77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3891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0DC0D4B3-3992-4168-9026-1468CF16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25112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Internet stabil + backup hotspot</a:t>
            </a:r>
            <a:endParaRPr sz="1050"/>
          </a:p>
        </p:txBody>
      </p:sp>
      <p:pic>
        <p:nvPicPr>
          <p:cNvPr id="8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d28396d77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80974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B86517E2-1CC9-4C5F-9400-5B47FF8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45736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Browser zoom 125-150% supaya audience lihat</a:t>
            </a:r>
            <a:endParaRPr sz="1050"/>
          </a:p>
        </p:txBody>
      </p:sp>
      <p:pic>
        <p:nvPicPr>
          <p:cNvPr id="8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d28396d77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23036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6" name="Text 16">
            <a:extLst xmlns:a="http://schemas.openxmlformats.org/drawingml/2006/main">
              <a:ext uri="{FF2B5EF4-FFF2-40B4-BE49-F238E27FC236}">
                <a16:creationId xmlns:a16="http://schemas.microsoft.com/office/drawing/2014/main" id="{A157F958-4C04-4D73-8763-52E4C1BE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663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Tutup notification (Slack, email, WA Desktop)</a:t>
            </a:r>
            <a:endParaRPr sz="1050"/>
          </a:p>
        </p:txBody>
      </p:sp>
      <p:pic>
        <p:nvPicPr>
          <p:cNvPr id="8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d28396d77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65099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039E88-472D-430D-80C2-F606F5B8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586984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Backup video di drive lokal (no internet needed)</a:t>
            </a:r>
            <a:endParaRPr sz="105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69A60A36-571F-437C-BA88-5046AF1B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19">
            <a:extLst xmlns:a="http://schemas.openxmlformats.org/drawingml/2006/main">
              <a:ext uri="{FF2B5EF4-FFF2-40B4-BE49-F238E27FC236}">
                <a16:creationId xmlns:a16="http://schemas.microsoft.com/office/drawing/2014/main" id="{21C364DA-131C-4848-B0FF-089E393A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1" name="Text 20">
            <a:extLst xmlns:a="http://schemas.openxmlformats.org/drawingml/2006/main">
              <a:ext uri="{FF2B5EF4-FFF2-40B4-BE49-F238E27FC236}">
                <a16:creationId xmlns:a16="http://schemas.microsoft.com/office/drawing/2014/main" id="{7A30C143-83DD-45F0-8F9F-308C0C35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 DEMO GAGAL DI TENGAH</a:t>
            </a:r>
            <a:endParaRPr sz="1200"/>
          </a:p>
        </p:txBody>
      </p:sp>
      <p:pic>
        <p:nvPicPr>
          <p:cNvPr id="92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8465be80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12724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3" name="Text 21">
            <a:extLst xmlns:a="http://schemas.openxmlformats.org/drawingml/2006/main">
              <a:ext uri="{FF2B5EF4-FFF2-40B4-BE49-F238E27FC236}">
                <a16:creationId xmlns:a16="http://schemas.microsoft.com/office/drawing/2014/main" id="{62506AC8-A2B4-4D68-A7C0-8D053EE3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06324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Jangan panik - 'this happens in production'</a:t>
            </a:r>
            <a:endParaRPr sz="1050"/>
          </a:p>
        </p:txBody>
      </p:sp>
      <p:pic>
        <p:nvPicPr>
          <p:cNvPr id="94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8465be80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5478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5" name="Text 22">
            <a:extLst xmlns:a="http://schemas.openxmlformats.org/drawingml/2006/main">
              <a:ext uri="{FF2B5EF4-FFF2-40B4-BE49-F238E27FC236}">
                <a16:creationId xmlns:a16="http://schemas.microsoft.com/office/drawing/2014/main" id="{DB79E146-FA76-44AC-9035-9FE2098F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83864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Jangan diam panjang - jelaskan apa yang seharusnya terjadi</a:t>
            </a:r>
            <a:endParaRPr sz="1050"/>
          </a:p>
        </p:txBody>
      </p:sp>
      <p:pic>
        <p:nvPicPr>
          <p:cNvPr id="96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8465be80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96849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7" name="Text 23">
            <a:extLst xmlns:a="http://schemas.openxmlformats.org/drawingml/2006/main">
              <a:ext uri="{FF2B5EF4-FFF2-40B4-BE49-F238E27FC236}">
                <a16:creationId xmlns:a16="http://schemas.microsoft.com/office/drawing/2014/main" id="{B6A83D51-003B-4BE5-A229-8E384757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904488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Switch ke backup video tanpa ragu</a:t>
            </a:r>
            <a:endParaRPr sz="1050"/>
          </a:p>
        </p:txBody>
      </p:sp>
      <p:pic>
        <p:nvPicPr>
          <p:cNvPr id="98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8465be80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3891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9" name="Text 24">
            <a:extLst xmlns:a="http://schemas.openxmlformats.org/drawingml/2006/main">
              <a:ext uri="{FF2B5EF4-FFF2-40B4-BE49-F238E27FC236}">
                <a16:creationId xmlns:a16="http://schemas.microsoft.com/office/drawing/2014/main" id="{9375655A-9C25-401C-A7F6-09B9BF73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25112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Atau ke screenshot - itu masih valid demo</a:t>
            </a:r>
            <a:endParaRPr sz="1050"/>
          </a:p>
        </p:txBody>
      </p:sp>
      <p:pic>
        <p:nvPicPr>
          <p:cNvPr id="100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8465be80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80974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1" name="Text 25">
            <a:extLst xmlns:a="http://schemas.openxmlformats.org/drawingml/2006/main">
              <a:ext uri="{FF2B5EF4-FFF2-40B4-BE49-F238E27FC236}">
                <a16:creationId xmlns:a16="http://schemas.microsoft.com/office/drawing/2014/main" id="{F0D09D31-B26D-4152-BBBF-C9FC1C7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745736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Catat error - mungkin sebenarnya menarik untuk dibahas</a:t>
            </a:r>
            <a:endParaRPr sz="1050"/>
          </a:p>
        </p:txBody>
      </p:sp>
      <p:pic>
        <p:nvPicPr>
          <p:cNvPr id="102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8465be80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23036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3" name="Text 26">
            <a:extLst xmlns:a="http://schemas.openxmlformats.org/drawingml/2006/main">
              <a:ext uri="{FF2B5EF4-FFF2-40B4-BE49-F238E27FC236}">
                <a16:creationId xmlns:a16="http://schemas.microsoft.com/office/drawing/2014/main" id="{E1C949FE-2DEC-4581-96C9-F0EB0346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516636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Continue ke slide arsitektur - jangan stuck di error</a:t>
            </a:r>
            <a:endParaRPr sz="1050"/>
          </a:p>
        </p:txBody>
      </p:sp>
      <p:pic>
        <p:nvPicPr>
          <p:cNvPr id="104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8465be80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65099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5" name="Text 27">
            <a:extLst xmlns:a="http://schemas.openxmlformats.org/drawingml/2006/main">
              <a:ext uri="{FF2B5EF4-FFF2-40B4-BE49-F238E27FC236}">
                <a16:creationId xmlns:a16="http://schemas.microsoft.com/office/drawing/2014/main" id="{FF50F419-3A32-468D-83BF-4E4B937B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5586984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Kalau worst case: tunjukkan code + jelaskan 'lihat di GitHub'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5426563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CFDF56-618E-4EEF-9FC2-98947834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2F5930C-89A2-4C6F-9CB0-28E7C875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E3DC7EF-2898-477E-AE16-A3D4C754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afb9045aa4c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a0fbd913b42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C6FE16C-49D0-4C7F-A838-0236251F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00003C6-C508-4DB8-BAC5-FCE47BD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Q&amp;A Guidelines - Untuk Presenter &amp; Audience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30859F3-3B58-486B-B712-6506B77D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Tiap presentation ada 2-3 menit Q&amp;A - manfaatkan dengan baik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603EFA9-97DA-4E1B-A52A-67D22906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EEE2B5E-C718-4F3E-98A6-FCC37F7C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4AE6094-4CEF-4CD6-A020-A967AE9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 ANDA PRESENTER</a:t>
            </a:r>
            <a:endParaRPr sz="1300"/>
          </a:p>
        </p:txBody>
      </p:sp>
      <p:pic>
        <p:nvPicPr>
          <p:cNvPr id="7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286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E84B479-8C1C-4151-A4D8-397B7EC1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21284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'Bagus pertanyaannya' bukan filler</a:t>
            </a:r>
            <a:endParaRPr sz="11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E3EDBCF-FAEF-41F6-966C-76B7ACA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48716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Buang frasa kosong - langsung jawab</a:t>
            </a:r>
            <a:endParaRPr sz="950"/>
          </a:p>
        </p:txBody>
      </p:sp>
      <p:pic>
        <p:nvPicPr>
          <p:cNvPr id="8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26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60495004-FFB7-4F31-B297-130A2E12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529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Tidak tahu? Bilang 'belum eksplor'</a:t>
            </a:r>
            <a:endParaRPr sz="11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57771C83-E1A9-4766-ACBE-C47CDB5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12724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Lebih bagus dari ngeles atau menebak</a:t>
            </a:r>
            <a:endParaRPr sz="950"/>
          </a:p>
        </p:txBody>
      </p:sp>
      <p:pic>
        <p:nvPicPr>
          <p:cNvPr id="8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566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C8A32E19-3897-4E07-8D66-7BA7B7EC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9300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Akui trade-off</a:t>
            </a:r>
            <a:endParaRPr sz="1100"/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4C5903CC-0849-4077-8A7F-2F746527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6732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'Saya pilih X karena... tapi Y mungkin lebih bagus'</a:t>
            </a:r>
            <a:endParaRPr sz="950"/>
          </a:p>
        </p:txBody>
      </p:sp>
      <p:pic>
        <p:nvPicPr>
          <p:cNvPr id="8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9A2CC4D3-45DE-4C58-94B2-E377C2EC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330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Tunjukkan code kalau perlu</a:t>
            </a:r>
            <a:endParaRPr sz="1100"/>
          </a:p>
        </p:txBody>
      </p:sp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6A9F24EE-8157-4704-95D5-BA36362A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40740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VS Code / GitHub kalau pertanyaan teknis</a:t>
            </a:r>
            <a:endParaRPr sz="950"/>
          </a:p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846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E3306C2C-C0C3-4D06-BCA2-CDCA2C8E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7316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Catat follow-up question</a:t>
            </a:r>
            <a:endParaRPr sz="1100"/>
          </a:p>
        </p:txBody>
      </p:sp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704EBA20-F64F-4C4F-AB4B-B5E9DC8D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4748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'Saya cek setelah ini, kabari lewat Slack'</a:t>
            </a:r>
            <a:endParaRPr sz="950"/>
          </a:p>
        </p:txBody>
      </p:sp>
      <p:pic>
        <p:nvPicPr>
          <p:cNvPr id="9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28b96407a48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486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9" name="Text 19">
            <a:extLst xmlns:a="http://schemas.openxmlformats.org/drawingml/2006/main">
              <a:ext uri="{FF2B5EF4-FFF2-40B4-BE49-F238E27FC236}">
                <a16:creationId xmlns:a16="http://schemas.microsoft.com/office/drawing/2014/main" id="{D696B7A6-CADC-49E9-B671-B0631ED4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41324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Jangan defensif</a:t>
            </a:r>
            <a:endParaRPr sz="1100"/>
          </a:p>
        </p:txBody>
      </p:sp>
      <p:sp>
        <p:nvSpPr>
          <p:cNvPr id="30" name="Text 20">
            <a:extLst xmlns:a="http://schemas.openxmlformats.org/drawingml/2006/main">
              <a:ext uri="{FF2B5EF4-FFF2-40B4-BE49-F238E27FC236}">
                <a16:creationId xmlns:a16="http://schemas.microsoft.com/office/drawing/2014/main" id="{9EF68FF7-C449-437B-8CEC-D430F11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68756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Kritik = data, bukan serangan personal</a:t>
            </a:r>
            <a:endParaRPr sz="950"/>
          </a:p>
        </p:txBody>
      </p:sp>
      <p:sp>
        <p:nvSpPr>
          <p:cNvPr id="31" name="Shape 21">
            <a:extLst xmlns:a="http://schemas.openxmlformats.org/drawingml/2006/main">
              <a:ext uri="{FF2B5EF4-FFF2-40B4-BE49-F238E27FC236}">
                <a16:creationId xmlns:a16="http://schemas.microsoft.com/office/drawing/2014/main" id="{0ABF1A2B-03A3-4D3A-B603-206498B6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2">
            <a:extLst xmlns:a="http://schemas.openxmlformats.org/drawingml/2006/main">
              <a:ext uri="{FF2B5EF4-FFF2-40B4-BE49-F238E27FC236}">
                <a16:creationId xmlns:a16="http://schemas.microsoft.com/office/drawing/2014/main" id="{9C5A7CA6-35A0-4412-A878-F0F10D06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89B75514-2FDB-4727-B4BD-87CD42C5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 ANDA AUDIENCE</a:t>
            </a:r>
            <a:endParaRPr sz="1300"/>
          </a:p>
        </p:txBody>
      </p:sp>
      <p:pic>
        <p:nvPicPr>
          <p:cNvPr id="9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286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5" name="Text 24">
            <a:extLst xmlns:a="http://schemas.openxmlformats.org/drawingml/2006/main">
              <a:ext uri="{FF2B5EF4-FFF2-40B4-BE49-F238E27FC236}">
                <a16:creationId xmlns:a16="http://schemas.microsoft.com/office/drawing/2014/main" id="{7339C77E-A542-451C-8D6B-B4F0D93E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21284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Tanya 1 pertanyaan yang berarti</a:t>
            </a:r>
            <a:endParaRPr sz="1100"/>
          </a:p>
        </p:txBody>
      </p:sp>
      <p:sp>
        <p:nvSpPr>
          <p:cNvPr id="36" name="Text 25">
            <a:extLst xmlns:a="http://schemas.openxmlformats.org/drawingml/2006/main">
              <a:ext uri="{FF2B5EF4-FFF2-40B4-BE49-F238E27FC236}">
                <a16:creationId xmlns:a16="http://schemas.microsoft.com/office/drawing/2014/main" id="{45F2020E-926C-4E66-B95F-D0F42A21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48716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'Kenapa pilih X' lebih bagus dari 'ada fitur Y?'</a:t>
            </a:r>
            <a:endParaRPr sz="950"/>
          </a:p>
        </p:txBody>
      </p:sp>
      <p:pic>
        <p:nvPicPr>
          <p:cNvPr id="101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926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8" name="Text 26">
            <a:extLst xmlns:a="http://schemas.openxmlformats.org/drawingml/2006/main">
              <a:ext uri="{FF2B5EF4-FFF2-40B4-BE49-F238E27FC236}">
                <a16:creationId xmlns:a16="http://schemas.microsoft.com/office/drawing/2014/main" id="{106AD5F5-2E9A-4625-AF81-408C27EE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529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Konstruktif, bukan menjatuhkan</a:t>
            </a:r>
            <a:endParaRPr sz="1100"/>
          </a:p>
        </p:txBody>
      </p:sp>
      <p:sp>
        <p:nvSpPr>
          <p:cNvPr id="39" name="Text 27">
            <a:extLst xmlns:a="http://schemas.openxmlformats.org/drawingml/2006/main">
              <a:ext uri="{FF2B5EF4-FFF2-40B4-BE49-F238E27FC236}">
                <a16:creationId xmlns:a16="http://schemas.microsoft.com/office/drawing/2014/main" id="{0473F599-2929-4938-A5E9-B4ABF02F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12724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'Pernah pertimbangkan Z?' bukan 'salah dong pakai X'</a:t>
            </a:r>
            <a:endParaRPr sz="950"/>
          </a:p>
        </p:txBody>
      </p:sp>
      <p:pic>
        <p:nvPicPr>
          <p:cNvPr id="104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566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1" name="Text 28">
            <a:extLst xmlns:a="http://schemas.openxmlformats.org/drawingml/2006/main">
              <a:ext uri="{FF2B5EF4-FFF2-40B4-BE49-F238E27FC236}">
                <a16:creationId xmlns:a16="http://schemas.microsoft.com/office/drawing/2014/main" id="{8EC4B884-42A1-49AF-A3A5-14754BA1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49300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Catat ide yang menarik</a:t>
            </a:r>
            <a:endParaRPr sz="1100"/>
          </a:p>
        </p:txBody>
      </p:sp>
      <p:sp>
        <p:nvSpPr>
          <p:cNvPr id="42" name="Text 29">
            <a:extLst xmlns:a="http://schemas.openxmlformats.org/drawingml/2006/main">
              <a:ext uri="{FF2B5EF4-FFF2-40B4-BE49-F238E27FC236}">
                <a16:creationId xmlns:a16="http://schemas.microsoft.com/office/drawing/2014/main" id="{71B7A3DF-E5C6-4AED-AC40-71D0B81F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6732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Mungkin bisa pakai pattern teman di project Anda</a:t>
            </a:r>
            <a:endParaRPr sz="950"/>
          </a:p>
        </p:txBody>
      </p:sp>
      <p:pic>
        <p:nvPicPr>
          <p:cNvPr id="107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4" name="Text 30">
            <a:extLst xmlns:a="http://schemas.openxmlformats.org/drawingml/2006/main">
              <a:ext uri="{FF2B5EF4-FFF2-40B4-BE49-F238E27FC236}">
                <a16:creationId xmlns:a16="http://schemas.microsoft.com/office/drawing/2014/main" id="{64F05EA1-7FAC-4F15-A33D-C598AB12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1330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Apresiasi part yang bagus</a:t>
            </a:r>
            <a:endParaRPr sz="1100"/>
          </a:p>
        </p:txBody>
      </p:sp>
      <p:sp>
        <p:nvSpPr>
          <p:cNvPr id="45" name="Text 31">
            <a:extLst xmlns:a="http://schemas.openxmlformats.org/drawingml/2006/main">
              <a:ext uri="{FF2B5EF4-FFF2-40B4-BE49-F238E27FC236}">
                <a16:creationId xmlns:a16="http://schemas.microsoft.com/office/drawing/2014/main" id="{A45FFF88-9083-44C5-887A-B8F46A4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40740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Sebut spesifik - 'arsitektur cache-nya menarik'</a:t>
            </a:r>
            <a:endParaRPr sz="950"/>
          </a:p>
        </p:txBody>
      </p:sp>
      <p:pic>
        <p:nvPicPr>
          <p:cNvPr id="110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64dc87b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846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7" name="Text 32">
            <a:extLst xmlns:a="http://schemas.openxmlformats.org/drawingml/2006/main">
              <a:ext uri="{FF2B5EF4-FFF2-40B4-BE49-F238E27FC236}">
                <a16:creationId xmlns:a16="http://schemas.microsoft.com/office/drawing/2014/main" id="{B7BB4472-FB49-4523-9969-17EDFAE7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77316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Tanya teknis kalau curious</a:t>
            </a:r>
            <a:endParaRPr sz="1100"/>
          </a:p>
        </p:txBody>
      </p:sp>
      <p:sp>
        <p:nvSpPr>
          <p:cNvPr id="48" name="Text 33">
            <a:extLst xmlns:a="http://schemas.openxmlformats.org/drawingml/2006/main">
              <a:ext uri="{FF2B5EF4-FFF2-40B4-BE49-F238E27FC236}">
                <a16:creationId xmlns:a16="http://schemas.microsoft.com/office/drawing/2014/main" id="{A2159C8C-4E37-45FD-9B14-B4EFB41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04748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Mungkin pernah hadapi masalah sama</a:t>
            </a:r>
            <a:endParaRPr sz="950"/>
          </a:p>
        </p:txBody>
      </p:sp>
      <p:pic>
        <p:nvPicPr>
          <p:cNvPr id="113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28b96407a48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486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50" name="Text 34">
            <a:extLst xmlns:a="http://schemas.openxmlformats.org/drawingml/2006/main">
              <a:ext uri="{FF2B5EF4-FFF2-40B4-BE49-F238E27FC236}">
                <a16:creationId xmlns:a16="http://schemas.microsoft.com/office/drawing/2014/main" id="{86BB9049-D2AE-412C-91C8-91EE176F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41324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Jangan gosip / off-topic</a:t>
            </a:r>
            <a:endParaRPr sz="1100"/>
          </a:p>
        </p:txBody>
      </p:sp>
      <p:sp>
        <p:nvSpPr>
          <p:cNvPr id="51" name="Text 35">
            <a:extLst xmlns:a="http://schemas.openxmlformats.org/drawingml/2006/main">
              <a:ext uri="{FF2B5EF4-FFF2-40B4-BE49-F238E27FC236}">
                <a16:creationId xmlns:a16="http://schemas.microsoft.com/office/drawing/2014/main" id="{856BF2D4-4ABA-4F75-B18D-CF548A71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68756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Fokus ke project, bukan diri presenter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3165889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7E0082-0F7D-4143-82AB-B065C790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B579A5-8071-4197-B298-84B2F402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E4FEB59-0720-410D-B7A7-55E0916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c34a56e1e48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8d44fa8b047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1D7A326-C164-4929-BB74-25F4AAEB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6DCD2FB-99FA-48F1-91AC-9745BC4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Q Bank - Pertanyaan yang Mungkin Muncul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FDD805B-1AC3-49D2-B41A-9AD5B3DB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Siapkan jawaban untuk pertanyaan klasik - bukan menghafal, tapi mengantisipasi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4B57A9B-0257-49A2-9654-1F8F9BF9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7B2AEB8-EA5E-46AB-A42C-E7D038B8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2D9DD1F-199A-46BA-BA85-C53FEC77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63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Q:</a:t>
            </a:r>
            <a:endParaRPr sz="18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66C753D-1E28-4DB8-A151-22A4104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463040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Kenapa pilih Supabase, bukan Firebase / MongoDB?</a:t>
            </a:r>
            <a:endParaRPr sz="105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BB7B551-9ED3-4AFC-921B-0B67F3A4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860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A:</a:t>
            </a:r>
            <a:endParaRPr sz="16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9D72617-1CEF-4AD0-977C-1D77B731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86000"/>
            <a:ext cx="3063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Postgres + RLS + pgvector dalam 1. Open-source, no vendor lock-in.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kuota paket aktif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A2A8C63-F11E-496C-BDE2-DFD0DC85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F7EB33BD-48E3-43D7-B86F-F215BC4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7DC8C2E-3821-4436-8D69-7D98983B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63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Q:</a:t>
            </a:r>
            <a:endParaRPr sz="18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08EC7F46-395B-4F3D-9294-66E6EF1A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3040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 scale ke 10K user, apa yang break duluan?</a:t>
            </a:r>
            <a:endParaRPr sz="105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C29DB06-21A3-455D-B88F-01E2BCA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2860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A:</a:t>
            </a:r>
            <a:endParaRPr sz="16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07BDB7E-CF61-4BA0-99B3-D473758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3063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Biasanya: LLM cost atau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kuota database akun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Mitigation: cache + upgrade tier.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439D1B37-DEA2-461A-B480-7E79749C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4F05D71-EECF-4BF0-887B-AA162E1D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625DA14F-7219-4596-8858-ED9097CE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63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Q:</a:t>
            </a:r>
            <a:endParaRPr sz="18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DD179FC-2232-4B84-8233-02784786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463040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 bulanan kalau jalan production?</a:t>
            </a:r>
            <a:endParaRPr sz="105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ACF7DBD-10BD-4C10-A9B2-071C1F58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2860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A:</a:t>
            </a:r>
            <a:endParaRPr sz="16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CDE0B4-0DE7-4414-BBC1-7F85110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286000"/>
            <a:ext cx="3063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Ukur penggunaan aktual lalu hitung dari halaman harga resmi; jelaskan asumsi trafik dan cache.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34C2724F-59EA-4988-BC78-8894F0A8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8468EFA5-D227-4811-A7D5-945A257D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B2B5531F-55B4-4895-8BCA-4E0EBDF3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Q:</a:t>
            </a:r>
            <a:endParaRPr sz="18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792A85C-5039-44FF-ABC6-38B8B00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40480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Security: bagaimana kalau API key bocor?</a:t>
            </a:r>
            <a:endParaRPr sz="105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EA9684F3-C23F-4CE8-AB7D-3BAE926A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63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A:</a:t>
            </a:r>
            <a:endParaRPr sz="16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781A01E-9404-4765-AAE6-3CA6F34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3063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Auto-scan GitHub revoke. Rotation policy. RLS sebagai second layer di Supabase.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90CBAE60-76F7-49C3-AC65-7F7C0EE7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4C6178C5-7868-4B29-A75F-987578B2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371B881B-F9DA-49DF-A10E-6D45C5C8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8404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Q:</a:t>
            </a:r>
            <a:endParaRPr sz="18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5891314E-226F-4B7C-9BB5-E40DC51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0480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 yang tidak sempat di-implement?</a:t>
            </a:r>
            <a:endParaRPr sz="105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110E723C-464F-494B-9F7C-DF563568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663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A:</a:t>
            </a:r>
            <a:endParaRPr sz="16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832A6DE2-ED88-4E40-9CB8-29DACCF3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63440"/>
            <a:ext cx="3063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Sebutkan jujur 1-2 fitur. Jelaskan trade-off kenapa scope-out.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1028CB4E-C109-407F-9D61-7B6FF699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B5978B53-973C-44CC-B578-AFD61CD7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458308BF-057D-40F6-91C7-EC300C3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Q:</a:t>
            </a:r>
            <a:endParaRPr sz="18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00EFA401-FD77-4DBE-817C-0A7B5739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840480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 ulangi dari awal, apa yang Anda ubah?</a:t>
            </a:r>
            <a:endParaRPr sz="105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2482800-3BA9-4598-9025-C1C07146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663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A:</a:t>
            </a:r>
            <a:endParaRPr sz="16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EB45EBCC-9141-469C-8678-7AEE75D0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663440"/>
            <a:ext cx="30632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Honest: 'Pilih TypeScript dari awal' atau 'Setup CI lebih dini'. Tunjukkan reflection.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2204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A7C122-F451-4D58-BFBF-1C8E30E0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8C967A-58F3-43C8-8FF6-21954A21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2A6F6B-7C6A-4943-B4DE-1185BA3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761bac3654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5f0f5b185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6091F08-DDE3-49AE-B354-49A9893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7972154-1A4C-433A-BBA0-A2314A63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Peer Evaluation - Audience Aktif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222BFBA-72C9-4825-B926-3CD26E95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Audience tidak cuma duduk - kasih feedback ke teman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4D5BAB-ADE0-4F9D-B5EE-C32C293E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0A34CCE-3BE1-40C8-82F3-617990FF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Tujuan: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saling belajar + kasih perspektif yang dosen tidak bisa kasih.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Gunakan pertanyaan ini untuk umpan balik latihan; kanal dan format resmi mengikuti arahan dosen.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C2B53C4-A277-4115-95B4-53137B98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262BDD9-C64E-4DD8-BCC6-1D81D4A1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Form Sederhana 5 Pertanyaan per Presenter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E656851-81C3-4A00-AAAE-71AB6D56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109728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341FE688-BCFF-47BF-9460-03B59735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F5E150C-B62E-45E1-A9E8-D16B5315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62E4B03-8CA2-4778-8EBF-4E1AE859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6324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Rate clarity presentation (1-5)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C5435C7-5385-4795-85DF-B94BCDF7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918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Apakah problem + solution jelas?</a:t>
            </a:r>
            <a:endParaRPr sz="9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69B37CB-9ABA-4111-8F3D-7A1AA97A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36392"/>
            <a:ext cx="50749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F5CF4550-EA63-4ECE-9098-28B740F7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36392"/>
            <a:ext cx="4892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1 = bingung    5 = crystal clear</a:t>
            </a:r>
            <a:endParaRPr sz="95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12BF92A-3793-4007-A8B9-1A4414FF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109728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A6E00E2-2A09-4125-BE51-50F7F54B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FFF01B5-32CC-4E07-B06A-17F36C61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EC47FB5-E3E3-4BFF-AED6-B918A8F5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Rate technical depth (1-5)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A82B9AB-F12E-4BDE-8822-467C816F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3192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Apakah architecture + integration solid?</a:t>
            </a:r>
            <a:endParaRPr sz="9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55A1C53C-B026-4C80-8C89-805B3190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76472"/>
            <a:ext cx="50749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6BE47055-90CB-4705-AC14-E8A4AFA0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776472"/>
            <a:ext cx="4892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1 = surface    5 = production-ready</a:t>
            </a:r>
            <a:endParaRPr sz="9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C6D56C7D-D8E5-453D-9772-B53BA9B7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80"/>
            <a:ext cx="109728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455377C-30DA-4B7A-98F9-CCF61DDA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CC579B3-0272-4559-AA02-6EB9180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321A6AA1-A0E0-4E6A-B3C6-F69BA618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434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Rate demo quality (1-5)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844F15C3-F95C-43B7-8617-A0D6A115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57200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Apakah demo smooth + showcase value?</a:t>
            </a:r>
            <a:endParaRPr sz="95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56E54EA-50D4-4126-89DF-236336E8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16552"/>
            <a:ext cx="50749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941E2EDB-A731-4111-ADE5-1E19290F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416552"/>
            <a:ext cx="4892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1 = broken    5 = smooth + impactful</a:t>
            </a:r>
            <a:endParaRPr sz="95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26F64A68-FC33-4AA9-8E5C-3C4CA87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109728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0F29073C-8B18-4DB2-B098-AF68DE0B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46EF284-2D08-4A6A-9D5D-6A46C6F1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D33B1A8B-81EF-4BFB-9C7E-19923085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98348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Apa 1 hal yang paling Anda suka?</a:t>
            </a:r>
            <a:endParaRPr sz="11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5318BC33-45CA-4893-B9D8-55B9CD1D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1208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Free text - sebut spesifik (UI? Architecture? Use case?)</a:t>
            </a:r>
            <a:endParaRPr sz="95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17E3501F-3BB0-4A59-BD86-2DCA8E82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56632"/>
            <a:ext cx="50749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C737CA1-D09F-4630-B7C2-F0C0E72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056632"/>
            <a:ext cx="4892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Open text - 1-2 kalimat</a:t>
            </a:r>
            <a:endParaRPr sz="95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3B5F0742-D2D4-45D6-BAAB-84F6530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109728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DC69A75A-8B9A-492D-904D-93C4FAA9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0B63E0BE-7203-44A2-A4C7-909BD7AB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AD178CE7-BE58-4870-89C6-317B73A4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6235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1 saran konstruktif untuk presenter?</a:t>
            </a:r>
            <a:endParaRPr sz="11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3266583A-E68C-437C-8771-B7AE6A8C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5216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Future improvement atau alternative approach</a:t>
            </a:r>
            <a:endParaRPr sz="950"/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5DD01A18-BE4D-422F-8629-244EA187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696712"/>
            <a:ext cx="50749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7F7A802F-F3D1-45D4-8A57-3FBC5761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696712"/>
            <a:ext cx="4892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Open text - 1-2 kalimat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5336707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53A3DC-4B77-4918-9956-68495E47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2BDBF6-7B14-4116-B657-2DE03F00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4D4D248-CC70-4F70-927F-EF0898AE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4DD61B8-A32D-4624-A23A-FBA67E27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A6BCF18-FF5A-4D22-B8DE-F903CFF0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468E189-2FEB-49F2-B116-0A271E2C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235EB75-4A9B-4F7B-B119-3AD2F2ED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1888a1620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7b688f8404c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946C9CA-34DC-4AEA-836A-77CAB8DF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7393E64-A108-4BE9-AC27-FE43618D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Gladi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Presentasi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149940E-1E1D-4418-8023-F1CC6157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389F3E2-4B00-48A4-B69D-63A6FA34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Setiap kelompok latihan demo; kelas memberi umpan balik yang spesifik.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760146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12F63C-C791-485D-ADBE-9A4F3DF2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DA779A-7C67-4182-A14B-E14AF031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A995FD-7EF1-45F1-AAE5-701E4BA0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e7f24709a4d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1f790594341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C7280D5-34E0-4E15-B362-6BEA71AB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C487B84-3C5E-47F9-AF05-65FEF2EE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Daftar kelompok untuk latihan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AF24ACE-C102-493B-90E6-18C70F68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Isi kelompok dan proyek saat gladi sesi 13.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49DAAFC-20DA-4144-B168-DD60B593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5622FD0-8E78-4572-B755-7660234C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Cara isi: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Dosen akan panggil urutan pas awal. Bisa volunteer (yang siap dulu) atau acak.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Setiap kelompok membagi peran pembuka, demo, dan tanya jawab.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D880428-6640-439D-B0E6-F23F43FC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E74ACBB-09AE-4A94-BAEA-F8514F61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457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#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10F6674-6635-4E9F-BA60-D9921AB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Nama Kelompok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91ECACC-182B-4DC5-B61A-092FABEA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514600"/>
            <a:ext cx="3657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Project Title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20AEC607-C7F7-4636-84C7-C8C9D999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Time Slot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A3EC171-C382-46AD-B42D-2A88E0C8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14600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Status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6999482-7757-463C-A5A7-3C6D67EB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5DE04DD-221A-4BAE-9843-BFFD7645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580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49093B6-08FA-41A6-95DD-B004C407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580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E0E7883B-583C-413D-9601-2FA2C20A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9718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</a:t>
            </a:r>
            <a:endParaRPr sz="13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6B76BAA6-23C0-4BCF-A0F3-2279F72A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718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_______________________________</a:t>
            </a:r>
            <a:endParaRPr sz="12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ECA1EF6-788D-4917-942D-0980BADD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3240"/>
            <a:ext cx="1828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7BCDBC0-0819-4FCD-8970-222D1618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063240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__:__ - __:__</a:t>
            </a:r>
            <a:endParaRPr sz="1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FF189B3-0C4D-48C0-BC1F-82029CBE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71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7E039DA5-757A-462F-A227-EED26C2F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5BD3BB35-B80A-45A3-A38B-BC5D25BE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872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1D0BB1C-A8F9-450B-B8C1-753A327C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872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47315D7D-C3CC-4B25-9843-7CCD6472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</a:t>
            </a:r>
            <a:endParaRPr sz="13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62EA190-1646-4771-9CFA-76144B5E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47472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_______________________________</a:t>
            </a:r>
            <a:endParaRPr sz="12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DC94075-083D-4BAD-8ECC-D87E652F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6160"/>
            <a:ext cx="1828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25D14E76-253F-488C-B811-866DC0D2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566160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__:__ - __:__</a:t>
            </a:r>
            <a:endParaRPr sz="10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0819E46F-D343-46EE-B4D4-DCF8268F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347472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E586EFAD-5947-4694-907D-2FE2181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21969166-FC0B-49BF-B35E-B06C681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16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B5EC8D7B-3AB3-418A-BAF8-CA840C8A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16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38AE0F8B-B534-4728-A460-F8DC5D62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7764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</a:t>
            </a:r>
            <a:endParaRPr sz="13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2CA07B3E-AE68-49D0-AC73-45FEDFE4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97764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_______________________________</a:t>
            </a:r>
            <a:endParaRPr sz="12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1D52692D-7A6E-493F-AD80-A07E748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69080"/>
            <a:ext cx="1828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B2375B23-1110-4DCE-A0F1-095088F9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069080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__:__ - __:__</a:t>
            </a:r>
            <a:endParaRPr sz="10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BECDD1B6-4C0E-4C41-93E9-2692F2A0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397764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</a:t>
            </a:r>
            <a:endParaRPr sz="11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48C35D7D-C63E-499D-8EEC-2256E54E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6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78308937-07F3-4B6A-9100-E7D61721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456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4282A115-83B8-4801-BD11-8CD602FE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456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3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6BF011F6-2B3A-4094-8A9B-872C778C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48056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</a:t>
            </a:r>
            <a:endParaRPr sz="13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21ED1E18-1D69-47C0-B49A-4B2136BD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48056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_______________________________</a:t>
            </a:r>
            <a:endParaRPr sz="1200"/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FB686D42-8611-4825-982F-0616C350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72000"/>
            <a:ext cx="1828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3C86234-42EF-4201-836A-71E8D75C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72000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__:__ - __:__</a:t>
            </a:r>
            <a:endParaRPr sz="10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19080AE0-D921-4851-B727-C95E6D4C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448056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</a:t>
            </a:r>
            <a:endParaRPr sz="1100"/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D6ECDC5-467A-4FC0-9550-FF636F36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DAF53EFE-47F9-40EA-A81F-2DA4D050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B59F2392-B4DE-4FA7-ADF4-77E53C4C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30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2F0419F9-90F9-4001-B36D-29FF9B77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98348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</a:t>
            </a:r>
            <a:endParaRPr sz="1300"/>
          </a:p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6829BC13-5D46-4FC0-A29C-16DF476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9834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_______________________________</a:t>
            </a:r>
            <a:endParaRPr sz="1200"/>
          </a:p>
        </p:txBody>
      </p:sp>
      <p:sp>
        <p:nvSpPr>
          <p:cNvPr id="55" name="Shape 51">
            <a:extLst xmlns:a="http://schemas.openxmlformats.org/drawingml/2006/main">
              <a:ext uri="{FF2B5EF4-FFF2-40B4-BE49-F238E27FC236}">
                <a16:creationId xmlns:a16="http://schemas.microsoft.com/office/drawing/2014/main" id="{616E0F56-AD73-4364-A65D-EB5FF17A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74920"/>
            <a:ext cx="1828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167F9165-A863-4C46-8970-685F9647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074920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__:__ - __:__</a:t>
            </a:r>
            <a:endParaRPr sz="100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BC09887E-609E-468A-986E-DF03AE1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498348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</a:t>
            </a:r>
            <a:endParaRPr sz="1100"/>
          </a:p>
        </p:txBody>
      </p:sp>
      <p:sp>
        <p:nvSpPr>
          <p:cNvPr id="58" name="Shape 54">
            <a:extLst xmlns:a="http://schemas.openxmlformats.org/drawingml/2006/main">
              <a:ext uri="{FF2B5EF4-FFF2-40B4-BE49-F238E27FC236}">
                <a16:creationId xmlns:a16="http://schemas.microsoft.com/office/drawing/2014/main" id="{9C85AE00-96FB-455E-B386-4259A20B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9" name="Shape 55">
            <a:extLst xmlns:a="http://schemas.openxmlformats.org/drawingml/2006/main">
              <a:ext uri="{FF2B5EF4-FFF2-40B4-BE49-F238E27FC236}">
                <a16:creationId xmlns:a16="http://schemas.microsoft.com/office/drawing/2014/main" id="{6C150E10-9A14-438B-8D7B-C750556F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040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0" name="Text 56">
            <a:extLst xmlns:a="http://schemas.openxmlformats.org/drawingml/2006/main">
              <a:ext uri="{FF2B5EF4-FFF2-40B4-BE49-F238E27FC236}">
                <a16:creationId xmlns:a16="http://schemas.microsoft.com/office/drawing/2014/main" id="{C4359AFE-2DB9-41CE-B8A0-5D96172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040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300"/>
          </a:p>
        </p:txBody>
      </p:sp>
      <p:sp>
        <p:nvSpPr>
          <p:cNvPr id="61" name="Text 57">
            <a:extLst xmlns:a="http://schemas.openxmlformats.org/drawingml/2006/main">
              <a:ext uri="{FF2B5EF4-FFF2-40B4-BE49-F238E27FC236}">
                <a16:creationId xmlns:a16="http://schemas.microsoft.com/office/drawing/2014/main" id="{714E0880-6601-4CF8-9BDA-82D77EC7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4864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</a:t>
            </a:r>
            <a:endParaRPr sz="1300"/>
          </a:p>
        </p:txBody>
      </p:sp>
      <p:sp>
        <p:nvSpPr>
          <p:cNvPr id="62" name="Text 58">
            <a:extLst xmlns:a="http://schemas.openxmlformats.org/drawingml/2006/main">
              <a:ext uri="{FF2B5EF4-FFF2-40B4-BE49-F238E27FC236}">
                <a16:creationId xmlns:a16="http://schemas.microsoft.com/office/drawing/2014/main" id="{CB132FAB-248E-45B8-A8EA-9243972E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4864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_______________________________</a:t>
            </a:r>
            <a:endParaRPr sz="1200"/>
          </a:p>
        </p:txBody>
      </p:sp>
      <p:sp>
        <p:nvSpPr>
          <p:cNvPr id="63" name="Shape 59">
            <a:extLst xmlns:a="http://schemas.openxmlformats.org/drawingml/2006/main">
              <a:ext uri="{FF2B5EF4-FFF2-40B4-BE49-F238E27FC236}">
                <a16:creationId xmlns:a16="http://schemas.microsoft.com/office/drawing/2014/main" id="{447D869D-FB01-41A6-9BDE-D8FED38E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7840"/>
            <a:ext cx="1828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11F02017-86E0-4BD9-B32B-A5AA526A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577840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__:__ - __:__</a:t>
            </a:r>
            <a:endParaRPr sz="1000"/>
          </a:p>
        </p:txBody>
      </p:sp>
      <p:sp>
        <p:nvSpPr>
          <p:cNvPr id="65" name="Text 61">
            <a:extLst xmlns:a="http://schemas.openxmlformats.org/drawingml/2006/main">
              <a:ext uri="{FF2B5EF4-FFF2-40B4-BE49-F238E27FC236}">
                <a16:creationId xmlns:a16="http://schemas.microsoft.com/office/drawing/2014/main" id="{562FE001-49AE-44D2-8294-743CD69B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4864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________</a:t>
            </a:r>
            <a:endParaRPr sz="1100"/>
          </a:p>
        </p:txBody>
      </p:sp>
      <p:sp>
        <p:nvSpPr>
          <p:cNvPr id="66" name="Text 62">
            <a:extLst xmlns:a="http://schemas.openxmlformats.org/drawingml/2006/main">
              <a:ext uri="{FF2B5EF4-FFF2-40B4-BE49-F238E27FC236}">
                <a16:creationId xmlns:a16="http://schemas.microsoft.com/office/drawing/2014/main" id="{1CEC313C-A126-4E3C-8146-AADA2509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Status: PENDING / PRESENTING / DONE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232517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5DE60D8-7353-43B6-9AC1-EE59F4F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F0DF9C-2DFF-47B3-95CC-F3F5109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906FA5B-455D-4057-9D1D-7058BCDA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8f95ec46943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831be02de4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FE9EA07-44E0-47D4-BF71-643EA43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E6D4637-48AD-41E7-B54A-CA6B2A49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Ground Rules Selama Presentation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329A58C-C63E-420C-8BB0-5F1B9332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Aturan sederhana - supaya semua presenter dapat fair treatment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87654D5-4DAA-4389-91C5-180FA40A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AAF8D96-F245-4BB3-ABD0-BB3B8808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C1B8C62-6B09-4B0F-BA88-B98AB213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YANG HARUS DILAKUKAN</a:t>
            </a:r>
            <a:endParaRPr sz="1300"/>
          </a:p>
        </p:txBody>
      </p:sp>
      <p:pic>
        <p:nvPicPr>
          <p:cNvPr id="7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d01fd7de84d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286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97A6FFB9-3940-49B5-A3A2-BD7AFCBB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21284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Tepat waktu - max 12 menit</a:t>
            </a:r>
            <a:endParaRPr sz="11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887B8E05-88AA-4FA7-9EFD-AD88C41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48716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Dosen kasih sinyal sisa 2 menit</a:t>
            </a:r>
            <a:endParaRPr sz="950"/>
          </a:p>
        </p:txBody>
      </p:sp>
      <p:pic>
        <p:nvPicPr>
          <p:cNvPr id="8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d01fd7de84d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26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BF77C08C-336A-4D0E-BF8B-C2BBFB93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529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Catat presentation teman</a:t>
            </a:r>
            <a:endParaRPr sz="11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723CBC0D-F645-4E23-9A6D-F86144ED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12724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notes app / kertas - banyak inspirasi</a:t>
            </a:r>
            <a:endParaRPr sz="950"/>
          </a:p>
        </p:txBody>
      </p:sp>
      <p:pic>
        <p:nvPicPr>
          <p:cNvPr id="8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d01fd7de84d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566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D79CB327-FD8C-4B86-8C9D-400C04F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9300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Tanya pertanyaan</a:t>
            </a:r>
            <a:endParaRPr sz="1100"/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EC728275-51BB-48A6-A271-674262D9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6732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Tiap presenter idealnya dapat 1-2 question</a:t>
            </a:r>
            <a:endParaRPr sz="950"/>
          </a:p>
        </p:txBody>
      </p:sp>
      <p:pic>
        <p:nvPicPr>
          <p:cNvPr id="8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d01fd7de84d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D5AF6B73-ABD8-45BA-B84C-32C978C8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330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Tepuk tangan / appreciation</a:t>
            </a:r>
            <a:endParaRPr sz="1100"/>
          </a:p>
        </p:txBody>
      </p:sp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AD2E06EA-7ED7-49D9-A74B-9C3BF36A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40740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Hargai kerja tiap kelompok</a:t>
            </a:r>
            <a:endParaRPr sz="950"/>
          </a:p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d01fd7de84d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846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67ACA1E9-61E0-4984-8335-248F234B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7316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Isi peer evaluation form</a:t>
            </a:r>
            <a:endParaRPr sz="1100"/>
          </a:p>
        </p:txBody>
      </p:sp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3968069D-8DF3-4034-898B-D36FE1D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4748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Saat presenter selesai, langsung isi</a:t>
            </a:r>
            <a:endParaRPr sz="950"/>
          </a:p>
        </p:txBody>
      </p:sp>
      <p:pic>
        <p:nvPicPr>
          <p:cNvPr id="9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d01fd7de84d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486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9" name="Text 19">
            <a:extLst xmlns:a="http://schemas.openxmlformats.org/drawingml/2006/main">
              <a:ext uri="{FF2B5EF4-FFF2-40B4-BE49-F238E27FC236}">
                <a16:creationId xmlns:a16="http://schemas.microsoft.com/office/drawing/2014/main" id="{09F4ADBB-EB23-4E66-90DF-A6E9D88F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41324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Stay positive + konstruktif</a:t>
            </a:r>
            <a:endParaRPr sz="1100"/>
          </a:p>
        </p:txBody>
      </p:sp>
      <p:sp>
        <p:nvSpPr>
          <p:cNvPr id="30" name="Text 20">
            <a:extLst xmlns:a="http://schemas.openxmlformats.org/drawingml/2006/main">
              <a:ext uri="{FF2B5EF4-FFF2-40B4-BE49-F238E27FC236}">
                <a16:creationId xmlns:a16="http://schemas.microsoft.com/office/drawing/2014/main" id="{46290D56-F539-4202-989F-6F640C2E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68756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Kritik = data, bukan attack</a:t>
            </a:r>
            <a:endParaRPr sz="950"/>
          </a:p>
        </p:txBody>
      </p:sp>
      <p:sp>
        <p:nvSpPr>
          <p:cNvPr id="31" name="Shape 21">
            <a:extLst xmlns:a="http://schemas.openxmlformats.org/drawingml/2006/main">
              <a:ext uri="{FF2B5EF4-FFF2-40B4-BE49-F238E27FC236}">
                <a16:creationId xmlns:a16="http://schemas.microsoft.com/office/drawing/2014/main" id="{24822844-0527-4F0B-A346-11790905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2">
            <a:extLst xmlns:a="http://schemas.openxmlformats.org/drawingml/2006/main">
              <a:ext uri="{FF2B5EF4-FFF2-40B4-BE49-F238E27FC236}">
                <a16:creationId xmlns:a16="http://schemas.microsoft.com/office/drawing/2014/main" id="{F51943C3-DF3B-452E-815A-15A785DA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329C0403-9F44-4781-AF9F-C7B72C23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YANG HARUS DIHINDARI</a:t>
            </a:r>
            <a:endParaRPr sz="1300"/>
          </a:p>
        </p:txBody>
      </p:sp>
      <p:pic>
        <p:nvPicPr>
          <p:cNvPr id="9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46d771fd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286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5" name="Text 24">
            <a:extLst xmlns:a="http://schemas.openxmlformats.org/drawingml/2006/main">
              <a:ext uri="{FF2B5EF4-FFF2-40B4-BE49-F238E27FC236}">
                <a16:creationId xmlns:a16="http://schemas.microsoft.com/office/drawing/2014/main" id="{A3BAAE99-EE8F-4A1D-9F9E-8F844ACB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21284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Main HP saat teman present</a:t>
            </a:r>
            <a:endParaRPr sz="1100"/>
          </a:p>
        </p:txBody>
      </p:sp>
      <p:sp>
        <p:nvSpPr>
          <p:cNvPr id="36" name="Text 25">
            <a:extLst xmlns:a="http://schemas.openxmlformats.org/drawingml/2006/main">
              <a:ext uri="{FF2B5EF4-FFF2-40B4-BE49-F238E27FC236}">
                <a16:creationId xmlns:a16="http://schemas.microsoft.com/office/drawing/2014/main" id="{9E2100A2-0BE9-4CFF-AC50-3AC8BE1C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48716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Disrespectful + Anda kehilangan insight</a:t>
            </a:r>
            <a:endParaRPr sz="950"/>
          </a:p>
        </p:txBody>
      </p:sp>
      <p:pic>
        <p:nvPicPr>
          <p:cNvPr id="101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46d771fd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926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8" name="Text 26">
            <a:extLst xmlns:a="http://schemas.openxmlformats.org/drawingml/2006/main">
              <a:ext uri="{FF2B5EF4-FFF2-40B4-BE49-F238E27FC236}">
                <a16:creationId xmlns:a16="http://schemas.microsoft.com/office/drawing/2014/main" id="{8E411E33-A855-42D8-AC76-B330906E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529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Mengobrol dengan teman sebelah</a:t>
            </a:r>
            <a:endParaRPr sz="1100"/>
          </a:p>
        </p:txBody>
      </p:sp>
      <p:sp>
        <p:nvSpPr>
          <p:cNvPr id="39" name="Text 27">
            <a:extLst xmlns:a="http://schemas.openxmlformats.org/drawingml/2006/main">
              <a:ext uri="{FF2B5EF4-FFF2-40B4-BE49-F238E27FC236}">
                <a16:creationId xmlns:a16="http://schemas.microsoft.com/office/drawing/2014/main" id="{FE81A5CB-42C7-4C67-B7E3-8D8F7341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12724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Tunggu Q&amp;A untuk diskusi</a:t>
            </a:r>
            <a:endParaRPr sz="950"/>
          </a:p>
        </p:txBody>
      </p:sp>
      <p:pic>
        <p:nvPicPr>
          <p:cNvPr id="104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46d771fd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566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1" name="Text 28">
            <a:extLst xmlns:a="http://schemas.openxmlformats.org/drawingml/2006/main">
              <a:ext uri="{FF2B5EF4-FFF2-40B4-BE49-F238E27FC236}">
                <a16:creationId xmlns:a16="http://schemas.microsoft.com/office/drawing/2014/main" id="{51B52C42-D153-49FD-8536-E27C4B90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49300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Spoiler project sendiri</a:t>
            </a:r>
            <a:endParaRPr sz="1100"/>
          </a:p>
        </p:txBody>
      </p:sp>
      <p:sp>
        <p:nvSpPr>
          <p:cNvPr id="42" name="Text 29">
            <a:extLst xmlns:a="http://schemas.openxmlformats.org/drawingml/2006/main">
              <a:ext uri="{FF2B5EF4-FFF2-40B4-BE49-F238E27FC236}">
                <a16:creationId xmlns:a16="http://schemas.microsoft.com/office/drawing/2014/main" id="{C09001BB-4DFB-4601-8160-721BAA3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6732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Tunggu giliran - jangan banding-bandingkan</a:t>
            </a:r>
            <a:endParaRPr sz="950"/>
          </a:p>
        </p:txBody>
      </p:sp>
      <p:pic>
        <p:nvPicPr>
          <p:cNvPr id="107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46d771fd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4" name="Text 30">
            <a:extLst xmlns:a="http://schemas.openxmlformats.org/drawingml/2006/main">
              <a:ext uri="{FF2B5EF4-FFF2-40B4-BE49-F238E27FC236}">
                <a16:creationId xmlns:a16="http://schemas.microsoft.com/office/drawing/2014/main" id="{56ED5C79-4491-46F7-9C37-E39C93A2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1330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Tanya pertanyaan jebakan</a:t>
            </a:r>
            <a:endParaRPr sz="1100"/>
          </a:p>
        </p:txBody>
      </p:sp>
      <p:sp>
        <p:nvSpPr>
          <p:cNvPr id="45" name="Text 31">
            <a:extLst xmlns:a="http://schemas.openxmlformats.org/drawingml/2006/main">
              <a:ext uri="{FF2B5EF4-FFF2-40B4-BE49-F238E27FC236}">
                <a16:creationId xmlns:a16="http://schemas.microsoft.com/office/drawing/2014/main" id="{A07F11D5-9C53-4F7B-BE13-B85C2B1C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40740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Tujuan Q&amp;A: learn, bukan show off</a:t>
            </a:r>
            <a:endParaRPr sz="950"/>
          </a:p>
        </p:txBody>
      </p:sp>
      <p:pic>
        <p:nvPicPr>
          <p:cNvPr id="110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46d771fd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846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7" name="Text 32">
            <a:extLst xmlns:a="http://schemas.openxmlformats.org/drawingml/2006/main">
              <a:ext uri="{FF2B5EF4-FFF2-40B4-BE49-F238E27FC236}">
                <a16:creationId xmlns:a16="http://schemas.microsoft.com/office/drawing/2014/main" id="{FF810503-AAFC-43E9-9121-95551B6A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77316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Keluar masuk ruangan</a:t>
            </a:r>
            <a:endParaRPr sz="1100"/>
          </a:p>
        </p:txBody>
      </p:sp>
      <p:sp>
        <p:nvSpPr>
          <p:cNvPr id="48" name="Text 33">
            <a:extLst xmlns:a="http://schemas.openxmlformats.org/drawingml/2006/main">
              <a:ext uri="{FF2B5EF4-FFF2-40B4-BE49-F238E27FC236}">
                <a16:creationId xmlns:a16="http://schemas.microsoft.com/office/drawing/2014/main" id="{C7E743BD-C9C9-4391-ACFA-E955F93A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04748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Distract presenter + audience lain</a:t>
            </a:r>
            <a:endParaRPr sz="950"/>
          </a:p>
        </p:txBody>
      </p:sp>
      <p:pic>
        <p:nvPicPr>
          <p:cNvPr id="113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46d771fd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486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50" name="Text 34">
            <a:extLst xmlns:a="http://schemas.openxmlformats.org/drawingml/2006/main">
              <a:ext uri="{FF2B5EF4-FFF2-40B4-BE49-F238E27FC236}">
                <a16:creationId xmlns:a16="http://schemas.microsoft.com/office/drawing/2014/main" id="{D730B423-07C8-4A79-A844-C6563DC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41324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Late / no-show tanpa kabar</a:t>
            </a:r>
            <a:endParaRPr sz="1100"/>
          </a:p>
        </p:txBody>
      </p:sp>
      <p:sp>
        <p:nvSpPr>
          <p:cNvPr id="51" name="Text 35">
            <a:extLst xmlns:a="http://schemas.openxmlformats.org/drawingml/2006/main">
              <a:ext uri="{FF2B5EF4-FFF2-40B4-BE49-F238E27FC236}">
                <a16:creationId xmlns:a16="http://schemas.microsoft.com/office/drawing/2014/main" id="{97D54FE8-D6C0-4568-AFFE-2CBD9D6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68756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Kabari dosen H-1 minimum kalau ada urusan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6381137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028049-9591-4536-964F-E5D7C31F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74D12F-DCBD-4870-92BB-DDC81F91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275D9EE-725A-4DF8-98AA-F69B5956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12BD2-8B26-4663-B7B4-11279A41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BB94DA2-063D-437A-90C0-4DF11AC2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6FECAAC-092D-4F7D-B7DE-6BCA235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E2D8B5-9DAB-463F-914C-E86E9F85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1aef6082c43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74537c20142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BFF6AAD-BD00-45BF-86E1-71CC577F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37C6EE2-83A3-42FB-B78F-84F3C9D7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 Discussion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Themes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D285B82-8B99-4F82-9A6A-39F34C63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159D12D-4A01-41A5-A596-2FDE3493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Setelah semua present - kita lihat pola yang muncul.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430316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0BE140-5EC1-46B6-8AF8-B378AC2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D2C570-01C4-49CC-BDC3-825AAD66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E66888D-D3B2-4CBF-9192-4C9574B2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fa44db1414f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2753051434f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60075E9-7CC8-4343-B1C4-3BA5961F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FC7E462-45E7-4E24-8BB2-6735BD2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Pola yang Sering Muncul di Capstone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B35EC29-3E7E-44BD-8A80-6636D3B8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Common patterns - your project mungkin lebih unik dari yang Anda kira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6196A07-2EE0-4FB0-BF8B-494C5C11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8AE8C30-9EB9-4C8F-A0D4-5D8194BD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3fc8f7f3d4b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D6C6736-FC8D-4CAA-A9AD-33F4A9CE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Stack Pattern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530EE31-FEE5-49CA-B6F6-EB6AA730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Mayoritas pilih Next.js + Vercel + Supabase + 1 LLM provider. Ini default sehat - bukan tidak kreatif.</a:t>
            </a:r>
            <a:endParaRPr sz="11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F7078721-8C77-4C7D-9713-B6A93B84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A1544C4A-372E-4E64-8F4E-F61AE7C1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eda34fdee45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8633BF25-7D09-4657-BD1E-A94A64E0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 Pattern</a:t>
            </a:r>
            <a:endParaRPr sz="13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F9A4ACF2-6884-45B2-8562-750B20B1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1168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RAG, sentiment analyzer, image classifier, chatbot - 4 pattern dominan. Yang berbeda biasanya: domain (kuliah, kesehatan, finance).</a:t>
            </a:r>
            <a:endParaRPr sz="11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4A2987B5-6462-41BE-A772-7DE7F0ED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98DC11F1-325F-4EA1-8894-C6F2819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6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ceb3410414e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6BAE91AE-9BF6-41F6-BA26-E9F60E84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Same Pain Points</a:t>
            </a:r>
            <a:endParaRPr sz="1300"/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5BC6848E-8C1E-4820-ACAC-EDBD3A36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01168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Cold start Supabase, LLM timeout, RLS bingung, deploy preview gagal - hampir semua orang hadapi.</a:t>
            </a:r>
            <a:endParaRPr sz="110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97A58572-83F2-44BE-AA34-58D77C32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E22A56AB-60F1-4BB8-8F5E-0E55962A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d5fbe62524d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6B15B801-8AF4-470E-8A9C-CAE3793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Where People Win</a:t>
            </a:r>
            <a:endParaRPr sz="1300"/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B9BC1351-E65A-4599-8A00-E27A8068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UI polish, domain knowledge yang spesifik, integrasi yang tidak obvious (mis. pakai Supabase Realtime untuk chat).</a:t>
            </a:r>
            <a:endParaRPr sz="1100"/>
          </a:p>
        </p:txBody>
      </p:sp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71E35F5B-8F46-47E4-B0F0-12C4ABD5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3">
            <a:extLst xmlns:a="http://schemas.openxmlformats.org/drawingml/2006/main">
              <a:ext uri="{FF2B5EF4-FFF2-40B4-BE49-F238E27FC236}">
                <a16:creationId xmlns:a16="http://schemas.microsoft.com/office/drawing/2014/main" id="{163F458F-CC82-4DF2-9A79-790B9157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7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a0bbac81a4d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3" name="Text 24">
            <a:extLst xmlns:a="http://schemas.openxmlformats.org/drawingml/2006/main">
              <a:ext uri="{FF2B5EF4-FFF2-40B4-BE49-F238E27FC236}">
                <a16:creationId xmlns:a16="http://schemas.microsoft.com/office/drawing/2014/main" id="{BD2699AB-7F5D-44F7-B29E-BDA4B28D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Where People Stuck</a:t>
            </a:r>
            <a:endParaRPr sz="1300"/>
          </a:p>
        </p:txBody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CAF846DC-55B8-4BD8-B4A5-CB73D61D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8912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Auth flow, async job pattern, error handling.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Buktikan dengan alur uji yang jelas.</a:t>
            </a:r>
            <a:endParaRPr sz="1100"/>
          </a:p>
        </p:txBody>
      </p:sp>
      <p:sp>
        <p:nvSpPr>
          <p:cNvPr id="35" name="Shape 26">
            <a:extLst xmlns:a="http://schemas.openxmlformats.org/drawingml/2006/main">
              <a:ext uri="{FF2B5EF4-FFF2-40B4-BE49-F238E27FC236}">
                <a16:creationId xmlns:a16="http://schemas.microsoft.com/office/drawing/2014/main" id="{0D156013-C071-46A9-BFEC-C0C48B5E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27">
            <a:extLst xmlns:a="http://schemas.openxmlformats.org/drawingml/2006/main">
              <a:ext uri="{FF2B5EF4-FFF2-40B4-BE49-F238E27FC236}">
                <a16:creationId xmlns:a16="http://schemas.microsoft.com/office/drawing/2014/main" id="{5940FB8E-5C88-4DE4-A9D3-777F6C65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8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0acca0db246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8" name="Text 28">
            <a:extLst xmlns:a="http://schemas.openxmlformats.org/drawingml/2006/main">
              <a:ext uri="{FF2B5EF4-FFF2-40B4-BE49-F238E27FC236}">
                <a16:creationId xmlns:a16="http://schemas.microsoft.com/office/drawing/2014/main" id="{A86C4E11-CF58-41A6-B901-DAFDCF78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Documentation Gap</a:t>
            </a:r>
            <a:endParaRPr sz="1300"/>
          </a:p>
        </p:txBody>
      </p:sp>
      <p:sp>
        <p:nvSpPr>
          <p:cNvPr id="39" name="Text 29">
            <a:extLst xmlns:a="http://schemas.openxmlformats.org/drawingml/2006/main">
              <a:ext uri="{FF2B5EF4-FFF2-40B4-BE49-F238E27FC236}">
                <a16:creationId xmlns:a16="http://schemas.microsoft.com/office/drawing/2014/main" id="{EC41F8F9-C0E9-4674-869F-5CB5F2B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8912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Banyak yang fokus coding, lupa README.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Dokumentasi memudahkan reviewer mengulang hasil.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899484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906862-7007-40AD-B2EC-C98BEB1A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42C5D2-7272-444A-A687-4DAF07EC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EB8C8AC-FB9A-4B7B-8FC4-34290C8E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f97d6174d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0187458e445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483CC98-7821-4C4A-B443-1BEADA32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F51A543-8AC2-4A4D-9C22-7608292E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Pelajaran Kolektif - Yang Bisa Dipetik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67FE5F5-E33C-4789-9F00-EFDB49B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Bukan dari 1 project Anda - tapi dari melihat semua project di kelas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7E74788-F3FC-41EC-9481-97B0B2F1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01F2BDE-CFB1-4B9B-A270-215157D6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Yang Sering Berhasil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D3C540F-9CDA-404B-B54F-4A412483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39C8BC7-C318-4464-9DE6-2493B7A7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FC041B0-97AF-40DE-95D7-BEB8C84E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Mulai dengan masalah pribadi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EF9202C-E371-4844-B7E2-09227719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sesuatu yang Anda butuhkan sendiri - motivasi tahan</a:t>
            </a:r>
            <a:endParaRPr sz="9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D4D5836A-8CA3-49F5-A605-D8908191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B4085E7-AE31-464C-A10A-A4A3369E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910CC12-77DD-42D6-9755-1AD650D0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2608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Bangun alur end to end sejak awal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9DDCAB2-0E89-4E9B-8DCF-BE10F2E7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0040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Cepat deploy walau jelek - lalu iterate</a:t>
            </a:r>
            <a:endParaRPr sz="9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E74DF17-58EC-449C-95AF-4B17C241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0AE37D4-04D5-4A05-8B32-71E3EA3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31EF31D0-16BB-4CC4-B826-D243E5E8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904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Ambil 1 tema dengan fokus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48E062DA-8AA6-48D2-9338-AFDE2DD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2336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Daripada 3 fitur 50% jadi - 1 fitur polished menang</a:t>
            </a:r>
            <a:endParaRPr sz="9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D1324AD2-7795-49FB-9526-3445E0DA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AABB94E8-842C-4A54-8E38-9343143F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5392727-E788-4A6F-A4E6-8234FA8B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720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README yang menjual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C61F2E5-8B4F-46E5-A2CE-264C3C0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4632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Recruiter lihat README, bukan code. Treat README seperti landing page</a:t>
            </a:r>
            <a:endParaRPr sz="9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000170E6-B109-4B2B-8106-D26AFE8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7FB126B3-8BEA-4F38-8D6E-3A403303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AB4F2E2D-4888-4B97-81B1-F0AE55C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6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Pakai existing pattern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9F48C49F-56E1-46A4-9B29-0DA8D468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6928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Pattern dari kuliah / open-source &gt; pattern invent sendiri</a:t>
            </a:r>
            <a:endParaRPr sz="9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1B7D1682-493B-476B-8B34-824C5BAD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56CAD58A-5EF0-4050-A75D-6C7F497A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Yang Sering Bikin Tersandung</a:t>
            </a:r>
            <a:endParaRPr sz="14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E1B98E53-37DF-4B94-A4F0-2FBB40A2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1206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AA1DB72-0C10-43CB-8317-DB0366E5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DAEC0715-6D44-4383-8266-972F86DD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031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Pakai tools yang baru dipelajari</a:t>
            </a:r>
            <a:endParaRPr sz="11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3FFB4F5-38F1-4345-ACA1-0219572B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7744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Jangan first-try di capstone - pakai yang Anda comfort</a:t>
            </a:r>
            <a:endParaRPr sz="9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F0821679-D248-48C4-8C4C-C01C5FFA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51206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BC6E80F9-B017-4B10-B846-478CC47B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5009579A-342F-4294-952F-00A2CBF5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2608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Scope creep setelah checkpoint</a:t>
            </a:r>
            <a:endParaRPr sz="11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743383F0-6D4D-440C-8115-DCAF55A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10 fitur jadi 0. Stuck di 'tinggal 1 lagi' selamanya</a:t>
            </a:r>
            <a:endParaRPr sz="95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3825BCB2-8E0A-4B9D-AA92-DFB1E43F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51206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9D80BDBD-26E8-4D33-8FE5-CB4B56E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5DB807EE-3BD9-4625-AABC-89038F39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4904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Tunda README sampai akhir</a:t>
            </a:r>
            <a:endParaRPr sz="11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1ED2B8EB-B179-47F7-B5D8-7EE560E0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2336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Lupa banyak konteks. Tulis bertahap sambil coding</a:t>
            </a:r>
            <a:endParaRPr sz="95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9297D71F-98F4-4037-8E38-B7D264EF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80560"/>
            <a:ext cx="51206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793940E5-B2BC-4D80-B792-419437F1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8056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2F4714DF-B516-4E8A-BF93-E4E9E40B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Demo tanpa rehearsal</a:t>
            </a:r>
            <a:endParaRPr sz="11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6A0BBCBD-3D7C-45A4-86D9-23F99EB1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4632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Siapkan video dan screenshot cadangan untuk menunjukkan alur.</a:t>
            </a:r>
            <a:endParaRPr sz="950"/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D1568455-961E-440E-ABE3-4406F9FE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03520"/>
            <a:ext cx="51206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08242E25-AF56-42E9-BFB0-7DF9A907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03520"/>
            <a:ext cx="137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D0D07777-4541-4BEB-B9B6-E20445DB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9496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Tidak commit selama 2 minggu</a:t>
            </a:r>
            <a:endParaRPr sz="110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8DC45B75-D681-4CE5-AA76-D9EBFB20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6928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Kehilangan code = stress + recover lama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7399797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5E91C8-86EE-41F3-BB21-A185597C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D876D87-7E7B-45E0-ADC9-B474D7B5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E46084F-E194-41C1-A5C8-009F6CCF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F9AEDD-6D85-48D0-9862-144C1C58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F7EE0F2-EAFE-4A4A-9AFD-4480CD70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3E59EF8-391C-4499-A366-6F87EA60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FE6806-549C-4C23-8967-54B236AA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0fbd93c9749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a5628198747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7EFD5B8-3447-4185-9BCE-AED4945A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D9B930E-58D9-4F68-8A85-EB1C16A3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Course Reflection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Next Steps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5C62EE1-6687-470A-85D9-07EA589E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E4F7985-B5E7-40D8-92E3-942A6470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Setelah course - kemana arah selanjutnya?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154462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A9EDF4-4615-4BFA-BF29-79335474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3CAD3E-24FC-45A6-9014-DF1E1058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FDD6889-2B73-48CD-9A55-84011F26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399edc91d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546f4654140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843A694-24B8-451D-BE73-9E03AD38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B42FFAE-EC3F-4743-AACF-20E44FC8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Career Path - Setelah Kuasai Stack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9C22701-B3B8-4E24-8405-649B7341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Skill di course ini = foundation 4 career path yang </a:t>
            </a: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berguna di banyak tim cloud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1F59FAE-7A53-4EC9-B1C6-7A7EDFD1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AE24FAA-1236-40BC-B139-C977FAD4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6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f29b63ea240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1620" y="15544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3E091F29-DFED-4C9A-8857-A9FBDE9A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Cloud Engineer</a:t>
            </a:r>
            <a:endParaRPr sz="14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0D1D62F-8739-4613-8371-AA3FBCD5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23317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&amp; manage cloud infra - AWS, GCP, Azure. Docker, K8s, IaC (Terraform).</a:t>
            </a:r>
            <a:endParaRPr sz="11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CDB1987-CA4E-47FB-A363-F68C1FC3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Skill stack:</a:t>
            </a:r>
            <a:endParaRPr sz="9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3C61234-F302-4F3D-808F-D32D5826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3317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Linux, Networking, Docker, K8s, Terraform</a:t>
            </a:r>
            <a:endParaRPr sz="10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EF87EC95-443B-4705-B968-685108FA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2331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075832C8-6B49-44E4-9409-D4BE8404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Salary tier: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$$$</a:t>
            </a:r>
            <a:endParaRPr sz="10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AB1C546F-A87B-4C61-988F-32465E15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7356B60E-5075-4B6E-A205-84B52DEB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020224f2e40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3692" y="15544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53CD6AF1-955A-45B9-85A0-5EAEF590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05740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Engineer</a:t>
            </a:r>
            <a:endParaRPr sz="1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EF5922D2-0771-44C3-8CB6-1CB182AE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468880"/>
            <a:ext cx="23317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ETL pipeline, data warehouse, real-time streaming. Spark, Airflow, dbt.</a:t>
            </a:r>
            <a:endParaRPr sz="11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224F2556-9C57-48E5-8013-0098EB40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1148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Skill stack:</a:t>
            </a:r>
            <a:endParaRPr sz="9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2438B4AF-00A9-46FD-8DBF-84D22628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343400"/>
            <a:ext cx="23317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Python, SQL, Spark, Airflow, BigQuery</a:t>
            </a:r>
            <a:endParaRPr sz="100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1396F239-0E1B-498F-B330-1CFD6F11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577840"/>
            <a:ext cx="2331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AD910AF-50D2-4568-AB4E-16FCDD11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5778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Salary tier: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$$$</a:t>
            </a:r>
            <a:endParaRPr sz="10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83BC2F2E-9016-4243-8A28-558DE65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C76FAB1D-A056-4A29-A73B-E3FFC9FC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733b9c29341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5764" y="15544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8DB78E0F-60B9-4EEB-A101-5879ADFB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05740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Engineer</a:t>
            </a:r>
            <a:endParaRPr sz="1400"/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C94CDED8-6626-4CDE-87EF-2DCEA534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468880"/>
            <a:ext cx="23317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 + monitor model production. MLOps, feature store, A/B testing.</a:t>
            </a:r>
            <a:endParaRPr sz="1100"/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83FB8D5F-7B19-4DDE-848C-2838BCBC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1148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Skill stack:</a:t>
            </a:r>
            <a:endParaRPr sz="900"/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779E3598-BF74-4DF3-956D-5293AB23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343400"/>
            <a:ext cx="23317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Python, PyTorch, MLflow, K8s, Kubeflow</a:t>
            </a:r>
            <a:endParaRPr sz="1000"/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8B68E7F5-9D68-4C0B-AD4E-D404BD2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577840"/>
            <a:ext cx="2331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6CCEA5A4-1D40-4D87-9547-452565D4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5778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Salary tier: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$$$$</a:t>
            </a:r>
            <a:endParaRPr sz="100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8B347BE0-8BC6-4EFD-9917-67ECD578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737CA9F6-0FB0-4513-AED2-5936C54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9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1ea16135a4d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7836" y="15544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75018DD7-C000-4E2F-9FBB-BDCBB1EA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205740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Engineer</a:t>
            </a:r>
            <a:endParaRPr sz="1400"/>
          </a:p>
        </p:txBody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62BFCD2E-47F8-4A4F-B02B-CBCA3362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468880"/>
            <a:ext cx="23317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LLM apps - RAG, agents, function calling. Vector DB, prompt eng.</a:t>
            </a:r>
            <a:endParaRPr sz="1100"/>
          </a:p>
        </p:txBody>
      </p:sp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A632ED9F-5699-422E-9555-94FF8A7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1148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Skill stack:</a:t>
            </a:r>
            <a:endParaRPr sz="900"/>
          </a:p>
        </p:txBody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18AD262F-9FB3-4431-8ACD-BD5EBDF7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343400"/>
            <a:ext cx="23317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LangChain, LlamaIndex, OpenAI/Claude API, pgvector</a:t>
            </a:r>
            <a:endParaRPr sz="100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844E7C66-1193-42EB-B010-0689446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577840"/>
            <a:ext cx="2331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E46C7BBE-F85E-4B96-9FA8-875C1B8C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5778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Salary tier: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$$$$</a:t>
            </a:r>
            <a:endParaRPr sz="1000"/>
          </a:p>
        </p:txBody>
      </p:sp>
      <p:sp>
        <p:nvSpPr>
          <p:cNvPr id="46" name="Text 38">
            <a:extLst xmlns:a="http://schemas.openxmlformats.org/drawingml/2006/main">
              <a:ext uri="{FF2B5EF4-FFF2-40B4-BE49-F238E27FC236}">
                <a16:creationId xmlns:a16="http://schemas.microsoft.com/office/drawing/2014/main" id="{B50C3277-6E8B-4BE6-AD06-72AB5A97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perlu langsung target ML/AI Engineer. Mulai dari Cloud/Data Engineer, naik secara natural saat skill bertambah.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108431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D1D93B-3AEA-4628-8CA1-FCB74DB6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31841D9-60BE-42A6-A6E8-082FC3A1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026CF5-C578-463D-B0DA-9D3AA080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9ae1ebbe64a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79d4d3bd4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D7CE940-5E13-40E4-99B2-ACA0EED9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CD963A9-F15F-4D9A-832E-6920E451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Sertifikasi yang Relevan - Path Lanjutan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80C271E-4163-4DF4-BD15-E9074DA7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Ada sertif yang worth vs sekadar koleksi - prioritaskan yang berbobot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C112DB6-E8C4-49CF-96D6-CE01AFBC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9F57990-9E05-435D-ACB0-DB41073F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12700">
            <a:solidFill>
              <a:srgbClr val="FF9900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33D5A61-8D05-4826-ACE4-DB372105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6304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AWS Cloud Practitioner</a:t>
            </a:r>
            <a:endParaRPr sz="1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3FA13BE-8BE4-42D9-9817-4C736320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527048"/>
            <a:ext cx="10058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0AEF180-AC0F-42FB-BB66-FF5BE116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527048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Entry</a:t>
            </a:r>
            <a:endParaRPr sz="9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F188332-353E-41E9-BBB3-6D75081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5C659AB-602A-4DDE-8A72-96FC3435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0312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Cek biaya dan jadwal resmi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B3B3B74-AD6A-4788-BFA4-A3B6B6CF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Kenapa worth: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111D918-3212-4B38-87C8-491DF64E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AWS dominan di Asia Tenggara. Sertif paling banyak diminta di lowongan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551ADF1-D6A6-4B76-907F-C87B18AF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9F1B1B5-050A-41E4-9AF1-C21D7521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12700">
            <a:solidFill>
              <a:srgbClr val="FF9900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F45C7F1-5AC4-4BCB-A1AB-06BB6DE5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6304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AWS Solutions Architect</a:t>
            </a:r>
            <a:endParaRPr sz="12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3E4189D-0BAA-4C2D-953B-67FF7209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7048"/>
            <a:ext cx="10058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7FBCDC2-F73E-48D7-A339-EE012B18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7048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9900"/>
                </a:solidFill>
                <a:latin typeface="Calibri"/>
                <a:ea typeface="Calibri"/>
                <a:cs typeface="Calibri"/>
              </a:rPr>
              <a:t>Associate</a:t>
            </a:r>
            <a:endParaRPr sz="9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AF55D9A3-697E-420C-9D16-C2DCB766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0312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74F127F-95A3-4B2B-84AA-EDDD7EA6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312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Cek biaya dan jadwal resmi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91A3B02-90CA-4DFD-BD3C-14E14B61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60604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Kenapa worth:</a:t>
            </a:r>
            <a:endParaRPr sz="9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19678603-CF78-471E-AE86-5C1EAB1C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3464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Setelah Practitioner. Architect = role + gaji lebih tinggi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D941D854-1C1A-4843-883D-B4D860E0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11FF46E9-50E3-46D9-A197-74E3AAA7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12700">
            <a:solidFill>
              <a:srgbClr val="4285F4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9A30BA0-AFAE-499A-8A0A-C1A564D5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6304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GCP Associate Engineer</a:t>
            </a:r>
            <a:endParaRPr sz="12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89A67210-1AE3-42BA-AF28-1D384145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1527048"/>
            <a:ext cx="10058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99282E1-59C8-4305-A86E-793D84E2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1527048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4285F4"/>
                </a:solidFill>
                <a:latin typeface="Calibri"/>
                <a:ea typeface="Calibri"/>
                <a:cs typeface="Calibri"/>
              </a:rPr>
              <a:t>Associate</a:t>
            </a:r>
            <a:endParaRPr sz="9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0426C7CE-17B9-446A-85D0-D9FD98FE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0312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F1DEEBD3-5F00-4EC4-9CCB-FF4AF8FE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10312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Cek biaya dan jadwal resmi</a:t>
            </a:r>
            <a:endParaRPr sz="10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981BD993-B91C-492B-99EC-DFB13F23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60604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Kenapa worth:</a:t>
            </a:r>
            <a:endParaRPr sz="9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F3212591-83EC-4748-85E3-E6B03D42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3464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Kalau kerja di startup atau company yang pakai GCP - banyak free credit</a:t>
            </a:r>
            <a:endParaRPr sz="10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321ED549-5530-4D45-A5E9-4FA2522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E5981C4-0A70-4BF3-A0F3-9230D78A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12700">
            <a:solidFill>
              <a:srgbClr val="0078D4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2672D2E2-7AD3-401C-8690-8DAE2749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Azure Fundamentals AZ-900</a:t>
            </a:r>
            <a:endParaRPr sz="12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0C49B14B-EF13-4E32-B756-1CF4422E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904488"/>
            <a:ext cx="10058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88327AEB-9BDA-4A6B-8AFC-EB76C52A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904488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0078D4"/>
                </a:solidFill>
                <a:latin typeface="Calibri"/>
                <a:ea typeface="Calibri"/>
                <a:cs typeface="Calibri"/>
              </a:rPr>
              <a:t>Entry</a:t>
            </a:r>
            <a:endParaRPr sz="9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52D8D83C-FDFB-41E1-89BC-C554B237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2669B5FF-3CF4-4824-A6AC-446545D5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Cek biaya dan jadwal resmi</a:t>
            </a:r>
            <a:endParaRPr sz="10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B0450E9F-8FA0-4C81-9845-99E7C9A1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Kenapa worth:</a:t>
            </a:r>
            <a:endParaRPr sz="9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41C1A446-B074-4BF5-9D59-97AE0D70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Wajib kalau target perusahaan enterprise (Microsoft ecosystem)</a:t>
            </a:r>
            <a:endParaRPr sz="100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301E6AA2-D6E9-4AC2-A41F-A7666B6B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E125811B-9D2C-4447-9995-7DD57032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12700">
            <a:solidFill>
              <a:srgbClr val="2496ED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66861ACE-31AA-4E90-81BD-D334DC4B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84048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Certified Associate</a:t>
            </a:r>
            <a:endParaRPr sz="1200"/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914FD47D-D163-4B83-9B27-185E0B71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4488"/>
            <a:ext cx="10058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223A45C8-C337-4CE9-A046-AA9CF841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4488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2496ED"/>
                </a:solidFill>
                <a:latin typeface="Calibri"/>
                <a:ea typeface="Calibri"/>
                <a:cs typeface="Calibri"/>
              </a:rPr>
              <a:t>Skill-based</a:t>
            </a:r>
            <a:endParaRPr sz="900"/>
          </a:p>
        </p:txBody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1B2AA028-7494-40C5-8954-BE3DD42D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48056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0BC2D779-6A6D-4774-BBBF-6E92A6D1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8056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Cek biaya dan jadwal resmi</a:t>
            </a:r>
            <a:endParaRPr sz="100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808488BD-927B-455E-8FDD-652E3A9B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98348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Kenapa worth:</a:t>
            </a:r>
            <a:endParaRPr sz="900"/>
          </a:p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51B8F6D6-7832-4875-ACCA-E0A03DC6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21208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Sertif teknis yang fokus skill - bukan vendor produk</a:t>
            </a:r>
            <a:endParaRPr sz="1000"/>
          </a:p>
        </p:txBody>
      </p:sp>
      <p:sp>
        <p:nvSpPr>
          <p:cNvPr id="55" name="Shape 51">
            <a:extLst xmlns:a="http://schemas.openxmlformats.org/drawingml/2006/main">
              <a:ext uri="{FF2B5EF4-FFF2-40B4-BE49-F238E27FC236}">
                <a16:creationId xmlns:a16="http://schemas.microsoft.com/office/drawing/2014/main" id="{02AF99CF-3E8C-427B-9152-0F62EFB4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6" name="Shape 52">
            <a:extLst xmlns:a="http://schemas.openxmlformats.org/drawingml/2006/main">
              <a:ext uri="{FF2B5EF4-FFF2-40B4-BE49-F238E27FC236}">
                <a16:creationId xmlns:a16="http://schemas.microsoft.com/office/drawing/2014/main" id="{4904AF67-D971-48F0-A1A2-70A65672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E"/>
          </a:solidFill>
          <a:ln xmlns:a="http://schemas.openxmlformats.org/drawingml/2006/main" w="12700">
            <a:solidFill>
              <a:srgbClr val="FFD21E"/>
            </a:solidFill>
            <a:prstDash val="solid"/>
          </a:ln>
        </p:spPr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83CA06B2-62D7-47B8-97A6-53F691AC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HF / LangChain Courses</a:t>
            </a:r>
            <a:endParaRPr sz="1200"/>
          </a:p>
        </p:txBody>
      </p:sp>
      <p:sp>
        <p:nvSpPr>
          <p:cNvPr id="58" name="Shape 54">
            <a:extLst xmlns:a="http://schemas.openxmlformats.org/drawingml/2006/main">
              <a:ext uri="{FF2B5EF4-FFF2-40B4-BE49-F238E27FC236}">
                <a16:creationId xmlns:a16="http://schemas.microsoft.com/office/drawing/2014/main" id="{73CC2841-79FE-43B4-8CC6-4CC3D6B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3904488"/>
            <a:ext cx="10058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9795D26F-F62E-4760-9950-3C5F6408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3904488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D21E"/>
                </a:solidFill>
                <a:latin typeface="Calibri"/>
                <a:ea typeface="Calibri"/>
                <a:cs typeface="Calibri"/>
              </a:rPr>
              <a:t>Emerging</a:t>
            </a:r>
            <a:endParaRPr sz="900"/>
          </a:p>
        </p:txBody>
      </p:sp>
      <p:sp>
        <p:nvSpPr>
          <p:cNvPr id="60" name="Shape 56">
            <a:extLst xmlns:a="http://schemas.openxmlformats.org/drawingml/2006/main">
              <a:ext uri="{FF2B5EF4-FFF2-40B4-BE49-F238E27FC236}">
                <a16:creationId xmlns:a16="http://schemas.microsoft.com/office/drawing/2014/main" id="{B0867CAA-8891-4C9D-987E-1B4BE6FC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48056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1" name="Text 57">
            <a:extLst xmlns:a="http://schemas.openxmlformats.org/drawingml/2006/main">
              <a:ext uri="{FF2B5EF4-FFF2-40B4-BE49-F238E27FC236}">
                <a16:creationId xmlns:a16="http://schemas.microsoft.com/office/drawing/2014/main" id="{5EB29B23-9AD5-45C7-BA92-BC4C86B2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48056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Cek biaya dan jadwal resmi</a:t>
            </a:r>
            <a:endParaRPr sz="1000"/>
          </a:p>
        </p:txBody>
      </p:sp>
      <p:sp>
        <p:nvSpPr>
          <p:cNvPr id="62" name="Text 58">
            <a:extLst xmlns:a="http://schemas.openxmlformats.org/drawingml/2006/main">
              <a:ext uri="{FF2B5EF4-FFF2-40B4-BE49-F238E27FC236}">
                <a16:creationId xmlns:a16="http://schemas.microsoft.com/office/drawing/2014/main" id="{11213920-4492-4613-A515-5C721880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98348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Kenapa worth:</a:t>
            </a:r>
            <a:endParaRPr sz="900"/>
          </a:p>
        </p:txBody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DB2E5643-1CB5-4562-B1FB-3E2D2591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1208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Path AI Engineer. Belum mainstream tapi mulai dilihat 2026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253667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6B7C99-10FA-44E1-B858-7DE04476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B23CA7-D9F5-457E-8ECD-30EF2A7B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645F8D-1DC8-45B1-8A63-62643C98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aa4c77f4e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4a3636c8146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53649CA-149E-4D70-BA44-78BF96C4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E0CAC07-A2A7-49FF-B92A-07384345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Resources Lanjutan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616E0B4-5217-44D8-A5D0-523230A8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Setelah course - lanjut belajar lewat resource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B3826CD-71DC-4E69-A628-5F7DD0DB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D2AE992-6349-4CD4-8888-E087B121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4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dfa54c21245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DA5FC21-5A7B-4490-94BA-9CB152AE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17320"/>
            <a:ext cx="2011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Books</a:t>
            </a:r>
            <a:endParaRPr sz="16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2993943-7221-4739-A4E4-AD7B1453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242316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Designing Data-Intensive Apps (Kleppmann)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Site Reliability Engineering (Google)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Building LLM-Powered Apps (Suhas)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Cloud Native Patterns (Davis)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 Engineering (Burkov)</a:t>
            </a:r>
            <a:endParaRPr sz="10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9602BE6D-1C0C-4675-99B1-106B5955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D9098040-B4E2-4E58-876B-B3A2D825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19994b3ef4f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2152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B377269E-455C-417A-A407-4F657FD3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417320"/>
            <a:ext cx="2011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Courses</a:t>
            </a:r>
            <a:endParaRPr sz="16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7866703-D441-460E-9AD8-86B5F681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286000"/>
            <a:ext cx="242316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Andrew Ng (DeepLearning.AI) - LLM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Fast.ai - Practical Deep Learning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Hyperskill - Cloud Engineer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Cloud Resume Challenge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FreeCodeCamp YouTube - 6hr+ videos</a:t>
            </a:r>
            <a:endParaRPr sz="10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2C6DD08D-EBCB-43EC-B4A5-3E2DB18B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C3C2F701-27E8-4B06-A3F7-ED4227F3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5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37ffb49a040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9944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A4F8C7D5-8287-4C78-8732-24359B10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1417320"/>
            <a:ext cx="2011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Communities</a:t>
            </a:r>
            <a:endParaRPr sz="1600"/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87BCA5C5-5846-4EDB-93A5-B3C79EC5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286000"/>
            <a:ext cx="242316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r/devops, r/MachineLearning Reddit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Hugging Face Discord (50K+ aktif)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Hashnode + Dev.to community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Cloud Native Indonesia Telegram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GDG Bandung / Jakarta events</a:t>
            </a:r>
            <a:endParaRPr sz="100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A037DC04-907F-4A52-9919-02769AB4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43C9CEDB-8F5F-4386-920B-C6F18697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6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9c56e7d334a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17736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714FFE59-3175-4722-ACFB-4833BDD7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376" y="1417320"/>
            <a:ext cx="2011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Blogs to Follow</a:t>
            </a:r>
            <a:endParaRPr sz="1600"/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6FC13341-C48F-4700-AF4C-AF3EB53B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286000"/>
            <a:ext cx="242316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High Scalability (system design)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Martin Fowler (architecture)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Simon Willison (LLM weekly)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Hugging Face Blog (model updates)</a:t>
            </a:r>
            <a:endParaRPr sz="10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Blog (frontend patterns)</a:t>
            </a:r>
            <a:endParaRPr sz="1000"/>
          </a:p>
        </p:txBody>
      </p:sp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4D70E0EE-CB3B-4066-94A8-BD61108E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Pilih 1 buku + 1 community sebagai starting point - jangan FOMO ke semua sekaligus.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866445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8F1BF0-93C3-4BF6-910B-89C7F1C9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BEB796-634A-490F-B0BF-ED18FAE1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719B9C-E216-44BA-BA64-4BCCDAFB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a9311f28843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203008e7a4a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0CC507E-DC42-4AEF-9E32-5997AD11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519B544-C2FD-43E8-884E-7F0F6DC0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Peluang di Indonesia + Global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19604F9-9F7C-47F9-BD5F-98F1A23C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Cloud + AI bukan privilege Silicon Valley - peluangnya ada di sini juga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67746E6-D276-41F8-B39D-D05900E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14B2C32-C53B-4E09-B541-160F7F3E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F128CC8-B1FA-4022-806A-27F3F959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INDONESIA TECH SCENE</a:t>
            </a:r>
            <a:endParaRPr sz="13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EC81DE9-49E0-4818-B66E-4D895B9F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52120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5847762-EE67-4A41-AA7B-ECB2B65C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1053B85-F0AA-414F-9861-0B86617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Unicorn + Big Tech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1875951-2B83-45AE-BF77-3CE49FBE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Gojek, Tokopedia, Bukalapak, Traveloka, Blibli - butuh cloud + ML engineer terus</a:t>
            </a:r>
            <a:endParaRPr sz="9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FDA7BAF9-F919-4403-89FF-44ED5429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52120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131E3B5D-BB1C-4662-8ECF-CDC09509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C63A6FF4-8452-45AA-99A8-B6119464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Financial Sector</a:t>
            </a:r>
            <a:endParaRPr sz="11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64809D5-063D-4F81-AB67-88DFB544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9184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Bank BCA, Mandiri, BRI digital banking - banyak butuh fraud detection ML + cloud migration</a:t>
            </a:r>
            <a:endParaRPr sz="95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7B38188-CCAF-4DD3-B894-4DF837A4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52120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30DFD40-88A9-48EA-94CD-1F01608A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87CB64C-C5DC-4609-9924-D0342C10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Startup Growth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66239CA8-7D9B-4661-A70C-37E0A06A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100+ Y Combinator alumni startup Indonesia - cari engineer level menengah</a:t>
            </a:r>
            <a:endParaRPr sz="95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6F7E6822-2B63-47BB-AE98-C3E4E4AC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52120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B63D130-EFD3-4B51-BBF1-AD31EBE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A8103F10-8681-4C58-9FE3-35CF1792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720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Remote-Friendly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6801341-98D5-494F-AA74-7AE07281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463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Banyak perusahaan SG/MY/SF hire remote dari Indonesia - bayar USD</a:t>
            </a:r>
            <a:endParaRPr sz="9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15A9954B-DBB7-4590-A4BA-21D84909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52120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10C3283B-5A6E-4C30-9297-A1CC0797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ABFE850D-9089-48EF-92CF-1FCFF18D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4924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Komunitas Aktif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6D34B2F9-11C6-4A21-B3C9-771E2EC3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Tech Indonesia, ID-AI, Indonesia AI - banyak meetup + opportunity sharing</a:t>
            </a:r>
            <a:endParaRPr sz="95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FB5E320B-1D61-4CE2-9E3C-95C069A1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B82F34FC-600D-4C79-BBAA-EA9C2F52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0E7CC56E-E4BC-4857-854B-4728778A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GLOBAL REMOTE / OVERSEAS</a:t>
            </a:r>
            <a:endParaRPr sz="13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FA482AF6-91B5-4373-9E23-F78AD42E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4560"/>
            <a:ext cx="51206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0234D40A-47CD-464E-947B-12D974BD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456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8FBF872E-F267-4770-8F3F-7E4D811F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028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Singapore + Malaysia</a:t>
            </a:r>
            <a:endParaRPr sz="11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085DA31E-5D1E-4BD0-B4EC-7811E1E1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Banyak unicorn HQ - Shopee, Sea, Grab. Hire Indonesian devs aktif</a:t>
            </a:r>
            <a:endParaRPr sz="95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65BB8845-0DD9-4E40-8164-0F6197E9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51206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F0E80-3A8C-45E5-8715-5D4C859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977FBBF-14FB-4B5F-8A1C-AD9E44B0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175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Jepang Tech Boom</a:t>
            </a:r>
            <a:endParaRPr sz="11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CB7B1423-1241-4229-B4E3-9A77894B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918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Engineering shortage parah - Mercari, Yahoo Japan, Rakuten butuh ML/cloud engineer</a:t>
            </a:r>
            <a:endParaRPr sz="9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59580781-BFE8-4002-B8CB-38B7050D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9040"/>
            <a:ext cx="51206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5AF4652F-06C4-4DC5-85DF-AB822E55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904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488DAB45-4FA1-4FAB-9373-C0F0272F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476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Remote US/EU Startup</a:t>
            </a:r>
            <a:endParaRPr sz="11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D48A308A-C544-4746-A9F8-F60A9485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6908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YC, Sequoia portfolio companies hire global remote - bayar 80-100% rate US</a:t>
            </a:r>
            <a:endParaRPr sz="950"/>
          </a:p>
        </p:txBody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9B03238F-8BF1-4D54-908C-3250E996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6280"/>
            <a:ext cx="51206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CF1A5798-E84C-4D12-A350-97E8CCA6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628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2C9A870F-B25C-4D87-AEAA-F8171142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Job Boards</a:t>
            </a:r>
            <a:endParaRPr sz="110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F5BD7B35-834B-440E-82DB-9C679985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463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Wellfound, LinkedIn Jobs, RemoteOK, Jobs With Code, Glints (Asia)</a:t>
            </a:r>
            <a:endParaRPr sz="950"/>
          </a:p>
        </p:txBody>
      </p:sp>
      <p:sp>
        <p:nvSpPr>
          <p:cNvPr id="52" name="Shape 48">
            <a:extLst xmlns:a="http://schemas.openxmlformats.org/drawingml/2006/main">
              <a:ext uri="{FF2B5EF4-FFF2-40B4-BE49-F238E27FC236}">
                <a16:creationId xmlns:a16="http://schemas.microsoft.com/office/drawing/2014/main" id="{EA612E36-38FE-4D45-A340-D17113F9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03520"/>
            <a:ext cx="51206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3" name="Shape 49">
            <a:extLst xmlns:a="http://schemas.openxmlformats.org/drawingml/2006/main">
              <a:ext uri="{FF2B5EF4-FFF2-40B4-BE49-F238E27FC236}">
                <a16:creationId xmlns:a16="http://schemas.microsoft.com/office/drawing/2014/main" id="{B0A0ADDB-8C5E-4E45-AF8F-03E093CD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03520"/>
            <a:ext cx="1371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C48A3D8F-9290-43F1-9295-6AABF3E0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4924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Build Public Portfolio</a:t>
            </a:r>
            <a:endParaRPr sz="1100"/>
          </a:p>
        </p:txBody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67AA3438-57B7-468B-B4F5-B59DF35B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2356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GitHub aktif + tulisan teknis = lebih dicari dari CV doang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3602570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F0ECE5-4E96-444E-98A8-71AEF249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5F5818-44CC-43CD-8A21-D4301CDB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6C3DCB-2728-499B-9167-934CD300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bf9b27b82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402f64e5d4d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1F71833-E9E9-42D4-B1AB-253F9DB8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B760034-DF54-475F-B634-09B176CC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Trends to Watch - 2026 dan Setelahnya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7879723-2C22-4CEC-B486-54B46785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Apa yang akan dominan beberapa tahun ke depan - persiapkan diri dari sekarang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D569D1F-D3A0-4D3F-9BE5-6069F58C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8952935-CF1A-4D12-9FD3-501CDCB7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39f27ca264a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8D3B0CF-31FA-4FE8-B3DD-B18F0544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Agentic AI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5BCE50D-8CCE-4AD4-BA12-814B7032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 yang autonomous - bisa research + planning + execute task multi-step.</a:t>
            </a:r>
            <a:endParaRPr sz="105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6A9EB6EF-8E19-4A0C-ABF5-5FB88F54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AA278A4-159C-402F-A0BD-AA28E726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Skill: function calling, tool use, multi-agent orchestration</a:t>
            </a:r>
            <a:endParaRPr sz="9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2CC41376-1C31-4C52-8C75-640E93A4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A92636FC-BB0A-4CAA-8D96-4C8CA96A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171c901c1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730E1A64-0927-45C0-A137-DEDAB4C2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 AI / SLM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3A47E9AD-4908-4DF8-9017-2A3E42EE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1168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Small Language Model di device - faster, privacy, no API cost.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F9A70EFC-94A4-47D0-AA58-092D2991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9C37DFD5-0F8F-4A0C-845A-550B7734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Skill: ONNX, quantization, mobile deployment</a:t>
            </a:r>
            <a:endParaRPr sz="9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409CFCCE-09D3-473C-97C2-EE444715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09289B76-314E-45C9-B7F1-88B7F74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1eefa57c940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8D5FB47-6E6F-442B-81C9-1C45EE00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Multimodal Native</a:t>
            </a:r>
            <a:endParaRPr sz="13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DCE8DBDD-6EEC-41DC-A83E-45B2C7EC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01168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 yang langsung handle image + audio + video tanpa convert.</a:t>
            </a:r>
            <a:endParaRPr sz="10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D621A7A0-2EC6-4291-BF5A-9C05B4C9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FF65D039-2D41-4103-A20F-E8542FDD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Skill: GPT-4V, Gemini Flash, vision API</a:t>
            </a:r>
            <a:endParaRPr sz="95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2DF22657-3A48-41DE-8612-8D37D0B6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B79E9D80-8673-42D4-9D4D-33E116A1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9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de3f7fd9745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31AE0BF8-F4F1-43F9-A129-F38366E4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DevTools</a:t>
            </a:r>
            <a:endParaRPr sz="13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46FFD861-BF7D-4244-AB57-DCE08C95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Cursor, Claude Code, v0 - dev tools yang AI-native, bukan plugin.</a:t>
            </a:r>
            <a:endParaRPr sz="1050"/>
          </a:p>
        </p:txBody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4263C9AD-D02A-49E5-AB51-68D04599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B0934810-5EEB-4CDD-B5FE-432BA039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Skill: AI-pair programming, prompt for code</a:t>
            </a:r>
            <a:endParaRPr sz="95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808A3D55-2821-4680-8CCE-DA44E049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5CDFBABF-D9F2-421E-B9AD-E59A30B1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9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b9b5cab4540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01A763E4-BDB3-4CBA-80C3-50B0B41D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Safety + Governance</a:t>
            </a:r>
            <a:endParaRPr sz="13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813A0606-8315-4B11-98C5-0A81EAFA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8912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Regulasi (EU AI Act, US executive orders) + compliance untuk LLM app.</a:t>
            </a:r>
            <a:endParaRPr sz="1050"/>
          </a:p>
        </p:txBody>
      </p:sp>
      <p:sp>
        <p:nvSpPr>
          <p:cNvPr id="43" name="Shape 34">
            <a:extLst xmlns:a="http://schemas.openxmlformats.org/drawingml/2006/main">
              <a:ext uri="{FF2B5EF4-FFF2-40B4-BE49-F238E27FC236}">
                <a16:creationId xmlns:a16="http://schemas.microsoft.com/office/drawing/2014/main" id="{3446183D-2E89-4045-90EC-E1DCBB0A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131BDF58-2698-4B0D-B9E9-99E27C42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Skill: red teaming, guardrails, audit trails</a:t>
            </a:r>
            <a:endParaRPr sz="95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E0E434F9-4FA9-4A1A-8987-E4F548D6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9093A91D-9ADB-4801-AA6D-6EC5E2E9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10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1480585c24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77AABE87-730C-4CBF-B985-2BB79FEA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Source Catching Up</a:t>
            </a:r>
            <a:endParaRPr sz="1300"/>
          </a:p>
        </p:txBody>
      </p:sp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57147D25-44BF-4C01-B9CD-8BEC982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8912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Llama, Mistral, Qwen - open weights matching frontier closed model.</a:t>
            </a:r>
            <a:endParaRPr sz="1050"/>
          </a:p>
        </p:txBody>
      </p:sp>
      <p:sp>
        <p:nvSpPr>
          <p:cNvPr id="50" name="Shape 40">
            <a:extLst xmlns:a="http://schemas.openxmlformats.org/drawingml/2006/main">
              <a:ext uri="{FF2B5EF4-FFF2-40B4-BE49-F238E27FC236}">
                <a16:creationId xmlns:a16="http://schemas.microsoft.com/office/drawing/2014/main" id="{13488C23-3EE3-4CA7-8055-D0F3B11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B86EDEE3-C9EC-412B-A9CC-29AD6B5F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Skill: self-hosting LLM, fine-tuning, LoRA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6372045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C9CBEB-E62E-4806-A77D-35B2E0C8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6A46314-C8F4-4141-BAA3-243BCAD6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6779BA-F37B-4439-AD22-8D3AA7DB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1FDEE57-859D-46C9-85F1-44864AE7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E47F07-F177-47E3-B376-39CE07D9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D993BF7-C2B7-470C-822B-77247985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030075-D020-4EE0-A1F4-5A977647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e258330434a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723e1e2714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E8B430B-4586-47DD-A9BB-FA836DB0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21EEAD8-B858-434C-B789-181318D4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Tindak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Lanjut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15CC17E-633F-48B5-A1C0-AD2EE259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2350E4F-A811-4070-869C-3502E23E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Perbaikan proyek, cek jadwal UAS, dan simpan bukti demo.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714686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A2287F-4B48-420C-9D5D-FF8A936B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3837C1-53E6-41C8-99B5-75C72615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DE0302C-02F4-4779-90D0-53ED513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c07de1cde46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72b90765c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1FA962D-B828-4DD4-BCE3-66F1BB72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6A582F6-8140-4182-B3AD-A34CB2AA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Umpan balik dan portofolio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3FE66FC-50A2-4822-AE66-6A8B7226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Hal logistik yang perlu dibereskan sebelum tutup course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8E0C188-F2CE-4F37-BDB3-5D4138F2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300226F-794C-4765-BE16-9B05A88A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9C457F5-954E-4971-BBAE-CF6F10C1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COURSE EVALUATION (BINUSMAYA)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920A964-B924-437E-B828-F0629FD2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212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Mohon isi - input Anda meningkatkan course untuk batch selanjutnya:</a:t>
            </a:r>
            <a:endParaRPr sz="1100"/>
          </a:p>
        </p:txBody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c9f31d4b5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8346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78140328-2870-4024-B174-C6ECAFB8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Login Binusmaya -&gt; Course Evaluation</a:t>
            </a:r>
            <a:endParaRPr sz="1050"/>
          </a:p>
        </p:txBody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c9f31d4b5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832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4C5FB4B0-F7C0-4E65-91D3-D9D79D2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9184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Isi rating pembelajaran + dosen</a:t>
            </a:r>
            <a:endParaRPr sz="1050"/>
          </a:p>
        </p:txBody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c9f31d4b5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319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55423F1C-D209-443C-B988-721DEEE6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4048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 text - feedback spesifik (apa yang berhasil, apa yang perlu improve)</a:t>
            </a:r>
            <a:endParaRPr sz="1050"/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c9f31d4b5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4805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5C955F2B-9E2F-475A-92EA-3D323363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Saran topic untuk semester depan</a:t>
            </a:r>
            <a:endParaRPr sz="1050"/>
          </a:p>
        </p:txBody>
      </p:sp>
      <p:pic>
        <p:nvPicPr>
          <p:cNvPr id="7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bd04c13bf4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0292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56F7BDD7-9D94-4730-AF91-F5CBA337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93776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tenggat resmi pada LMS</a:t>
            </a:r>
            <a:endParaRPr sz="1050"/>
          </a:p>
        </p:txBody>
      </p:sp>
      <p:pic>
        <p:nvPicPr>
          <p:cNvPr id="7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bd04c13bf4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5778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52A85F09-3DD8-49E5-A7B1-2E9FD9E4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48640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Ikuti instruksi resmi evaluasi pada LMS.</a:t>
            </a:r>
            <a:endParaRPr sz="1050"/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FC846965-CF07-441C-8098-F13CACB0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17">
            <a:extLst xmlns:a="http://schemas.openxmlformats.org/drawingml/2006/main">
              <a:ext uri="{FF2B5EF4-FFF2-40B4-BE49-F238E27FC236}">
                <a16:creationId xmlns:a16="http://schemas.microsoft.com/office/drawing/2014/main" id="{E974E757-6BAE-4256-81FD-0974B615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F9E08488-ED29-4F48-9403-3B3DA1ED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PORTOFOLIO + TRANSKRIP</a:t>
            </a:r>
            <a:endParaRPr sz="1300"/>
          </a:p>
        </p:txBody>
      </p:sp>
      <p:sp>
        <p:nvSpPr>
          <p:cNvPr id="29" name="Text 19">
            <a:extLst xmlns:a="http://schemas.openxmlformats.org/drawingml/2006/main">
              <a:ext uri="{FF2B5EF4-FFF2-40B4-BE49-F238E27FC236}">
                <a16:creationId xmlns:a16="http://schemas.microsoft.com/office/drawing/2014/main" id="{7773182F-3415-4AF0-913D-6FECED7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Periksa pengumuman resmi kampus untuk dokumen akademik:</a:t>
            </a:r>
            <a:endParaRPr sz="1100"/>
          </a:p>
        </p:txBody>
      </p:sp>
      <p:pic>
        <p:nvPicPr>
          <p:cNvPr id="84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8d597956a41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8346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1" name="Text 20">
            <a:extLst xmlns:a="http://schemas.openxmlformats.org/drawingml/2006/main">
              <a:ext uri="{FF2B5EF4-FFF2-40B4-BE49-F238E27FC236}">
                <a16:creationId xmlns:a16="http://schemas.microsoft.com/office/drawing/2014/main" id="{791D053E-00B5-45F6-8E48-9B30DF82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74320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Nilai final masuk transkrip akhir semester</a:t>
            </a:r>
            <a:endParaRPr sz="1050"/>
          </a:p>
        </p:txBody>
      </p:sp>
      <p:pic>
        <p:nvPicPr>
          <p:cNvPr id="86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8d597956a41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3832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3" name="Text 21">
            <a:extLst xmlns:a="http://schemas.openxmlformats.org/drawingml/2006/main">
              <a:ext uri="{FF2B5EF4-FFF2-40B4-BE49-F238E27FC236}">
                <a16:creationId xmlns:a16="http://schemas.microsoft.com/office/drawing/2014/main" id="{3E6B3605-951E-4142-B714-33B25453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29184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Dokumen yang diterbitkan kampus bila tersedia</a:t>
            </a:r>
            <a:endParaRPr sz="1050"/>
          </a:p>
        </p:txBody>
      </p:sp>
      <p:pic>
        <p:nvPicPr>
          <p:cNvPr id="88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c9f31d4b5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9319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5" name="Text 22">
            <a:extLst xmlns:a="http://schemas.openxmlformats.org/drawingml/2006/main">
              <a:ext uri="{FF2B5EF4-FFF2-40B4-BE49-F238E27FC236}">
                <a16:creationId xmlns:a16="http://schemas.microsoft.com/office/drawing/2014/main" id="{18615975-08AA-40DA-88F4-00200F99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84048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Pasang capstone di LinkedIn (project section)</a:t>
            </a:r>
            <a:endParaRPr sz="1050"/>
          </a:p>
        </p:txBody>
      </p:sp>
      <p:pic>
        <p:nvPicPr>
          <p:cNvPr id="90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c9f31d4b5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4805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7" name="Text 23">
            <a:extLst xmlns:a="http://schemas.openxmlformats.org/drawingml/2006/main">
              <a:ext uri="{FF2B5EF4-FFF2-40B4-BE49-F238E27FC236}">
                <a16:creationId xmlns:a16="http://schemas.microsoft.com/office/drawing/2014/main" id="{BFBE13E7-B307-4C60-AF12-C82662C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38912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Tambah ke GitHub README profile - showcase</a:t>
            </a:r>
            <a:endParaRPr sz="1050"/>
          </a:p>
        </p:txBody>
      </p:sp>
      <p:pic>
        <p:nvPicPr>
          <p:cNvPr id="92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a426fe639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0292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9" name="Text 24">
            <a:extLst xmlns:a="http://schemas.openxmlformats.org/drawingml/2006/main">
              <a:ext uri="{FF2B5EF4-FFF2-40B4-BE49-F238E27FC236}">
                <a16:creationId xmlns:a16="http://schemas.microsoft.com/office/drawing/2014/main" id="{023C525D-5CB8-4BA1-8D66-69217198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93776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extra sertif: ikut AWS / GCP certification mandiri</a:t>
            </a:r>
            <a:endParaRPr sz="1050"/>
          </a:p>
        </p:txBody>
      </p:sp>
      <p:pic>
        <p:nvPicPr>
          <p:cNvPr id="94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a426fe639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5778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1" name="Text 25">
            <a:extLst xmlns:a="http://schemas.openxmlformats.org/drawingml/2006/main">
              <a:ext uri="{FF2B5EF4-FFF2-40B4-BE49-F238E27FC236}">
                <a16:creationId xmlns:a16="http://schemas.microsoft.com/office/drawing/2014/main" id="{515E84C1-F985-49A7-8008-35688CD5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48640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Tunjukkan portfolio + sertif saat job interview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680624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92F97-3664-49F6-9D55-A97B4510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7B151B-BB76-475E-9902-3AAEA611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0AC70CC-642D-44BA-88E9-813B15F7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d18dd57a04a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25cd600f940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6AC3CFB-DC53-4541-A050-44676589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DD4FFEE-8ABD-4428-84C8-7EB4496D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Tetap Terhubung - Pasca Kuliah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1DA45FE-5AB7-4E5F-90C2-89E30218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Course selesai bukan berarti hubungan akademis selesai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E8FE252-9DE9-4AFC-A308-F9491778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532FCBB-C8A2-44F9-9E84-545E539A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Filosofi: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saya ada untuk membantu walau course selesai. Stuck karier? Stuck project pribadi?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Kontak saya - jangan ragu. Course alumnus adalah jaringan akademis seumur hidup.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7CD04CF-81A6-4C1D-B359-B6E2472A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A55847C-E695-4F18-BC06-5C4A2772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Cara Kontak</a:t>
            </a:r>
            <a:endParaRPr sz="1400"/>
          </a:p>
        </p:txBody>
      </p:sp>
      <p:pic>
        <p:nvPicPr>
          <p:cNvPr id="7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fde3296e747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1089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602DF3D5-4361-47D6-8C5C-442517C4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03580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BINUSmaya Discussion</a:t>
            </a:r>
            <a:endParaRPr sz="11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95D43CA8-C7AB-41D1-B0D2-E3AE4CCB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31012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pertanyaan academic formal</a:t>
            </a:r>
            <a:endParaRPr sz="950"/>
          </a:p>
        </p:txBody>
      </p:sp>
      <p:pic>
        <p:nvPicPr>
          <p:cNvPr id="7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78f9bceb34b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63931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1187FBCB-9016-4DDD-9FBE-9E632D6A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6616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Slack Course (tetap aktif)</a:t>
            </a:r>
            <a:endParaRPr sz="11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1F07E6D6-769D-421C-8ED4-8BB4938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Q&amp;A teknis cepat</a:t>
            </a:r>
            <a:endParaRPr sz="950"/>
          </a:p>
        </p:txBody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f58d5b2ea44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169664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85FC92D7-6719-430E-B763-064272A6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9651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Email: budi.juarto@gmail.com</a:t>
            </a:r>
            <a:endParaRPr sz="11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D1080BF3-1D75-4FAF-A9AB-29526293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708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diskusi karier + project review</a:t>
            </a:r>
            <a:endParaRPr sz="950"/>
          </a:p>
        </p:txBody>
      </p:sp>
      <p:pic>
        <p:nvPicPr>
          <p:cNvPr id="8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7ba5a890a4c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0016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77F52731-0AB0-49E9-A68C-E7BA644D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26864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GitHub @SeedFlora</a:t>
            </a:r>
            <a:endParaRPr sz="1100"/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53593659-4322-4D78-BE3D-5F7A4BD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901184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Lihat project public + follow updates</a:t>
            </a:r>
            <a:endParaRPr sz="950"/>
          </a:p>
        </p:txBody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c1a67e25940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30368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24F1AA28-A6E0-4585-8DD8-15694AAF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572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LinkedIn (kirim connection note)</a:t>
            </a:r>
            <a:endParaRPr sz="1100"/>
          </a:p>
        </p:txBody>
      </p:sp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18D2B13F-15F7-4B2C-9433-090AC1A7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43153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job hunting + recommendation</a:t>
            </a:r>
            <a:endParaRPr sz="950"/>
          </a:p>
        </p:txBody>
      </p:sp>
      <p:pic>
        <p:nvPicPr>
          <p:cNvPr id="9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80a04db284c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60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0" name="Text 20">
            <a:extLst xmlns:a="http://schemas.openxmlformats.org/drawingml/2006/main">
              <a:ext uri="{FF2B5EF4-FFF2-40B4-BE49-F238E27FC236}">
                <a16:creationId xmlns:a16="http://schemas.microsoft.com/office/drawing/2014/main" id="{EA850458-D96F-4AAE-8086-C0725B02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68756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Office hours: by appointment</a:t>
            </a:r>
            <a:endParaRPr sz="1100"/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A86F075D-20B7-4EDE-812D-D360957E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96188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Hubungi melalui kanal resmi untuk diskusi lanjutan</a:t>
            </a:r>
            <a:endParaRPr sz="950"/>
          </a:p>
        </p:txBody>
      </p:sp>
      <p:sp>
        <p:nvSpPr>
          <p:cNvPr id="32" name="Shape 22">
            <a:extLst xmlns:a="http://schemas.openxmlformats.org/drawingml/2006/main">
              <a:ext uri="{FF2B5EF4-FFF2-40B4-BE49-F238E27FC236}">
                <a16:creationId xmlns:a16="http://schemas.microsoft.com/office/drawing/2014/main" id="{27B9C4B1-E50D-4B8E-B980-4F89C49A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A5F0AD0F-7B75-46D5-89F4-8EE2ED48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Kontribusi Balik - Open Source</a:t>
            </a:r>
            <a:endParaRPr sz="1400"/>
          </a:p>
        </p:txBody>
      </p:sp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C04C837A-EED4-4F30-8F4B-3FB606A8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skill course ini untuk kontribusi balik ke komunitas - bonus untuk portfolio:</a:t>
            </a:r>
            <a:endParaRPr sz="1050"/>
          </a:p>
        </p:txBody>
      </p:sp>
      <p:pic>
        <p:nvPicPr>
          <p:cNvPr id="9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20b379e894a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6" name="Text 25">
            <a:extLst xmlns:a="http://schemas.openxmlformats.org/drawingml/2006/main">
              <a:ext uri="{FF2B5EF4-FFF2-40B4-BE49-F238E27FC236}">
                <a16:creationId xmlns:a16="http://schemas.microsoft.com/office/drawing/2014/main" id="{64C952FE-7095-45C9-BCA1-FA57CE4B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63016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Open issue di project favorite</a:t>
            </a:r>
            <a:endParaRPr sz="1100"/>
          </a:p>
        </p:txBody>
      </p:sp>
      <p:sp>
        <p:nvSpPr>
          <p:cNvPr id="37" name="Text 26">
            <a:extLst xmlns:a="http://schemas.openxmlformats.org/drawingml/2006/main">
              <a:ext uri="{FF2B5EF4-FFF2-40B4-BE49-F238E27FC236}">
                <a16:creationId xmlns:a16="http://schemas.microsoft.com/office/drawing/2014/main" id="{1EE7D2D7-4724-45AA-9082-5CE5A7F9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0448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Bug found = experience evidence</a:t>
            </a:r>
            <a:endParaRPr sz="950"/>
          </a:p>
        </p:txBody>
      </p:sp>
      <p:pic>
        <p:nvPicPr>
          <p:cNvPr id="9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20b379e894a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233672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39" name="Text 27">
            <a:extLst xmlns:a="http://schemas.openxmlformats.org/drawingml/2006/main">
              <a:ext uri="{FF2B5EF4-FFF2-40B4-BE49-F238E27FC236}">
                <a16:creationId xmlns:a16="http://schemas.microsoft.com/office/drawing/2014/main" id="{8E38EAAD-AC95-4828-8094-37D67242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16052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Pull request kecil (typo, doc fix)</a:t>
            </a:r>
            <a:endParaRPr sz="1100"/>
          </a:p>
        </p:txBody>
      </p:sp>
      <p:sp>
        <p:nvSpPr>
          <p:cNvPr id="40" name="Text 28">
            <a:extLst xmlns:a="http://schemas.openxmlformats.org/drawingml/2006/main">
              <a:ext uri="{FF2B5EF4-FFF2-40B4-BE49-F238E27FC236}">
                <a16:creationId xmlns:a16="http://schemas.microsoft.com/office/drawing/2014/main" id="{1E1BB443-283C-42A7-AA06-D264AC8E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43484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First PR = stress turun</a:t>
            </a:r>
            <a:endParaRPr sz="950"/>
          </a:p>
        </p:txBody>
      </p:sp>
      <p:pic>
        <p:nvPicPr>
          <p:cNvPr id="102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20b379e894a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764024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2" name="Text 29">
            <a:extLst xmlns:a="http://schemas.openxmlformats.org/drawingml/2006/main">
              <a:ext uri="{FF2B5EF4-FFF2-40B4-BE49-F238E27FC236}">
                <a16:creationId xmlns:a16="http://schemas.microsoft.com/office/drawing/2014/main" id="{414904DC-7F2C-415D-AC11-C5644CC1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69087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Write tutorial di Hashnode / Dev.to</a:t>
            </a:r>
            <a:endParaRPr sz="1100"/>
          </a:p>
        </p:txBody>
      </p:sp>
      <p:sp>
        <p:nvSpPr>
          <p:cNvPr id="43" name="Text 30">
            <a:extLst xmlns:a="http://schemas.openxmlformats.org/drawingml/2006/main">
              <a:ext uri="{FF2B5EF4-FFF2-40B4-BE49-F238E27FC236}">
                <a16:creationId xmlns:a16="http://schemas.microsoft.com/office/drawing/2014/main" id="{4388C523-CE43-454D-A769-71A9CDC5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9651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Bagi pelajaran = personal brand</a:t>
            </a:r>
            <a:endParaRPr sz="950"/>
          </a:p>
        </p:txBody>
      </p:sp>
      <p:pic>
        <p:nvPicPr>
          <p:cNvPr id="105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20b379e894a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294376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5" name="Text 31">
            <a:extLst xmlns:a="http://schemas.openxmlformats.org/drawingml/2006/main">
              <a:ext uri="{FF2B5EF4-FFF2-40B4-BE49-F238E27FC236}">
                <a16:creationId xmlns:a16="http://schemas.microsoft.com/office/drawing/2014/main" id="{E5ED2878-EB0F-49D7-A61A-42ADFAC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221224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Maintain capstone project Anda</a:t>
            </a:r>
            <a:endParaRPr sz="1100"/>
          </a:p>
        </p:txBody>
      </p:sp>
      <p:sp>
        <p:nvSpPr>
          <p:cNvPr id="46" name="Text 32">
            <a:extLst xmlns:a="http://schemas.openxmlformats.org/drawingml/2006/main">
              <a:ext uri="{FF2B5EF4-FFF2-40B4-BE49-F238E27FC236}">
                <a16:creationId xmlns:a16="http://schemas.microsoft.com/office/drawing/2014/main" id="{BD290528-8803-424B-9A22-939E01EC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495544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Iterate setelah course = compounding value</a:t>
            </a:r>
            <a:endParaRPr sz="950"/>
          </a:p>
        </p:txBody>
      </p:sp>
      <p:pic>
        <p:nvPicPr>
          <p:cNvPr id="108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20b379e894a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824728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48" name="Text 33">
            <a:extLst xmlns:a="http://schemas.openxmlformats.org/drawingml/2006/main">
              <a:ext uri="{FF2B5EF4-FFF2-40B4-BE49-F238E27FC236}">
                <a16:creationId xmlns:a16="http://schemas.microsoft.com/office/drawing/2014/main" id="{3C832D7E-DF90-4346-A636-0BE50C2F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7515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Mentor junior - reciprocate</a:t>
            </a:r>
            <a:endParaRPr sz="1100"/>
          </a:p>
        </p:txBody>
      </p:sp>
      <p:sp>
        <p:nvSpPr>
          <p:cNvPr id="49" name="Text 34">
            <a:extLst xmlns:a="http://schemas.openxmlformats.org/drawingml/2006/main">
              <a:ext uri="{FF2B5EF4-FFF2-40B4-BE49-F238E27FC236}">
                <a16:creationId xmlns:a16="http://schemas.microsoft.com/office/drawing/2014/main" id="{1231CDCD-C591-4B0F-9FFE-A7C0FC68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602589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Teach = learn faster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3576724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5EC7B4-7553-495E-8E78-A7E7BC93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6A5323-0C32-4906-9941-DCA84062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1F8522A-E335-41DC-BD70-ACC0ACD4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2a943aa4e47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c68112ce842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CF89C9D-6524-4500-BD31-478D9C4F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7BA36EF-CBF8-4262-B8B6-4AE3A9D4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Apa Selanjutnya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A04E466-D833-4870-BAA2-8EE9722A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Print, tempel di samping laptop - roadmap pasca-course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4001D0D-1605-4D0E-A6A8-3360E556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2FFCDB8-5D7C-414B-883E-8AE01188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194CD59-A783-45E7-844C-E445F676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Maintain Capstone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89274A2-3E05-4F37-A1E9-2B0D5E7D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Update README rutin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Add 1 feature/bulan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Fix issue dari peer review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Iterate UI/UX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Track usage analytics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Post tutorial di Dev.to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47484E3-FFA0-4889-861B-C1A68EB9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E26FBAAF-74DC-427A-8DC1-EE0E8BBB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4EAFC9A-1704-40F3-AE06-ADC42CC6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Portfolio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FE62C0B-6636-4F64-A49C-06BBBE4D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GitHub aktif (1 commit/hari)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LinkedIn profile lengkap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Personal website (Vercel)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 blog post per bulan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Open source contribution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Cross-link semua channel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4A5CF58-AED7-4D30-A58F-BA2941B8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0B9F9A3-76AF-45B8-8A5D-C9B35876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1E7717A-34F9-4618-87B3-30A0A7D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Skill Up Cloud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F05687CB-37B1-4820-A1D9-95EEC62C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AWS Cloud Practitioner first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Free Tier hands-on lab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Build 1 IaC project (Terraform)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Learn K8s basics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Join Cloud Native ID Telegram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Attend GDG meetup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D2CC554-00DC-422B-969A-CD170A7F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968376E-29ED-45A2-8338-5AE61B3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4E5A4BE-F961-4986-833D-D171451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Skill Up AI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143514E-9776-4094-B49F-0DC1AF1B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Andrew Ng LLM courses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Build 1 RAG production app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Fine-tune small model (LoRA)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Explore Anthropic SDK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Read Simon Willison weekly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Join HF Discord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785BD1B-9A13-488A-8943-CC558175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2766F8A-C3B6-4D74-9CB2-ABBA5CC3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A989814-9AD7-40AE-B750-9DB80FC6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Find Job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47C27573-6865-470C-B6B8-DBA0C3CE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LinkedIn easy apply 10/hari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Wellfound + Glints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Cold DM founder startup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Referral via alumni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Tech meetup networking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Show portfolio over CV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D209ABDD-90AE-452F-9EBC-721E371E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F87A128-A742-417A-BA31-0AEEE551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DBE98C-FF08-4D83-9F51-B09B7D0F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Cert Plan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CABE0A4-1DA1-4F50-9A4F-FDE72EAC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Bulan 1-2: AWS Practitioner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Bulan 3-4: AWS Associate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Bulan 5-6: GCP Engineer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Bonus: Docker Certified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Bonus: Kubernetes CKA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voucher resmi bila tersedia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3643047C-D1C8-4883-80FD-D8EC8727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A94F97AC-3DB1-4AEA-A1DE-EDF69FF3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2F167FB-7B10-4131-9489-8227B73C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Stay Updated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D109FDEF-90D9-4421-8A3E-932A5247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TLDR Newsletter (daily)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Hacker News weekly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Bytes.dev (frontend)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Latent Space podcast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ChinaTalk podcast (AI/tech)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AI Engineer Foundation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51E8A9B7-707B-486E-85A8-92F6EF4A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D6B4B5A8-AC56-42D6-B633-565F59E7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F63D19F2-0EDC-4F94-9235-B72164FC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Mental Model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3890D632-B1BA-4BA6-929C-ADE934D8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Ship over perfection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Document while building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Trade-off &gt; best practice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Cost-aware default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Production != demo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Compounding wins long-term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77052638"/>
      </p:ext>
    </p:extLst>
  </p:cSld>
</p:sld>
</file>

<file path=ppt/slides/slide3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0d5bc283c544ae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98B7BD-C460-483F-B538-C0733C65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B4B869-4E79-4F25-8F80-BBE01D01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E5FE44F-70C8-483E-B1D1-1AFCAB15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ba892d9214e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28559ee6a4f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8D17034F-D630-4C76-8C9A-D2D818E0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11247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5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SIAP UNTUK UAS MINGGU 14</a:t>
            </a:r>
            <a:endParaRPr sz="14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61EA74D-8518-4F1B-8C2F-1EDBEC96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11247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Terima Kasih!</a:t>
            </a:r>
            <a:endParaRPr sz="72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4C4785BC-507A-44D6-AB31-266BC0AB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46120"/>
            <a:ext cx="10972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DF09EF2-36D7-4895-B34B-CA1958EE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13 sesi teori - 11 lab - 1 proyek kelompok 3 orang</a:t>
            </a:r>
            <a:endParaRPr sz="16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9A93368-85F1-4120-BAB0-57250FC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Gunakan hasil uji, repo, dan demo untuk menunjukkan keputusan teknis tim.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A9B82A3-ED19-4BEA-8B56-07E6B689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26280"/>
            <a:ext cx="75895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25400">
            <a:solidFill>
              <a:srgbClr val="F37021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5A5BD2F-4E83-4E56-BDE0-2BFF29CF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4617720"/>
            <a:ext cx="72237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Cloud + AI bukan tujuan akhir.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Mereka adalah tools untuk solve masalah yang Anda peduli.</a:t>
            </a:r>
            <a:endParaRPr sz="1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318FD4-4693-49AA-A449-33F20785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788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   |   BINUS @Bandung   |   COMP6991031 Cloud Services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FABEFDC-172B-4470-947F-41FEAA37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963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budi.juarto@gmail.com   -   github.com/SeedFlora   -   Tetap kontak. Tetap belajar. Tetap build.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3587379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A96D865-DCD2-39A3-EB27-C9A71DE4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800"/>
            <a:ext cx="88900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FA72906-83CA-483A-4D39-B084D4C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3100"/>
            <a:ext cx="112776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4690"/>
                </a:solidFill>
                <a:latin typeface="Calibri"/>
                <a:ea typeface="Calibri"/>
                <a:cs typeface="Calibri"/>
              </a:rPr>
              <a:t>Presentasi berbasis bukti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37D6F1B-0939-FC18-1F28-224E6CAC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i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Sampaikan masalah, keputusan arsitektur, demo, dan hasil uji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9C0624D-FC27-9031-2984-CA25804D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0447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Mulai dari masalah dan alasan pemilihan model layanan cloud.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EB5AB1-7E00-8D01-F1F7-C667F47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Tampilkan arsitektur serta satu alur request lintas service.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F40CE8-0265-A84C-EA59-414892B5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449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Demo fitur utama dan siapkan rekaman bila layanan cloud tidak tersedia.</a:t>
            </a:r>
            <a:endParaRPr>
              <a:solidFill>
                <a:srgbClr val="10191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3F97750-06B5-1FA9-1006-8DA36336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450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Tunjukkan benchmark, biaya, risiko, dan kontribusi tiap anggota kelompok.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D9EDBE8-9C33-F430-C844-06A3B063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2451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Lab 01–11 melatih satu proyek kelompok; UTS minggu 7, UAS minggu 14.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5D2C028-543C-63DE-DDF5-E6508A77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3500"/>
            <a:ext cx="112776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Sumber: RPS COMP6991031  |  Capstone dan presentasi</a:t>
            </a:r>
            <a:endParaRPr sz="900">
              <a:solidFill>
                <a:srgbClr val="696969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0293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22EEB-EF4F-4780-8930-B4C3BC9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BINUS UNIVERSITY  |  Cloud Services  |  Pertemuan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9D69-93A3-490A-A9E5-B00A306D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Gladi presentasi proyek UAS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B2C85-06E6-4ADB-ACD5-B530623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rPr>
              <a:t>KASUS KERJA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CA142-8C53-4CAE-BB74-550F8FC8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6425"/>
            <a:ext cx="1127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Kasus kerja: tim harus meyakinkan reviewer bahwa sistemnya berfungsi, aman dipakai, dan keputusan teknisnya sesuai kebutuhan.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59A35-6A4C-4247-AB16-489E9A8B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LATIHAN MENUJU UAS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2CA58-86AF-4AAD-850F-C23FC81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11277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Sesi 13: tiap kelompok 3 orang berlatih alur masalah, arsitektur, demo, dan bukti uji. Presentasi UAS berlangsung minggu 14 sesuai jadwal LMS.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25BCA-B869-4128-949A-90E7D32A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1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Diskusi: bukti apa yang paling cepat menunjukkan bahwa aplikasi bekerja end to end?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08DFC-C348-4EBA-8435-63AE9AD7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609478c95cc4ecb"/>
              </a:rPr>
              <a:t>Bacaan resmi: Microsoft show and tell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EAE75-0FC3-4499-A5BF-C1088FE6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8d629cad80f4094"/>
              </a:rPr>
              <a:t>Video resmi: Microsoft demo storytelling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DAFBF-BEBE-49A3-895A-0B1024B7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457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Klik judul sumber saat tayang; tautan lengkap ada di catatan pembicara.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ADC3E-5E1C-45C4-888D-32AFA81A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Sumber: dokumentasi dan video resmi  |  Diverifikasi 8 Okt 2026</a:t>
            </a:r>
          </a:p>
        </p:txBody>
      </p:sp>
    </p:spTree>
    <p:extLst>
      <p:ext uri="{BB962C8B-B14F-4D97-AF65-F5344CB8AC3E}">
        <p14:creationId xmlns:p14="http://schemas.microsoft.com/office/powerpoint/2010/main" val="699102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2026-10-07T19:11:12.9280000Z</dcterms:created>
  <dcterms:modified xsi:type="dcterms:W3CDTF">2026-10-07T19:11:12.9280000Z</dcterms:modified>
</coreProperties>
</file>