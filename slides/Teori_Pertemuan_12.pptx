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e85a38d51b4a18" /><Relationship Type="http://schemas.openxmlformats.org/officeDocument/2006/relationships/extended-properties" Target="/docProps/app.xml" Id="Rfa776f0bd4214143" /><Relationship Type="http://schemas.openxmlformats.org/officeDocument/2006/relationships/officeDocument" Target="/ppt/presentation.xml" Id="Rad9308890fda4c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cb762b34d64d7b"/>
  </p:sldMasterIdLst>
  <p:notesMasterIdLst>
    <p:notesMasterId xmlns:r="http://schemas.openxmlformats.org/officeDocument/2006/relationships" r:id="R141d9340ce4b4dab"/>
  </p:notesMasterIdLst>
  <p:sldIdLst>
    <p:sldId xmlns:r="http://schemas.openxmlformats.org/officeDocument/2006/relationships" id="256" r:id="R46547d8c2c8745da"/>
    <p:sldId xmlns:r="http://schemas.openxmlformats.org/officeDocument/2006/relationships" id="257" r:id="Rc902158a65574b59"/>
    <p:sldId xmlns:r="http://schemas.openxmlformats.org/officeDocument/2006/relationships" id="258" r:id="R7566d4c335ac4a09"/>
    <p:sldId xmlns:r="http://schemas.openxmlformats.org/officeDocument/2006/relationships" id="259" r:id="R8368e399b7474d4e"/>
    <p:sldId xmlns:r="http://schemas.openxmlformats.org/officeDocument/2006/relationships" id="260" r:id="Ra26493edad994960"/>
    <p:sldId xmlns:r="http://schemas.openxmlformats.org/officeDocument/2006/relationships" id="261" r:id="Rd8d772a65dd14547"/>
    <p:sldId xmlns:r="http://schemas.openxmlformats.org/officeDocument/2006/relationships" id="262" r:id="R3eee70d82ee84682"/>
    <p:sldId xmlns:r="http://schemas.openxmlformats.org/officeDocument/2006/relationships" id="263" r:id="Rc4f9f56ae5fe4c19"/>
    <p:sldId xmlns:r="http://schemas.openxmlformats.org/officeDocument/2006/relationships" id="264" r:id="R752d634bdd0842dc"/>
    <p:sldId xmlns:r="http://schemas.openxmlformats.org/officeDocument/2006/relationships" id="265" r:id="R61de540616494e2e"/>
    <p:sldId xmlns:r="http://schemas.openxmlformats.org/officeDocument/2006/relationships" id="266" r:id="R23ce9c5052044d8e"/>
    <p:sldId xmlns:r="http://schemas.openxmlformats.org/officeDocument/2006/relationships" id="267" r:id="R9ddac95e223741bd"/>
    <p:sldId xmlns:r="http://schemas.openxmlformats.org/officeDocument/2006/relationships" id="268" r:id="R9f2bbea1a5ab454a"/>
    <p:sldId xmlns:r="http://schemas.openxmlformats.org/officeDocument/2006/relationships" id="269" r:id="Rcf0a3f45bf42449e"/>
    <p:sldId xmlns:r="http://schemas.openxmlformats.org/officeDocument/2006/relationships" id="270" r:id="R114338f2f48e4337"/>
    <p:sldId xmlns:r="http://schemas.openxmlformats.org/officeDocument/2006/relationships" id="271" r:id="R6c725e8458a440f3"/>
    <p:sldId xmlns:r="http://schemas.openxmlformats.org/officeDocument/2006/relationships" id="272" r:id="R9d925aa7cdab4dd0"/>
    <p:sldId xmlns:r="http://schemas.openxmlformats.org/officeDocument/2006/relationships" id="273" r:id="R82917b24a3db431e"/>
    <p:sldId xmlns:r="http://schemas.openxmlformats.org/officeDocument/2006/relationships" id="274" r:id="Rf1f9c26b28ac40fc"/>
    <p:sldId xmlns:r="http://schemas.openxmlformats.org/officeDocument/2006/relationships" id="275" r:id="R934e8be55f1445b5"/>
    <p:sldId xmlns:r="http://schemas.openxmlformats.org/officeDocument/2006/relationships" id="276" r:id="R6ce464223a274ca5"/>
    <p:sldId xmlns:r="http://schemas.openxmlformats.org/officeDocument/2006/relationships" id="277" r:id="R66cbce86c6e44a8e"/>
    <p:sldId xmlns:r="http://schemas.openxmlformats.org/officeDocument/2006/relationships" id="278" r:id="R7e520e6d7ac74e5b"/>
    <p:sldId xmlns:r="http://schemas.openxmlformats.org/officeDocument/2006/relationships" id="279" r:id="R9988d8d3e1c74bc9"/>
    <p:sldId xmlns:r="http://schemas.openxmlformats.org/officeDocument/2006/relationships" id="280" r:id="R6c561ec0e2da47f9"/>
    <p:sldId xmlns:r="http://schemas.openxmlformats.org/officeDocument/2006/relationships" id="281" r:id="Re8c6e85824a54c33"/>
    <p:sldId xmlns:r="http://schemas.openxmlformats.org/officeDocument/2006/relationships" id="282" r:id="Rc1d30c7e62464794"/>
    <p:sldId xmlns:r="http://schemas.openxmlformats.org/officeDocument/2006/relationships" id="283" r:id="R8b6659d450f54ac5"/>
    <p:sldId xmlns:r="http://schemas.openxmlformats.org/officeDocument/2006/relationships" id="284" r:id="R002899fa5a3f4a2b"/>
    <p:sldId xmlns:r="http://schemas.openxmlformats.org/officeDocument/2006/relationships" id="285" r:id="R0a50177d3043468a"/>
    <p:sldId xmlns:r="http://schemas.openxmlformats.org/officeDocument/2006/relationships" id="286" r:id="R3c5bd8fd3fb3455d"/>
    <p:sldId xmlns:r="http://schemas.openxmlformats.org/officeDocument/2006/relationships" id="287" r:id="Rf0796d83949c4f03"/>
    <p:sldId xmlns:r="http://schemas.openxmlformats.org/officeDocument/2006/relationships" id="288" r:id="R5260d3c42c4845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8865e0a54244a5" /><Relationship Type="http://schemas.openxmlformats.org/officeDocument/2006/relationships/slideMaster" Target="/ppt/slideMasters/slideMaster1.xml" Id="Re8cb762b34d64d7b" /><Relationship Type="http://schemas.openxmlformats.org/officeDocument/2006/relationships/notesMaster" Target="/ppt/notesMasters/notesMaster1.xml" Id="R141d9340ce4b4dab" /><Relationship Type="http://schemas.openxmlformats.org/officeDocument/2006/relationships/presProps" Target="/ppt/presProps.xml" Id="R23725fd1065947d3" /><Relationship Type="http://schemas.openxmlformats.org/officeDocument/2006/relationships/viewProps" Target="/ppt/viewProps.xml" Id="Rd98bf8236fe94b1b" /><Relationship Type="http://schemas.openxmlformats.org/officeDocument/2006/relationships/tableStyles" Target="/ppt/tableStyles.xml" Id="Rfef6050bdbab4d0c" /><Relationship Type="http://schemas.openxmlformats.org/officeDocument/2006/relationships/slide" Target="/ppt/slides/slide1.xml" Id="R46547d8c2c8745da" /><Relationship Type="http://schemas.openxmlformats.org/officeDocument/2006/relationships/slide" Target="/ppt/slides/slide2.xml" Id="Rc902158a65574b59" /><Relationship Type="http://schemas.openxmlformats.org/officeDocument/2006/relationships/slide" Target="/ppt/slides/slide3.xml" Id="R7566d4c335ac4a09" /><Relationship Type="http://schemas.openxmlformats.org/officeDocument/2006/relationships/slide" Target="/ppt/slides/slide4.xml" Id="R8368e399b7474d4e" /><Relationship Type="http://schemas.openxmlformats.org/officeDocument/2006/relationships/slide" Target="/ppt/slides/slide5.xml" Id="Ra26493edad994960" /><Relationship Type="http://schemas.openxmlformats.org/officeDocument/2006/relationships/slide" Target="/ppt/slides/slide6.xml" Id="Rd8d772a65dd14547" /><Relationship Type="http://schemas.openxmlformats.org/officeDocument/2006/relationships/slide" Target="/ppt/slides/slide7.xml" Id="R3eee70d82ee84682" /><Relationship Type="http://schemas.openxmlformats.org/officeDocument/2006/relationships/slide" Target="/ppt/slides/slide8.xml" Id="Rc4f9f56ae5fe4c19" /><Relationship Type="http://schemas.openxmlformats.org/officeDocument/2006/relationships/slide" Target="/ppt/slides/slide9.xml" Id="R752d634bdd0842dc" /><Relationship Type="http://schemas.openxmlformats.org/officeDocument/2006/relationships/slide" Target="/ppt/slides/slide10.xml" Id="R61de540616494e2e" /><Relationship Type="http://schemas.openxmlformats.org/officeDocument/2006/relationships/slide" Target="/ppt/slides/slide11.xml" Id="R23ce9c5052044d8e" /><Relationship Type="http://schemas.openxmlformats.org/officeDocument/2006/relationships/slide" Target="/ppt/slides/slide12.xml" Id="R9ddac95e223741bd" /><Relationship Type="http://schemas.openxmlformats.org/officeDocument/2006/relationships/slide" Target="/ppt/slides/slide13.xml" Id="R9f2bbea1a5ab454a" /><Relationship Type="http://schemas.openxmlformats.org/officeDocument/2006/relationships/slide" Target="/ppt/slides/slide14.xml" Id="Rcf0a3f45bf42449e" /><Relationship Type="http://schemas.openxmlformats.org/officeDocument/2006/relationships/slide" Target="/ppt/slides/slide15.xml" Id="R114338f2f48e4337" /><Relationship Type="http://schemas.openxmlformats.org/officeDocument/2006/relationships/slide" Target="/ppt/slides/slide16.xml" Id="R6c725e8458a440f3" /><Relationship Type="http://schemas.openxmlformats.org/officeDocument/2006/relationships/slide" Target="/ppt/slides/slide17.xml" Id="R9d925aa7cdab4dd0" /><Relationship Type="http://schemas.openxmlformats.org/officeDocument/2006/relationships/slide" Target="/ppt/slides/slide18.xml" Id="R82917b24a3db431e" /><Relationship Type="http://schemas.openxmlformats.org/officeDocument/2006/relationships/slide" Target="/ppt/slides/slide19.xml" Id="Rf1f9c26b28ac40fc" /><Relationship Type="http://schemas.openxmlformats.org/officeDocument/2006/relationships/slide" Target="/ppt/slides/slide20.xml" Id="R934e8be55f1445b5" /><Relationship Type="http://schemas.openxmlformats.org/officeDocument/2006/relationships/slide" Target="/ppt/slides/slide21.xml" Id="R6ce464223a274ca5" /><Relationship Type="http://schemas.openxmlformats.org/officeDocument/2006/relationships/slide" Target="/ppt/slides/slide22.xml" Id="R66cbce86c6e44a8e" /><Relationship Type="http://schemas.openxmlformats.org/officeDocument/2006/relationships/slide" Target="/ppt/slides/slide23.xml" Id="R7e520e6d7ac74e5b" /><Relationship Type="http://schemas.openxmlformats.org/officeDocument/2006/relationships/slide" Target="/ppt/slides/slide24.xml" Id="R9988d8d3e1c74bc9" /><Relationship Type="http://schemas.openxmlformats.org/officeDocument/2006/relationships/slide" Target="/ppt/slides/slide25.xml" Id="R6c561ec0e2da47f9" /><Relationship Type="http://schemas.openxmlformats.org/officeDocument/2006/relationships/slide" Target="/ppt/slides/slide26.xml" Id="Re8c6e85824a54c33" /><Relationship Type="http://schemas.openxmlformats.org/officeDocument/2006/relationships/slide" Target="/ppt/slides/slide27.xml" Id="Rc1d30c7e62464794" /><Relationship Type="http://schemas.openxmlformats.org/officeDocument/2006/relationships/slide" Target="/ppt/slides/slide28.xml" Id="R8b6659d450f54ac5" /><Relationship Type="http://schemas.openxmlformats.org/officeDocument/2006/relationships/slide" Target="/ppt/slides/slide29.xml" Id="R002899fa5a3f4a2b" /><Relationship Type="http://schemas.openxmlformats.org/officeDocument/2006/relationships/slide" Target="/ppt/slides/slide30.xml" Id="R0a50177d3043468a" /><Relationship Type="http://schemas.openxmlformats.org/officeDocument/2006/relationships/slide" Target="/ppt/slides/slide31.xml" Id="R3c5bd8fd3fb3455d" /><Relationship Type="http://schemas.openxmlformats.org/officeDocument/2006/relationships/slide" Target="/ppt/slides/slide32.xml" Id="Rf0796d83949c4f03" /><Relationship Type="http://schemas.openxmlformats.org/officeDocument/2006/relationships/slide" Target="/ppt/slides/slide33.xml" Id="R5260d3c42c4845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b0821687774b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7b693633064bb7" /><Relationship Type="http://schemas.openxmlformats.org/officeDocument/2006/relationships/notesMaster" Target="/ppt/notesMasters/notesMaster1.xml" Id="R281a498a32874b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6da389345a431a" /><Relationship Type="http://schemas.openxmlformats.org/officeDocument/2006/relationships/notesMaster" Target="/ppt/notesMasters/notesMaster1.xml" Id="R2a81bae375d94c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ef09bc9dd04132" /><Relationship Type="http://schemas.openxmlformats.org/officeDocument/2006/relationships/notesMaster" Target="/ppt/notesMasters/notesMaster1.xml" Id="R8c472ae7090f42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dd4dd73e1b46a3" /><Relationship Type="http://schemas.openxmlformats.org/officeDocument/2006/relationships/notesMaster" Target="/ppt/notesMasters/notesMaster1.xml" Id="Rd5231fada0c745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7a9c0dc27e4bdd" /><Relationship Type="http://schemas.openxmlformats.org/officeDocument/2006/relationships/notesMaster" Target="/ppt/notesMasters/notesMaster1.xml" Id="R71e9477a75ab4b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def92c4bc94d9d" /><Relationship Type="http://schemas.openxmlformats.org/officeDocument/2006/relationships/notesMaster" Target="/ppt/notesMasters/notesMaster1.xml" Id="R34a7257d2f734c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49c1758dd94f37" /><Relationship Type="http://schemas.openxmlformats.org/officeDocument/2006/relationships/notesMaster" Target="/ppt/notesMasters/notesMaster1.xml" Id="R6e2aed9602964b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893708d26b43e1" /><Relationship Type="http://schemas.openxmlformats.org/officeDocument/2006/relationships/notesMaster" Target="/ppt/notesMasters/notesMaster1.xml" Id="Ref861d305c6848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3c0b980f9647e3" /><Relationship Type="http://schemas.openxmlformats.org/officeDocument/2006/relationships/notesMaster" Target="/ppt/notesMasters/notesMaster1.xml" Id="R5ec309f45e4e4a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64cbce26f44bbe" /><Relationship Type="http://schemas.openxmlformats.org/officeDocument/2006/relationships/notesMaster" Target="/ppt/notesMasters/notesMaster1.xml" Id="Rf26fce254dd749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719aa7ed614e42" /><Relationship Type="http://schemas.openxmlformats.org/officeDocument/2006/relationships/notesMaster" Target="/ppt/notesMasters/notesMaster1.xml" Id="R068145fc1fe543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7d48f8a187415a" /><Relationship Type="http://schemas.openxmlformats.org/officeDocument/2006/relationships/notesMaster" Target="/ppt/notesMasters/notesMaster1.xml" Id="R502dcbf4f3a240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38db88e67e46aa" /><Relationship Type="http://schemas.openxmlformats.org/officeDocument/2006/relationships/notesMaster" Target="/ppt/notesMasters/notesMaster1.xml" Id="Rc151e618c1db40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d3ab8905514fce" /><Relationship Type="http://schemas.openxmlformats.org/officeDocument/2006/relationships/notesMaster" Target="/ppt/notesMasters/notesMaster1.xml" Id="R3e90ba93f5314c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ba0982146d14563" /><Relationship Type="http://schemas.openxmlformats.org/officeDocument/2006/relationships/notesMaster" Target="/ppt/notesMasters/notesMaster1.xml" Id="R317749407af9426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19780e2d43942f3" /><Relationship Type="http://schemas.openxmlformats.org/officeDocument/2006/relationships/notesMaster" Target="/ppt/notesMasters/notesMaster1.xml" Id="Rc7bf267d9b844d8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eef480c2ac94579" /><Relationship Type="http://schemas.openxmlformats.org/officeDocument/2006/relationships/notesMaster" Target="/ppt/notesMasters/notesMaster1.xml" Id="R1bc52ce6d2ce462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a2b01b070da48f3" /><Relationship Type="http://schemas.openxmlformats.org/officeDocument/2006/relationships/notesMaster" Target="/ppt/notesMasters/notesMaster1.xml" Id="R93fa60923d9042c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a162f8c3c094937" /><Relationship Type="http://schemas.openxmlformats.org/officeDocument/2006/relationships/notesMaster" Target="/ppt/notesMasters/notesMaster1.xml" Id="Rb142670a6bb5482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94510497af14cad" /><Relationship Type="http://schemas.openxmlformats.org/officeDocument/2006/relationships/notesMaster" Target="/ppt/notesMasters/notesMaster1.xml" Id="Rff93a6674610462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94af51a71a24dc4" /><Relationship Type="http://schemas.openxmlformats.org/officeDocument/2006/relationships/notesMaster" Target="/ppt/notesMasters/notesMaster1.xml" Id="R72efda7b9c094c4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3c7c81757f44e41" /><Relationship Type="http://schemas.openxmlformats.org/officeDocument/2006/relationships/notesMaster" Target="/ppt/notesMasters/notesMaster1.xml" Id="R1bd278838eae405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8b159ae9d534f0d" /><Relationship Type="http://schemas.openxmlformats.org/officeDocument/2006/relationships/notesMaster" Target="/ppt/notesMasters/notesMaster1.xml" Id="R8f5740b23b5c4ba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cae684041a440ba" /><Relationship Type="http://schemas.openxmlformats.org/officeDocument/2006/relationships/notesMaster" Target="/ppt/notesMasters/notesMaster1.xml" Id="Rd6c8d3d39ae0494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7749487e23845ad" /><Relationship Type="http://schemas.openxmlformats.org/officeDocument/2006/relationships/notesMaster" Target="/ppt/notesMasters/notesMaster1.xml" Id="R19230c7f63824f3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fcf63d257704064" /><Relationship Type="http://schemas.openxmlformats.org/officeDocument/2006/relationships/notesMaster" Target="/ppt/notesMasters/notesMaster1.xml" Id="Rca2234d73fef45e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4ffc1eb7f714562" /><Relationship Type="http://schemas.openxmlformats.org/officeDocument/2006/relationships/notesMaster" Target="/ppt/notesMasters/notesMaster1.xml" Id="R03d3ed352989488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1d16a90afcd444f" /><Relationship Type="http://schemas.openxmlformats.org/officeDocument/2006/relationships/notesMaster" Target="/ppt/notesMasters/notesMaster1.xml" Id="R6ec0db2f0c37484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ab729cd1df9485e" /><Relationship Type="http://schemas.openxmlformats.org/officeDocument/2006/relationships/notesMaster" Target="/ppt/notesMasters/notesMaster1.xml" Id="Rb8f626d6c1c34e2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23607b886c44534" /><Relationship Type="http://schemas.openxmlformats.org/officeDocument/2006/relationships/notesMaster" Target="/ppt/notesMasters/notesMaster1.xml" Id="R29cf025247b14e7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adf07619def4102" /><Relationship Type="http://schemas.openxmlformats.org/officeDocument/2006/relationships/notesMaster" Target="/ppt/notesMasters/notesMaster1.xml" Id="R3ebb6c8193b54fb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af174ef31cd4cc5" /><Relationship Type="http://schemas.openxmlformats.org/officeDocument/2006/relationships/notesMaster" Target="/ppt/notesMasters/notesMaster1.xml" Id="R0be7bd491f0f476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c9bfc3549d9499a" /><Relationship Type="http://schemas.openxmlformats.org/officeDocument/2006/relationships/notesMaster" Target="/ppt/notesMasters/notesMaster1.xml" Id="Ra9722628ab4045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Tahap pada slide ini bukan tiga minggu kalender. Checkpoint proyek: UTS minggu 7 dan presentasi UAS minggu 14 sesuai arahan pengguna.</a:t>
            </a:r>
            <a:endParaRPr/>
          </a:p>
          <a:p xmlns:a="http://schemas.openxmlformats.org/drawingml/2006/main">
            <a:r>
              <a:t>Tanggal/jadwal operasional tetap ikuti LMS.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Latihan Lab 01–11 adalah bahan integrasi proyek kelompok 3 orang. Tidak ada tugas terpisah bernilai untuk tiap lab.</a:t>
            </a:r>
          </a:p>
          <a:p xmlns:a="http://schemas.openxmlformats.org/drawingml/2006/main">
            <a:r>
              <a:t>Sumber teknis Next.js + Supabase: https://supabase.com/docs/guides/getting-started/quickstarts/nextjs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Capstone: satu alur yang bisa diuji</a:t>
            </a:r>
          </a:p>
          <a:p xmlns:a="http://schemas.openxmlformats.org/drawingml/2006/main">
            <a:r>
              <a:t>Kasus kerja: Kasus kerja: tim 3 orang menyatukan frontend, API, database, dan komponen ML menjadi satu layanan yang dapat ditunjukkan kepada pengguna.</a:t>
            </a:r>
          </a:p>
          <a:p xmlns:a="http://schemas.openxmlformats.org/drawingml/2006/main">
            <a:r>
              <a:t>Aktivitas kelas: Lab 01–11 menjadi bahan latihan untuk satu proyek besar. Setelah checkpoint UTS minggu 7, periksa integrasi dan bukti uji. Sesi 12–13 menyiapkan UAS minggu 14.</a:t>
            </a:r>
          </a:p>
          <a:p xmlns:a="http://schemas.openxmlformats.org/drawingml/2006/main">
            <a:r>
              <a:t>Artikel resmi: https://supabase.com/docs/guides/getting-started/quickstarts/nextjs</a:t>
            </a:r>
          </a:p>
          <a:p xmlns:a="http://schemas.openxmlformats.org/drawingml/2006/main">
            <a:r>
              <a:t>Video resmi: https://www.docker.com/resources/docker-best-practices-on-demand-training/</a:t>
            </a:r>
          </a:p>
          <a:p xmlns:a="http://schemas.openxmlformats.org/drawingml/2006/main">
            <a:r>
              <a:t>Pertanyaan diskusi: Diskusi: bagian mana yang akan gagal lebih dulu jika satu service tidak tersedia?</a:t>
            </a:r>
          </a:p>
          <a:p xmlns:a="http://schemas.openxmlformats.org/drawingml/2006/main">
            <a:r>
              <a:t>Ilustrasi cloud-native dibuat untuk materi kuliah ini.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824d4c001348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f4cc7903d4470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aef79ca87841b9" /><Relationship Type="http://schemas.openxmlformats.org/officeDocument/2006/relationships/slideLayout" Target="/ppt/slideLayouts/slideLayout1.xml" Id="R1e056b9397ec4260" /><Relationship Type="http://schemas.openxmlformats.org/officeDocument/2006/relationships/slideLayout" Target="/ppt/slideLayouts/slideLayout2.xml" Id="R6930f12046914c6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056b9397ec4260"/>
    <p:sldLayoutId xmlns:r="http://schemas.openxmlformats.org/officeDocument/2006/relationships" id="2147483650" r:id="R6930f12046914c6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cfdc35ea44f55" /><Relationship Type="http://schemas.openxmlformats.org/officeDocument/2006/relationships/image" Target="/ppt/media/image.jpeg" Id="R6b0ff04296af49d0" /><Relationship Type="http://schemas.openxmlformats.org/officeDocument/2006/relationships/image" Target="/ppt/media/image.png" Id="R22648af09a8a47e4" /><Relationship Type="http://schemas.openxmlformats.org/officeDocument/2006/relationships/image" Target="/ppt/media/image2.png" Id="Rfb7a2216c11449cc" /><Relationship Type="http://schemas.openxmlformats.org/officeDocument/2006/relationships/notesSlide" Target="/ppt/notesSlides/notesSlide1.xml" Id="R7899cd7c99734a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1a553b4bb44a3" /><Relationship Type="http://schemas.openxmlformats.org/officeDocument/2006/relationships/image" Target="/ppt/media/image.png" Id="R57ea9750418e445a" /><Relationship Type="http://schemas.openxmlformats.org/officeDocument/2006/relationships/image" Target="/ppt/media/image2.png" Id="R635f5a1bb3124209" /><Relationship Type="http://schemas.openxmlformats.org/officeDocument/2006/relationships/image" Target="/ppt/media/image3.png" Id="R2c2054ea56f24b2b" /><Relationship Type="http://schemas.openxmlformats.org/officeDocument/2006/relationships/image" Target="/ppt/media/image4.png" Id="Rf6ea626afe1b43d7" /><Relationship Type="http://schemas.openxmlformats.org/officeDocument/2006/relationships/image" Target="/ppt/media/image5.png" Id="R90edb2938d9a4204" /><Relationship Type="http://schemas.openxmlformats.org/officeDocument/2006/relationships/image" Target="/ppt/media/image6.png" Id="R7fb00db2747b48e0" /><Relationship Type="http://schemas.openxmlformats.org/officeDocument/2006/relationships/image" Target="/ppt/media/image7.png" Id="R5740e8065e594b0c" /><Relationship Type="http://schemas.openxmlformats.org/officeDocument/2006/relationships/image" Target="/ppt/media/image8.png" Id="R410462d3af434bf5" /><Relationship Type="http://schemas.openxmlformats.org/officeDocument/2006/relationships/notesSlide" Target="/ppt/notesSlides/notesSlide2.xml" Id="Rc3fa8a216ccc4a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4ea5e3f36431d" /><Relationship Type="http://schemas.openxmlformats.org/officeDocument/2006/relationships/image" Target="/ppt/media/image.png" Id="R826593e552e541c3" /><Relationship Type="http://schemas.openxmlformats.org/officeDocument/2006/relationships/image" Target="/ppt/media/image2.png" Id="R895d6dca98ae4eef" /><Relationship Type="http://schemas.openxmlformats.org/officeDocument/2006/relationships/image" Target="/ppt/media/image9.png" Id="Rbeb052e30cdb400f" /><Relationship Type="http://schemas.openxmlformats.org/officeDocument/2006/relationships/image" Target="/ppt/media/image10.png" Id="R78c56713682a4b04" /><Relationship Type="http://schemas.openxmlformats.org/officeDocument/2006/relationships/image" Target="/ppt/media/image11.png" Id="Rfba0038753114458" /><Relationship Type="http://schemas.openxmlformats.org/officeDocument/2006/relationships/image" Target="/ppt/media/image12.png" Id="Rf91c3897f97e4087" /><Relationship Type="http://schemas.openxmlformats.org/officeDocument/2006/relationships/notesSlide" Target="/ppt/notesSlides/notesSlide3.xml" Id="R5472d52a110341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69041a0c04104" /><Relationship Type="http://schemas.openxmlformats.org/officeDocument/2006/relationships/image" Target="/ppt/media/image.png" Id="Ra64b6d7f09324282" /><Relationship Type="http://schemas.openxmlformats.org/officeDocument/2006/relationships/image" Target="/ppt/media/image2.png" Id="R5e28a89651f04938" /><Relationship Type="http://schemas.openxmlformats.org/officeDocument/2006/relationships/notesSlide" Target="/ppt/notesSlides/notesSlide4.xml" Id="R170d6ba51a4849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eb123cfa64779" /><Relationship Type="http://schemas.openxmlformats.org/officeDocument/2006/relationships/image" Target="/ppt/media/image.png" Id="R47c1c419250245f1" /><Relationship Type="http://schemas.openxmlformats.org/officeDocument/2006/relationships/image" Target="/ppt/media/image2.png" Id="R021fccc0fd404767" /><Relationship Type="http://schemas.openxmlformats.org/officeDocument/2006/relationships/notesSlide" Target="/ppt/notesSlides/notesSlide5.xml" Id="Rac0ac675f2f24e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dedda3b3740c8" /><Relationship Type="http://schemas.openxmlformats.org/officeDocument/2006/relationships/image" Target="/ppt/media/image.png" Id="Re22e3da763fa4d55" /><Relationship Type="http://schemas.openxmlformats.org/officeDocument/2006/relationships/image" Target="/ppt/media/image2.png" Id="R388d6cf0db7448a7" /><Relationship Type="http://schemas.openxmlformats.org/officeDocument/2006/relationships/image" Target="/ppt/media/image13.png" Id="R2afbf4699ce048a1" /><Relationship Type="http://schemas.openxmlformats.org/officeDocument/2006/relationships/image" Target="/ppt/media/image14.png" Id="R69922cd8e6774b50" /><Relationship Type="http://schemas.openxmlformats.org/officeDocument/2006/relationships/image" Target="/ppt/media/image15.png" Id="Re5c7debf990c4cb0" /><Relationship Type="http://schemas.openxmlformats.org/officeDocument/2006/relationships/image" Target="/ppt/media/image11.png" Id="R68f77766aecc4e73" /><Relationship Type="http://schemas.openxmlformats.org/officeDocument/2006/relationships/image" Target="/ppt/media/image9.png" Id="R0a0cd991f6144c4d" /><Relationship Type="http://schemas.openxmlformats.org/officeDocument/2006/relationships/notesSlide" Target="/ppt/notesSlides/notesSlide6.xml" Id="Re06465a71e8149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5e1809aa14a8a" /><Relationship Type="http://schemas.openxmlformats.org/officeDocument/2006/relationships/image" Target="/ppt/media/image.png" Id="R7d1fc57d4cce49a1" /><Relationship Type="http://schemas.openxmlformats.org/officeDocument/2006/relationships/image" Target="/ppt/media/image2.png" Id="R9c9a1442f18c4aca" /><Relationship Type="http://schemas.openxmlformats.org/officeDocument/2006/relationships/notesSlide" Target="/ppt/notesSlides/notesSlide7.xml" Id="R4d0605b545cc40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6c0c565704910" /><Relationship Type="http://schemas.openxmlformats.org/officeDocument/2006/relationships/image" Target="/ppt/media/image.png" Id="R562d3f57633c43f7" /><Relationship Type="http://schemas.openxmlformats.org/officeDocument/2006/relationships/image" Target="/ppt/media/image2.png" Id="R56cf4dc383604934" /><Relationship Type="http://schemas.openxmlformats.org/officeDocument/2006/relationships/image" Target="/ppt/media/image15.png" Id="Ra472fbe81fdf41e4" /><Relationship Type="http://schemas.openxmlformats.org/officeDocument/2006/relationships/image" Target="/ppt/media/image9.png" Id="R61b1db003211443e" /><Relationship Type="http://schemas.openxmlformats.org/officeDocument/2006/relationships/image" Target="/ppt/media/image16.png" Id="R62a2510c260c4e90" /><Relationship Type="http://schemas.openxmlformats.org/officeDocument/2006/relationships/image" Target="/ppt/media/image8.png" Id="Rbb22e6b5b9c444fd" /><Relationship Type="http://schemas.openxmlformats.org/officeDocument/2006/relationships/notesSlide" Target="/ppt/notesSlides/notesSlide8.xml" Id="Re5435509a3c947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e617e9d4043f5" /><Relationship Type="http://schemas.openxmlformats.org/officeDocument/2006/relationships/image" Target="/ppt/media/image.png" Id="Raef6bcd32bae4147" /><Relationship Type="http://schemas.openxmlformats.org/officeDocument/2006/relationships/image" Target="/ppt/media/image2.png" Id="Rc133365b1b924b2c" /><Relationship Type="http://schemas.openxmlformats.org/officeDocument/2006/relationships/image" Target="/ppt/media/image17.png" Id="Rf2b56223a85549ad" /><Relationship Type="http://schemas.openxmlformats.org/officeDocument/2006/relationships/image" Target="/ppt/media/image18.png" Id="R8ff562e8b8494674" /><Relationship Type="http://schemas.openxmlformats.org/officeDocument/2006/relationships/notesSlide" Target="/ppt/notesSlides/notesSlide9.xml" Id="R219c24a06d7349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080d5aa4c44f8" /><Relationship Type="http://schemas.openxmlformats.org/officeDocument/2006/relationships/image" Target="/ppt/media/image.png" Id="R1d2fc6684ef94a95" /><Relationship Type="http://schemas.openxmlformats.org/officeDocument/2006/relationships/image" Target="/ppt/media/image2.png" Id="R4a38be5733a4475b" /><Relationship Type="http://schemas.openxmlformats.org/officeDocument/2006/relationships/notesSlide" Target="/ppt/notesSlides/notesSlide10.xml" Id="Rb1bc831e090e45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f654942224a8c" /><Relationship Type="http://schemas.openxmlformats.org/officeDocument/2006/relationships/image" Target="/ppt/media/image.png" Id="Rac208b902d65438c" /><Relationship Type="http://schemas.openxmlformats.org/officeDocument/2006/relationships/image" Target="/ppt/media/image2.png" Id="Rb92047faa0244d06" /><Relationship Type="http://schemas.openxmlformats.org/officeDocument/2006/relationships/image" Target="/ppt/media/image19.png" Id="R9b6c15cd55b24e1c" /><Relationship Type="http://schemas.openxmlformats.org/officeDocument/2006/relationships/image" Target="/ppt/media/image20.png" Id="Rb22d2df9abf84ea5" /><Relationship Type="http://schemas.openxmlformats.org/officeDocument/2006/relationships/image" Target="/ppt/media/image21.png" Id="Ra71ed78021da42c4" /><Relationship Type="http://schemas.openxmlformats.org/officeDocument/2006/relationships/image" Target="/ppt/media/image22.png" Id="R6f33f46f2fe24403" /><Relationship Type="http://schemas.openxmlformats.org/officeDocument/2006/relationships/image" Target="/ppt/media/image23.png" Id="R9a6f1131c18747aa" /><Relationship Type="http://schemas.openxmlformats.org/officeDocument/2006/relationships/image" Target="/ppt/media/image8.png" Id="Reae81b80f4144b1c" /><Relationship Type="http://schemas.openxmlformats.org/officeDocument/2006/relationships/notesSlide" Target="/ppt/notesSlides/notesSlide11.xml" Id="Ra4505c68f3ad41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dfcab70974cce" /><Relationship Type="http://schemas.openxmlformats.org/officeDocument/2006/relationships/image" Target="/ppt/media/image.png" Id="Re6d17017710141a1" /><Relationship Type="http://schemas.openxmlformats.org/officeDocument/2006/relationships/image" Target="/ppt/media/image2.png" Id="Ra2674e8134854505" /><Relationship Type="http://schemas.openxmlformats.org/officeDocument/2006/relationships/notesSlide" Target="/ppt/notesSlides/notesSlide12.xml" Id="R6867b63c516744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549b1421b4f10" /><Relationship Type="http://schemas.openxmlformats.org/officeDocument/2006/relationships/image" Target="/ppt/media/image.png" Id="Rbdda5bac00b84fec" /><Relationship Type="http://schemas.openxmlformats.org/officeDocument/2006/relationships/image" Target="/ppt/media/image2.png" Id="Rc8fcfb0574474866" /><Relationship Type="http://schemas.openxmlformats.org/officeDocument/2006/relationships/notesSlide" Target="/ppt/notesSlides/notesSlide13.xml" Id="R41c58e531cb44a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9630400904b47" /><Relationship Type="http://schemas.openxmlformats.org/officeDocument/2006/relationships/image" Target="/ppt/media/image.png" Id="R510fd953a6314f0b" /><Relationship Type="http://schemas.openxmlformats.org/officeDocument/2006/relationships/image" Target="/ppt/media/image2.png" Id="R5c11ff7f9e8043a5" /><Relationship Type="http://schemas.openxmlformats.org/officeDocument/2006/relationships/notesSlide" Target="/ppt/notesSlides/notesSlide14.xml" Id="R4a8f6fe930dc44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7c2cea1f14f16" /><Relationship Type="http://schemas.openxmlformats.org/officeDocument/2006/relationships/image" Target="/ppt/media/image.png" Id="Rd9534d41e1b04f53" /><Relationship Type="http://schemas.openxmlformats.org/officeDocument/2006/relationships/image" Target="/ppt/media/image2.png" Id="Ra33548e3d40a4ef0" /><Relationship Type="http://schemas.openxmlformats.org/officeDocument/2006/relationships/image" Target="/ppt/media/image15.png" Id="Ra7ddf63286d841f1" /><Relationship Type="http://schemas.openxmlformats.org/officeDocument/2006/relationships/image" Target="/ppt/media/image13.png" Id="R61a896f32ec14fb5" /><Relationship Type="http://schemas.openxmlformats.org/officeDocument/2006/relationships/image" Target="/ppt/media/image24.png" Id="R2c81bac7cfac4d4a" /><Relationship Type="http://schemas.openxmlformats.org/officeDocument/2006/relationships/image" Target="/ppt/media/image11.png" Id="R8c13c9bd05b14b0f" /><Relationship Type="http://schemas.openxmlformats.org/officeDocument/2006/relationships/notesSlide" Target="/ppt/notesSlides/notesSlide15.xml" Id="R3f5c8bdc6ae249c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2c0cc826c4aa4" /><Relationship Type="http://schemas.openxmlformats.org/officeDocument/2006/relationships/image" Target="/ppt/media/image.png" Id="R7eb2d81f7d7a4ad4" /><Relationship Type="http://schemas.openxmlformats.org/officeDocument/2006/relationships/image" Target="/ppt/media/image2.png" Id="Rb3da1f1a9ff147d2" /><Relationship Type="http://schemas.openxmlformats.org/officeDocument/2006/relationships/notesSlide" Target="/ppt/notesSlides/notesSlide16.xml" Id="Re4ae319657994d6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066f8e82e4c5f" /><Relationship Type="http://schemas.openxmlformats.org/officeDocument/2006/relationships/image" Target="/ppt/media/image.png" Id="Ra85121f4f2304ba9" /><Relationship Type="http://schemas.openxmlformats.org/officeDocument/2006/relationships/image" Target="/ppt/media/image2.png" Id="R945432a32d3b4403" /><Relationship Type="http://schemas.openxmlformats.org/officeDocument/2006/relationships/notesSlide" Target="/ppt/notesSlides/notesSlide17.xml" Id="Ra298bf567c8a429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6d01ede9245e3" /><Relationship Type="http://schemas.openxmlformats.org/officeDocument/2006/relationships/image" Target="/ppt/media/image.png" Id="Re22b1862223d4718" /><Relationship Type="http://schemas.openxmlformats.org/officeDocument/2006/relationships/image" Target="/ppt/media/image2.png" Id="R5e2d8ae18f64435e" /><Relationship Type="http://schemas.openxmlformats.org/officeDocument/2006/relationships/notesSlide" Target="/ppt/notesSlides/notesSlide18.xml" Id="Rdce1e2bc793549b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df735c3c14ba6" /><Relationship Type="http://schemas.openxmlformats.org/officeDocument/2006/relationships/image" Target="/ppt/media/image.png" Id="R5723cccfc9e842bc" /><Relationship Type="http://schemas.openxmlformats.org/officeDocument/2006/relationships/image" Target="/ppt/media/image2.png" Id="R49e4a1be96e348bd" /><Relationship Type="http://schemas.openxmlformats.org/officeDocument/2006/relationships/notesSlide" Target="/ppt/notesSlides/notesSlide19.xml" Id="R404ea24a9833485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ddf58aba94d6a" /><Relationship Type="http://schemas.openxmlformats.org/officeDocument/2006/relationships/image" Target="/ppt/media/image.png" Id="R2a97e65215b14b99" /><Relationship Type="http://schemas.openxmlformats.org/officeDocument/2006/relationships/image" Target="/ppt/media/image2.png" Id="R04f9bb1ac2d14d90" /><Relationship Type="http://schemas.openxmlformats.org/officeDocument/2006/relationships/image" Target="/ppt/media/image20.png" Id="Rbf843b338644483c" /><Relationship Type="http://schemas.openxmlformats.org/officeDocument/2006/relationships/image" Target="/ppt/media/image21.png" Id="R7af655b8e076405c" /><Relationship Type="http://schemas.openxmlformats.org/officeDocument/2006/relationships/image" Target="/ppt/media/image22.png" Id="R2fe66d5be1544468" /><Relationship Type="http://schemas.openxmlformats.org/officeDocument/2006/relationships/image" Target="/ppt/media/image23.png" Id="R22ad1ecdc73e4ff5" /><Relationship Type="http://schemas.openxmlformats.org/officeDocument/2006/relationships/notesSlide" Target="/ppt/notesSlides/notesSlide20.xml" Id="Ree9f6340ae9c45d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1746bb70a4d41" /><Relationship Type="http://schemas.openxmlformats.org/officeDocument/2006/relationships/image" Target="/ppt/media/image.png" Id="R0582c2bf14594156" /><Relationship Type="http://schemas.openxmlformats.org/officeDocument/2006/relationships/image" Target="/ppt/media/image2.png" Id="R00f2755debf14f34" /><Relationship Type="http://schemas.openxmlformats.org/officeDocument/2006/relationships/notesSlide" Target="/ppt/notesSlides/notesSlide21.xml" Id="R1dfc77f00b77447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6db91a1aa465d" /><Relationship Type="http://schemas.openxmlformats.org/officeDocument/2006/relationships/image" Target="/ppt/media/image.png" Id="R4c573e8dd6c6451a" /><Relationship Type="http://schemas.openxmlformats.org/officeDocument/2006/relationships/image" Target="/ppt/media/image2.png" Id="R8cbfa41b19fb4c0a" /><Relationship Type="http://schemas.openxmlformats.org/officeDocument/2006/relationships/image" Target="/ppt/media/image25.png" Id="R92475909867341ed" /><Relationship Type="http://schemas.openxmlformats.org/officeDocument/2006/relationships/image" Target="/ppt/media/image18.png" Id="R2e6487bf36574488" /><Relationship Type="http://schemas.openxmlformats.org/officeDocument/2006/relationships/image" Target="/ppt/media/image26.png" Id="R4b5622e472f54f4f" /><Relationship Type="http://schemas.openxmlformats.org/officeDocument/2006/relationships/image" Target="/ppt/media/image24.png" Id="R9bab69e53e724e9a" /><Relationship Type="http://schemas.openxmlformats.org/officeDocument/2006/relationships/image" Target="/ppt/media/image16.png" Id="R691a10fe1f95434b" /><Relationship Type="http://schemas.openxmlformats.org/officeDocument/2006/relationships/image" Target="/ppt/media/image12.png" Id="R963af560cf44411d" /><Relationship Type="http://schemas.openxmlformats.org/officeDocument/2006/relationships/notesSlide" Target="/ppt/notesSlides/notesSlide22.xml" Id="R2cea219ced2c4c6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5013a555440d0" /><Relationship Type="http://schemas.openxmlformats.org/officeDocument/2006/relationships/image" Target="/ppt/media/image.png" Id="R2b7cd89deea24868" /><Relationship Type="http://schemas.openxmlformats.org/officeDocument/2006/relationships/image" Target="/ppt/media/image2.png" Id="R944a511e3a08401c" /><Relationship Type="http://schemas.openxmlformats.org/officeDocument/2006/relationships/notesSlide" Target="/ppt/notesSlides/notesSlide23.xml" Id="Rca2d54ee82cd435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5d0fcd52c4a7f" /><Relationship Type="http://schemas.openxmlformats.org/officeDocument/2006/relationships/image" Target="/ppt/media/image.png" Id="Ra00a40e8773a49bc" /><Relationship Type="http://schemas.openxmlformats.org/officeDocument/2006/relationships/image" Target="/ppt/media/image2.png" Id="Ra464a08d8a734f8d" /><Relationship Type="http://schemas.openxmlformats.org/officeDocument/2006/relationships/notesSlide" Target="/ppt/notesSlides/notesSlide24.xml" Id="Rbfe28d149f82409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3880c301e4621" /><Relationship Type="http://schemas.openxmlformats.org/officeDocument/2006/relationships/image" Target="/ppt/media/image.png" Id="R3af699985fb3415d" /><Relationship Type="http://schemas.openxmlformats.org/officeDocument/2006/relationships/image" Target="/ppt/media/image2.png" Id="R97f3bf36c531430e" /><Relationship Type="http://schemas.openxmlformats.org/officeDocument/2006/relationships/notesSlide" Target="/ppt/notesSlides/notesSlide25.xml" Id="Rf37b650889b24d2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a1bdbcb184b3f" /><Relationship Type="http://schemas.openxmlformats.org/officeDocument/2006/relationships/image" Target="/ppt/media/image.png" Id="Rd7bcf92ee0d144ca" /><Relationship Type="http://schemas.openxmlformats.org/officeDocument/2006/relationships/image" Target="/ppt/media/image2.png" Id="Rae22428b4c824363" /><Relationship Type="http://schemas.openxmlformats.org/officeDocument/2006/relationships/image" Target="/ppt/media/image17.png" Id="R1bc97bbe7d8c4f2c" /><Relationship Type="http://schemas.openxmlformats.org/officeDocument/2006/relationships/image" Target="/ppt/media/image18.png" Id="Rfa20392376c24678" /><Relationship Type="http://schemas.openxmlformats.org/officeDocument/2006/relationships/notesSlide" Target="/ppt/notesSlides/notesSlide26.xml" Id="Rd5b4c7fc11e6465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7ab94c5c94fe8" /><Relationship Type="http://schemas.openxmlformats.org/officeDocument/2006/relationships/image" Target="/ppt/media/image.png" Id="Rdf48e1d8ee0d4144" /><Relationship Type="http://schemas.openxmlformats.org/officeDocument/2006/relationships/image" Target="/ppt/media/image2.png" Id="R2e9921700db0472f" /><Relationship Type="http://schemas.openxmlformats.org/officeDocument/2006/relationships/notesSlide" Target="/ppt/notesSlides/notesSlide27.xml" Id="R78a311556ca8466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a8b371717423d" /><Relationship Type="http://schemas.openxmlformats.org/officeDocument/2006/relationships/image" Target="/ppt/media/image.png" Id="R2f2ccc91999c41b8" /><Relationship Type="http://schemas.openxmlformats.org/officeDocument/2006/relationships/image" Target="/ppt/media/image2.png" Id="Red207b4f913449ec" /><Relationship Type="http://schemas.openxmlformats.org/officeDocument/2006/relationships/notesSlide" Target="/ppt/notesSlides/notesSlide28.xml" Id="Raad8715e1cd04be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a8d69999d4dda" /><Relationship Type="http://schemas.openxmlformats.org/officeDocument/2006/relationships/image" Target="/ppt/media/image.png" Id="Ra67c412dc37c45ee" /><Relationship Type="http://schemas.openxmlformats.org/officeDocument/2006/relationships/image" Target="/ppt/media/image2.png" Id="R37cf7aa4451a49c8" /><Relationship Type="http://schemas.openxmlformats.org/officeDocument/2006/relationships/notesSlide" Target="/ppt/notesSlides/notesSlide29.xml" Id="R42d48dd9543b49c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56f8d9c954133" /><Relationship Type="http://schemas.openxmlformats.org/officeDocument/2006/relationships/image" Target="/ppt/media/image.png" Id="R5c1fd8a2e2554e87" /><Relationship Type="http://schemas.openxmlformats.org/officeDocument/2006/relationships/image" Target="/ppt/media/image2.png" Id="R7f1d386075884fa5" /><Relationship Type="http://schemas.openxmlformats.org/officeDocument/2006/relationships/notesSlide" Target="/ppt/notesSlides/notesSlide30.xml" Id="R9e15f290a2f2432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7bd36bcda4f61" /><Relationship Type="http://schemas.openxmlformats.org/officeDocument/2006/relationships/image" Target="/ppt/media/image.png" Id="Ra282a8c55ae64c15" /><Relationship Type="http://schemas.openxmlformats.org/officeDocument/2006/relationships/image" Target="/ppt/media/image2.png" Id="Ra110caf6d74d4f20" /><Relationship Type="http://schemas.openxmlformats.org/officeDocument/2006/relationships/image" Target="/ppt/media/image27.png" Id="R354fc793e89e4a8f" /><Relationship Type="http://schemas.openxmlformats.org/officeDocument/2006/relationships/image" Target="/ppt/media/image15.png" Id="R38dd1d86aa034a54" /><Relationship Type="http://schemas.openxmlformats.org/officeDocument/2006/relationships/image" Target="/ppt/media/image28.png" Id="R5c9d21ab509d413b" /><Relationship Type="http://schemas.openxmlformats.org/officeDocument/2006/relationships/notesSlide" Target="/ppt/notesSlides/notesSlide31.xml" Id="Ra3611bc839744e2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5adacf6ab14a68" /><Relationship Type="http://schemas.openxmlformats.org/officeDocument/2006/relationships/notesSlide" Target="/ppt/notesSlides/notesSlide32.xml" Id="Rdde296a057e24eb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be6662c184997" /><Relationship Type="http://schemas.openxmlformats.org/officeDocument/2006/relationships/hyperlink" Target="https://supabase.com/docs/guides/getting-started/quickstarts/nextjs" TargetMode="External" Id="R7374b58aaee84772" /><Relationship Type="http://schemas.openxmlformats.org/officeDocument/2006/relationships/hyperlink" Target="https://www.docker.com/resources/docker-best-practices-on-demand-training/" TargetMode="External" Id="R7823b80386324811" /><Relationship Type="http://schemas.openxmlformats.org/officeDocument/2006/relationships/image" Target="/ppt/media/image29.png" Id="Rf616cad9dd134dd6" /><Relationship Type="http://schemas.openxmlformats.org/officeDocument/2006/relationships/notesSlide" Target="/ppt/notesSlides/notesSlide33.xml" Id="R7dfd0944d2834d7e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b0ff04296af49d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648af09a8a47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a2216c11449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CDC850BC-9675-437D-B22D-E2800403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4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COMP6991031   |   2 SKS</a:t>
            </a:r>
            <a:endParaRPr sz="14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1086AD8D-12BB-440D-B8FC-AACA004B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11247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PROJECT</a:t>
            </a:r>
            <a:endParaRPr sz="56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0D71CB9D-1A08-4C22-8ADF-CE00E8D9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CAPSTONE</a:t>
            </a:r>
            <a:endParaRPr sz="36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CF68BF8D-4A02-43F4-9EE5-2E8B5126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1960"/>
            <a:ext cx="11247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Integrasi Semua Stack ke 1 Project End-to-End</a:t>
            </a:r>
            <a:endParaRPr sz="1700"/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D971CAAB-E5FF-4806-AE32-B8DC6FA8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006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DFE4736-7307-46EA-B0AF-86837C3B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776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 spc="3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PERTEMUAN 12  |  100 MENIT</a:t>
            </a:r>
            <a:endParaRPr sz="12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3BED1FAF-7A32-4C60-9867-23484E94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Budi Juarto, S.T., M.Kom.</a:t>
            </a:r>
            <a:endParaRPr sz="13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61A081D-765C-4ECA-8DA1-406CE624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Departemen Informatika  -  BINUS @Bandung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619536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D6FA7D-FD6C-413C-9375-38B9ACAC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3AC335C-E945-4F95-9A9D-CDBFE293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29AA328-ED40-4786-AFDE-A46C17C2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a9750418e44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f5a1bb31242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C0EE722-70A5-4308-8DFF-548C449B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E9B9D07-4D02-486F-A6D4-34601ECF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Recap 11 Pertemuan &amp; Agenda Hari Ini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440F6F9-A67D-4CDE-8088-22F0E3B9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Sekarang waktunya gabung semua yang sudah dipelajari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82B17674-E068-45D0-A230-704BD9DB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F2A9C87-3634-430C-B662-406B437E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11 PERTEMUAN, 7 STACK: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Toolkit Lengkap</a:t>
            </a:r>
            <a:endParaRPr sz="1100"/>
          </a:p>
        </p:txBody>
      </p:sp>
      <p:pic>
        <p:nvPicPr>
          <p:cNvPr id="4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054ea56f24b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5603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9B3545AC-4A8D-44E1-B35D-0CCF3420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46888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P1-3: Cloud foundation + Linux + networking</a:t>
            </a:r>
            <a:endParaRPr sz="1100"/>
          </a:p>
        </p:txBody>
      </p:sp>
      <p:pic>
        <p:nvPicPr>
          <p:cNvPr id="4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a626afe1b43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1546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AC7B963F-B62B-461A-B022-EC97355F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06324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P4-6: Docker + Docker Compose stack</a:t>
            </a:r>
            <a:endParaRPr sz="1100"/>
          </a:p>
        </p:txBody>
      </p:sp>
      <p:pic>
        <p:nvPicPr>
          <p:cNvPr id="5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db2938d9a4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490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06149A24-31C4-4403-8AA1-010BA87B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65760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P7: Supabase BaaS (Postgres + Auth + pgvector)</a:t>
            </a:r>
            <a:endParaRPr sz="1100"/>
          </a:p>
        </p:txBody>
      </p:sp>
      <p:pic>
        <p:nvPicPr>
          <p:cNvPr id="5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00db2747b48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3434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F4A2BF23-7131-4701-95DE-9A222A7B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25196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P8: Vercel frontend deploy + serverless</a:t>
            </a:r>
            <a:endParaRPr sz="1100"/>
          </a:p>
        </p:txBody>
      </p:sp>
      <p:pic>
        <p:nvPicPr>
          <p:cNvPr id="5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0e8065e594b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9377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FE4BA4FA-C086-43CF-BB2C-F8EC0769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84632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P9-10: Hugging Face Spaces + ML production</a:t>
            </a:r>
            <a:endParaRPr sz="1100"/>
          </a:p>
        </p:txBody>
      </p:sp>
      <p:pic>
        <p:nvPicPr>
          <p:cNvPr id="56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462d3af434b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5321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3CE1324E-C7C6-43E0-98E8-EE331D79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44068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P11: LLM API + Embeddings + RAG pattern</a:t>
            </a:r>
            <a:endParaRPr sz="1100"/>
          </a:p>
        </p:txBody>
      </p:sp>
      <p:sp>
        <p:nvSpPr>
          <p:cNvPr id="24" name="Shape 14">
            <a:extLst xmlns:a="http://schemas.openxmlformats.org/drawingml/2006/main">
              <a:ext uri="{FF2B5EF4-FFF2-40B4-BE49-F238E27FC236}">
                <a16:creationId xmlns:a16="http://schemas.microsoft.com/office/drawing/2014/main" id="{BF737446-E010-4BBD-9AEA-C2744FDC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5" name="Text 15">
            <a:extLst xmlns:a="http://schemas.openxmlformats.org/drawingml/2006/main">
              <a:ext uri="{FF2B5EF4-FFF2-40B4-BE49-F238E27FC236}">
                <a16:creationId xmlns:a16="http://schemas.microsoft.com/office/drawing/2014/main" id="{9C9A8CF7-A6FD-4D02-BD0D-14EA8E03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HARI INI, KITA BAHAS: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Project Brief</a:t>
            </a:r>
            <a:endParaRPr sz="1100"/>
          </a:p>
        </p:txBody>
      </p:sp>
      <p:sp>
        <p:nvSpPr>
          <p:cNvPr id="26" name="Text 16">
            <a:extLst xmlns:a="http://schemas.openxmlformats.org/drawingml/2006/main">
              <a:ext uri="{FF2B5EF4-FFF2-40B4-BE49-F238E27FC236}">
                <a16:creationId xmlns:a16="http://schemas.microsoft.com/office/drawing/2014/main" id="{9EAE6F79-7BC3-41B5-A32E-6829580B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Scope + deliverables capstone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4 tema pilihan (atau bebas) + ide proyek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Reference architecture full stack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Finalisasi menuju UAS minggu 14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Integration pattern lintas service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6. Documentation + demo + grading rubric</a:t>
            </a:r>
            <a:endParaRPr sz="1200"/>
          </a:p>
        </p:txBody>
      </p:sp>
      <p:sp>
        <p:nvSpPr>
          <p:cNvPr id="27" name="Text 17">
            <a:extLst xmlns:a="http://schemas.openxmlformats.org/drawingml/2006/main">
              <a:ext uri="{FF2B5EF4-FFF2-40B4-BE49-F238E27FC236}">
                <a16:creationId xmlns:a16="http://schemas.microsoft.com/office/drawing/2014/main" id="{11B3CE7C-2564-4DDA-B152-463CA29F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Proyek kelompok 3 orang: checkpoint UTS minggu 7; sesi 12–13 untuk finalisasi dan gladi menuju UAS minggu 14.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840856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5E88406-A69D-4227-870D-4DA50B66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B29CC9A-8428-4015-8DE6-EB60FA12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61F3408-98C5-4C7E-BAA2-C02A2822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593e552e541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d6dca98ae4e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2E20A67-F0CB-4284-AD4F-70509F9A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EFEC11F-0CFF-4B55-9975-64442607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Learning Outcomes - Pertemuan 12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1D36A0F-2597-4E2B-9A52-A08ECD2F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Capaian Sesi Hari Ini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0E23DA33-850C-4797-98B8-3D697689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82C8924E-566C-4651-8D3E-EFA13648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8CCF69D3-0241-419B-8B28-1C8C8D10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8AC62C-AE65-4D9B-B8A5-B5384EAD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200"/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052e30cdb40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6000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CF81B6F4-47B9-4E68-A552-62C89AFF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Merancang</a:t>
            </a:r>
            <a:endParaRPr sz="17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490C96BB-A8AD-4920-A0E0-D2CC9FD4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ruang lingkup proyek kelompok yang realistis menuju presentasi UAS minggu 14.</a:t>
            </a:r>
            <a:endParaRPr sz="120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4E8749ED-4D26-4198-B625-BC5449EF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BDFC2622-86AF-445C-BE76-BD8942DF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5890858B-92C4-461A-B628-EC917184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DF5008DE-8E08-4B6A-A08D-1D233B3E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200"/>
          </a:p>
        </p:txBody>
      </p:sp>
      <p:pic>
        <p:nvPicPr>
          <p:cNvPr id="6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56713682a4b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8072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DCF42BD4-FA9B-4CD9-840F-64D91FBF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Memadukan</a:t>
            </a:r>
            <a:endParaRPr sz="17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2F5191CA-73DA-4F0F-8235-F2D7FABD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minimal 4 stack berbeda (Docker, Supabase, Vercel, HF/LLM) jadi 1 sistem.</a:t>
            </a:r>
            <a:endParaRPr sz="12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6C1863BC-A7C1-47AD-B5B5-D9FFE4B8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C3883010-BB62-43BC-B253-C9FF7EFF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FA989E9B-C1A5-468F-8448-A3D9802A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98403369-B3C4-43F2-BEEA-D751D945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2200"/>
          </a:p>
        </p:txBody>
      </p:sp>
      <p:pic>
        <p:nvPicPr>
          <p:cNvPr id="7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00387531144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0144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7EA2C036-ADB8-4920-A8B3-58D8758C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Menerbitkan</a:t>
            </a:r>
            <a:endParaRPr sz="1700"/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AAA308BE-8193-49C9-86DA-9305156C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live deployment + GitHub repo + dokumentasi + demo video.</a:t>
            </a:r>
            <a:endParaRPr sz="120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DF6C5A2E-67CB-4431-B92B-83A37092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DB9B2685-9982-4EDD-9EC5-803C84C5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619B7F51-3F23-4758-919B-32F67BA4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AB88533C-2009-4E04-92C9-524C1F12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2200"/>
          </a:p>
        </p:txBody>
      </p:sp>
      <p:pic>
        <p:nvPicPr>
          <p:cNvPr id="7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c3897f97e40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72216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E8DB4EA5-3E97-4D0A-A563-60E8BE55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Mempertanggungjawabkan</a:t>
            </a:r>
            <a:endParaRPr sz="1700"/>
          </a:p>
        </p:txBody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F12124C8-473E-499A-838C-4E23F953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trade-off design + production concerns (cost, monitoring, security).</a:t>
            </a:r>
            <a:endParaRPr sz="1200"/>
          </a:p>
        </p:txBody>
      </p:sp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69AED79A-6F39-4150-8C7E-3F3BAD06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50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Sesi ini mendukung:  </a:t>
            </a:r>
            <a:r>
              <a:rPr sz="1100" b="1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LO1 + LO2 + LO3 (semua) - capstone = capstone integration semua learning outcome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0374391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0EB73F1-7F5B-4064-9A87-DE5D6461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F6505B-0622-4A2E-A00A-EDDCA471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0C8A326-DE9A-4ACA-BCC8-19804A4F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81C01BE-F93F-452B-BBBB-BC5E193B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375CEED-B266-45DC-8708-AF91A9F6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AF33F7A-C9A1-418E-87BD-7EF05DC5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83EC8B5-55CA-4948-BA81-8599AD12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b6d7f093242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28a89651f049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FC1E206-1928-4DC3-9DD1-36286450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01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2DB3A7ED-C00D-4089-A155-152A3F15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Apa itu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Capstone?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E166D946-A47E-4618-9E8C-0E3CE1E7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D4239C8B-FA5F-4597-A9B6-8423A564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Bukan proyek baru - ini integrasi semua stack pertemuan 1-11.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338763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539A4BD-EEDF-4311-B5FE-ACD9CF0A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2ADB6FB-D7A4-4ACC-A9EA-97F86B18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3FBA033-48E7-423F-84E5-20B9341D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1c419250245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fccc0fd4047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B909E36-C7CF-41A3-89AA-008D3EA6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47AB3AA-9B1D-4D5B-878C-B8B52285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Capstone = Final Integration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56B60A4-7179-4AF7-99CB-939F5DDA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Satu proyek kelompok 3 orang menghubungkan latihan dari Lab 01–11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27C1ACF-D7D2-4CE5-9F12-FC8C7222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5405F8AD-186C-459D-810B-04F5AFAE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Bukan: </a:t>
            </a: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 dari nol fitur baru. </a:t>
            </a: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Tapi: </a:t>
            </a: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ambil setidaknya 4 stack yang sudah dipelajari + bikin sistem end-to-end.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Boleh pakai ulang kode praktikum 1-11. Fokus pada integrasi dan bukti uji.</a:t>
            </a:r>
            <a:endParaRPr sz="13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C5494E7A-B232-41BB-A97D-7C5336B7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Capstone dalam Angka</a:t>
            </a:r>
            <a:endParaRPr sz="14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F46276B6-2FC0-40B3-B450-08D605E5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2157984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9F9E20C3-484D-485F-B59F-BEE9C513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2157984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84C5221-FEF2-4813-B66C-F8355B76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15798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3</a:t>
            </a:r>
            <a:endParaRPr sz="36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4675CE6A-88D4-4CCF-8F97-5009CE98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0"/>
            <a:ext cx="1975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Anggota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per kelompok</a:t>
            </a:r>
            <a:endParaRPr sz="10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9A31DCD7-DD43-4014-B253-78B9602D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017520"/>
            <a:ext cx="2157984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4DAC4579-77F5-4C7B-885E-7423004C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017520"/>
            <a:ext cx="2157984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456F5EE9-D165-40CF-8B60-48D7E699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200400"/>
            <a:ext cx="215798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≥4</a:t>
            </a:r>
            <a:endParaRPr sz="36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9402CFA-937B-4722-9EA9-4D3DF3C4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784" y="3840480"/>
            <a:ext cx="1975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Stack dari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11 pertemuan</a:t>
            </a:r>
            <a:endParaRPr sz="100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1FE9D3A7-1C83-458D-AAAB-DFD92CB3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3017520"/>
            <a:ext cx="2157984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C4A51EB-8F69-4BC5-B748-B9137137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3017520"/>
            <a:ext cx="2157984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FB4ECA2-E899-456D-B79F-0DFD8E5A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3200400"/>
            <a:ext cx="215798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1</a:t>
            </a:r>
            <a:endParaRPr sz="36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682837E-8C0D-4999-85A9-5E6F16D9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840480"/>
            <a:ext cx="1975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Live deployment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yang functional</a:t>
            </a:r>
            <a:endParaRPr sz="1000"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60CF17B1-2D89-44BB-AE94-E30C252C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2" y="3017520"/>
            <a:ext cx="2157984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4196517-E20B-434C-9949-84EE403A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2" y="3017520"/>
            <a:ext cx="2157984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DBADEA56-18C8-40C6-8434-72AF39B5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2" y="3200400"/>
            <a:ext cx="215798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7C3AED"/>
                </a:solidFill>
                <a:latin typeface="Calibri"/>
                <a:ea typeface="Calibri"/>
                <a:cs typeface="Calibri"/>
              </a:rPr>
              <a:t>5 min</a:t>
            </a:r>
            <a:endParaRPr sz="36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FF3FAB41-BE0B-4DE3-B3AA-2481B344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3840480"/>
            <a:ext cx="1975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Demo video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+ presentation</a:t>
            </a:r>
            <a:endParaRPr sz="1000"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2102A74-C745-4B3D-96CF-1D9BFE11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7776" y="3017520"/>
            <a:ext cx="2157984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4A5E0821-E127-48D0-BEA7-D2CA98F4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7776" y="3017520"/>
            <a:ext cx="2157984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C7A210D2-0B30-454F-9094-3FA1BC9A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7776" y="3200400"/>
            <a:ext cx="215798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50%</a:t>
            </a:r>
            <a:endParaRPr sz="36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2C48C8CD-3758-49BB-9014-B749E51D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3840480"/>
            <a:ext cx="19751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Porsi proyek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lab kelompok</a:t>
            </a:r>
            <a:endParaRPr sz="1000"/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F3B67F11-3DC0-456E-8F01-57CF0030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7720"/>
            <a:ext cx="11247120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4BEB07F3-B5BD-46E2-8C46-54A43F5F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916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Course Learning Outcome Alignment</a:t>
            </a:r>
            <a:endParaRPr sz="1300"/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C495C2C6-D937-4D70-A654-7E814056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74920"/>
            <a:ext cx="1097280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CD40C86E-AE7F-4765-B1A4-00D52D78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74920"/>
            <a:ext cx="9144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AF156F2C-C862-4A1F-B44B-6750520D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1463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LO1 (C4-C5)</a:t>
            </a:r>
            <a:endParaRPr sz="10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934D4D8E-E262-4EE5-B03C-01E99B03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5074920"/>
            <a:ext cx="45720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Analyze + Evaluate cloud service models &amp; deployment options</a:t>
            </a:r>
            <a:endParaRPr sz="100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89C75164-9C4D-4334-A024-DE0238FB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5074920"/>
            <a:ext cx="44805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Justifikasi pilihan stack di README + presentation</a:t>
            </a:r>
            <a:endParaRPr sz="100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D498CE52-D9AF-4F4B-BE6D-507B0FBA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40680"/>
            <a:ext cx="1097280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A9C7CFAF-9827-4E68-AF88-9ABF8760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40680"/>
            <a:ext cx="9144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675D1FB6-6775-445B-9C77-50FB4A8E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40680"/>
            <a:ext cx="1463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LO2 (C3-C6)</a:t>
            </a:r>
            <a:endParaRPr sz="10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B742D111-21F0-4147-AC94-D54AA463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5440680"/>
            <a:ext cx="45720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Apply + Create cloud-native multi-tier application</a:t>
            </a:r>
            <a:endParaRPr sz="1000"/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12D37035-CD3E-42E5-A461-CCE2F4A4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5440680"/>
            <a:ext cx="44805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Live deployment dengan Docker + Supabase + Vercel</a:t>
            </a:r>
            <a:endParaRPr sz="1000"/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FA661D4D-CFC5-40D1-989E-4DE6B18C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06440"/>
            <a:ext cx="1097280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6" name="Shape 42">
            <a:extLst xmlns:a="http://schemas.openxmlformats.org/drawingml/2006/main">
              <a:ext uri="{FF2B5EF4-FFF2-40B4-BE49-F238E27FC236}">
                <a16:creationId xmlns:a16="http://schemas.microsoft.com/office/drawing/2014/main" id="{5D9C6D78-4A6B-4E01-A130-AB278740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06440"/>
            <a:ext cx="9144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9D9D94D9-0D14-4537-9C70-4E447921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06440"/>
            <a:ext cx="1463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LO3 (C5-C6)</a:t>
            </a:r>
            <a:endParaRPr sz="1000"/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524DC22-6FFF-4D52-B7AB-8FC80B20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5806440"/>
            <a:ext cx="45720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Evaluate + Create ML integration + applied ML topic</a:t>
            </a:r>
            <a:endParaRPr sz="1000"/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9945064D-5F68-455E-869A-89FFE6B5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5806440"/>
            <a:ext cx="44805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Integrasi HF/LLM (RAG, classifier, atau ML inference)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448683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FBAD6C-5EC0-45C2-A2E6-76590732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C7CF50D-66F7-4FF3-A1F9-0630C634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C5CBA40-0377-473D-B1E3-131C04AF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e3da763fa4d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d6cf0db7448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4E2B7DAD-09F2-4171-8EB3-B5AF109F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EBE9FAB-9AB3-4383-8368-7BE622D9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Deliverables - Yang Anda Kumpulkan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B39F4E6-173E-4A5F-A0F3-4B68EFCF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Artefak proyek dan makalah IEEE sesuai RPS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9966E53-5DE9-445F-A0D6-EC0EC792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AE92BF63-B6D7-413E-84D5-871AABEA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5E76AC15-88B5-411C-9D5F-07336178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002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2CAF769-4DC0-43CE-9CE9-EA0B26FB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0020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000"/>
          </a:p>
        </p:txBody>
      </p:sp>
      <p:pic>
        <p:nvPicPr>
          <p:cNvPr id="7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bf4699ce048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3040" y="16459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CB075FCB-01AE-4573-A6FB-40898FB1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5087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Live Deployment</a:t>
            </a:r>
            <a:endParaRPr sz="13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83DD5995-EE64-4F22-9147-DC951C33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74520"/>
            <a:ext cx="5120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URL publik frontend; backend teruji; ML lokal/Space sesuai akses akun.</a:t>
            </a:r>
            <a:endParaRPr sz="100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91BF3A0B-7984-4B69-9039-03224AF9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0200"/>
            <a:ext cx="42062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87F29E65-352C-4DF3-A266-08C247CB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600200"/>
            <a:ext cx="4023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https://myapp.vercel.app + uptime ≥ saat presentation</a:t>
            </a:r>
            <a:endParaRPr sz="95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D7BD6014-AD47-4120-8732-65520A09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F57D8409-CE7D-4C33-94C2-32F8C6D6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5B2C41A5-187B-4D85-8705-F6AE061D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F5A7EF3A-8F2D-4A32-96B7-FC5D1D96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000"/>
          </a:p>
        </p:txBody>
      </p:sp>
      <p:pic>
        <p:nvPicPr>
          <p:cNvPr id="8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22cd8e6774b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3040" y="260604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2A26608C-2BCF-48BD-B8A2-0FF0BBC6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4688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GitHub Repository</a:t>
            </a:r>
            <a:endParaRPr sz="13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FA2291A6-A72E-4BE2-BD7E-FA055A1E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834640"/>
            <a:ext cx="5120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Source code lengkap di public repo. Branches: main (stable) + feature/* (work in progress).</a:t>
            </a:r>
            <a:endParaRPr sz="1000"/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E9B023A0-F8C0-4E82-BEBD-1DE7BA5F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60320"/>
            <a:ext cx="42062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CB39FDA2-DE4A-4133-AFDB-BBE578B7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560320"/>
            <a:ext cx="4023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github.com/username/cloud-capstone-2026</a:t>
            </a:r>
            <a:endParaRPr sz="950"/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071E0DD0-968E-433B-A2D9-76DF7ECC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756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B94CFB8C-F7B7-4621-BE13-5461CDB5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756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C7F2D436-90BE-410B-99BC-5FA97345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BC63A624-4387-442A-B621-35A55D7C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2000"/>
          </a:p>
        </p:txBody>
      </p:sp>
      <p:pic>
        <p:nvPicPr>
          <p:cNvPr id="9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7debf990c4c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3040" y="356616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34A19A6-37A4-4D55-8052-8F2C8049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4290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README + IEEE Paper</a:t>
            </a:r>
            <a:endParaRPr sz="1300"/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D90EC3B-6A36-4E22-9445-7DF15280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794760"/>
            <a:ext cx="5120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Arsitektur, setup, metode, hasil ukur, analisis, sitasi IEEE, .env.example.</a:t>
            </a:r>
            <a:endParaRPr sz="1000"/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372DABB1-1746-43E7-AA8A-E1F343C1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20440"/>
            <a:ext cx="42062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B1FF31EA-8BF6-4711-AE6B-25FB37B8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520440"/>
            <a:ext cx="4023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Markdown standard sections (lihat slide 26)</a:t>
            </a:r>
            <a:endParaRPr sz="950"/>
          </a:p>
        </p:txBody>
      </p:sp>
      <p:sp>
        <p:nvSpPr>
          <p:cNvPr id="37" name="Shape 30">
            <a:extLst xmlns:a="http://schemas.openxmlformats.org/drawingml/2006/main">
              <a:ext uri="{FF2B5EF4-FFF2-40B4-BE49-F238E27FC236}">
                <a16:creationId xmlns:a16="http://schemas.microsoft.com/office/drawing/2014/main" id="{FFED5565-80F9-4B19-96A9-EE52EA6B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768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C30B606F-B291-46DF-AE61-D86C789E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768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9" name="Shape 32">
            <a:extLst xmlns:a="http://schemas.openxmlformats.org/drawingml/2006/main">
              <a:ext uri="{FF2B5EF4-FFF2-40B4-BE49-F238E27FC236}">
                <a16:creationId xmlns:a16="http://schemas.microsoft.com/office/drawing/2014/main" id="{BC0A96E3-7F8D-45B4-8C8F-7A680E81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805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40" name="Text 33">
            <a:extLst xmlns:a="http://schemas.openxmlformats.org/drawingml/2006/main">
              <a:ext uri="{FF2B5EF4-FFF2-40B4-BE49-F238E27FC236}">
                <a16:creationId xmlns:a16="http://schemas.microsoft.com/office/drawing/2014/main" id="{61CF7E9C-F38A-4C96-ADE2-0BD1DB3C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8056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2000"/>
          </a:p>
        </p:txBody>
      </p:sp>
      <p:pic>
        <p:nvPicPr>
          <p:cNvPr id="10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77766aecc4e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3040" y="452628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42" name="Text 34">
            <a:extLst xmlns:a="http://schemas.openxmlformats.org/drawingml/2006/main">
              <a:ext uri="{FF2B5EF4-FFF2-40B4-BE49-F238E27FC236}">
                <a16:creationId xmlns:a16="http://schemas.microsoft.com/office/drawing/2014/main" id="{0A94CDE2-1085-4B8F-8DF5-A4901462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43891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Demo Video</a:t>
            </a:r>
            <a:endParaRPr sz="1300"/>
          </a:p>
        </p:txBody>
      </p:sp>
      <p:sp>
        <p:nvSpPr>
          <p:cNvPr id="43" name="Text 35">
            <a:extLst xmlns:a="http://schemas.openxmlformats.org/drawingml/2006/main">
              <a:ext uri="{FF2B5EF4-FFF2-40B4-BE49-F238E27FC236}">
                <a16:creationId xmlns:a16="http://schemas.microsoft.com/office/drawing/2014/main" id="{8F0A77B8-C492-4CCB-B9F2-7B309B0D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4754880"/>
            <a:ext cx="5120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5 menit max - rekam screen showing user journey + arsitektur explanation.</a:t>
            </a:r>
            <a:endParaRPr sz="1000"/>
          </a:p>
        </p:txBody>
      </p:sp>
      <p:sp>
        <p:nvSpPr>
          <p:cNvPr id="44" name="Shape 36">
            <a:extLst xmlns:a="http://schemas.openxmlformats.org/drawingml/2006/main">
              <a:ext uri="{FF2B5EF4-FFF2-40B4-BE49-F238E27FC236}">
                <a16:creationId xmlns:a16="http://schemas.microsoft.com/office/drawing/2014/main" id="{1274C4E2-9DBE-40B9-B501-061A3AA1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80560"/>
            <a:ext cx="42062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5" name="Text 37">
            <a:extLst xmlns:a="http://schemas.openxmlformats.org/drawingml/2006/main">
              <a:ext uri="{FF2B5EF4-FFF2-40B4-BE49-F238E27FC236}">
                <a16:creationId xmlns:a16="http://schemas.microsoft.com/office/drawing/2014/main" id="{6606232F-ED94-4A61-A289-851CF62C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480560"/>
            <a:ext cx="4023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Upload ke YouTube unlisted / Drive shareable</a:t>
            </a:r>
            <a:endParaRPr sz="950"/>
          </a:p>
        </p:txBody>
      </p:sp>
      <p:sp>
        <p:nvSpPr>
          <p:cNvPr id="46" name="Shape 38">
            <a:extLst xmlns:a="http://schemas.openxmlformats.org/drawingml/2006/main">
              <a:ext uri="{FF2B5EF4-FFF2-40B4-BE49-F238E27FC236}">
                <a16:creationId xmlns:a16="http://schemas.microsoft.com/office/drawing/2014/main" id="{2E681645-7935-48BA-BC02-8A9A3CF3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7" name="Shape 39">
            <a:extLst xmlns:a="http://schemas.openxmlformats.org/drawingml/2006/main">
              <a:ext uri="{FF2B5EF4-FFF2-40B4-BE49-F238E27FC236}">
                <a16:creationId xmlns:a16="http://schemas.microsoft.com/office/drawing/2014/main" id="{FF2BA087-0DF0-405A-AADB-C9895EFA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8" name="Shape 40">
            <a:extLst xmlns:a="http://schemas.openxmlformats.org/drawingml/2006/main">
              <a:ext uri="{FF2B5EF4-FFF2-40B4-BE49-F238E27FC236}">
                <a16:creationId xmlns:a16="http://schemas.microsoft.com/office/drawing/2014/main" id="{9006218B-A845-40CE-AC14-17FBF52F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4068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49" name="Text 41">
            <a:extLst xmlns:a="http://schemas.openxmlformats.org/drawingml/2006/main">
              <a:ext uri="{FF2B5EF4-FFF2-40B4-BE49-F238E27FC236}">
                <a16:creationId xmlns:a16="http://schemas.microsoft.com/office/drawing/2014/main" id="{DDED9223-46B9-49A7-BFDB-4451F366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4068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2000"/>
          </a:p>
        </p:txBody>
      </p:sp>
      <p:pic>
        <p:nvPicPr>
          <p:cNvPr id="11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cd991f6144c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3040" y="54864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51" name="Text 42">
            <a:extLst xmlns:a="http://schemas.openxmlformats.org/drawingml/2006/main">
              <a:ext uri="{FF2B5EF4-FFF2-40B4-BE49-F238E27FC236}">
                <a16:creationId xmlns:a16="http://schemas.microsoft.com/office/drawing/2014/main" id="{DAE7F5BF-AC2E-4232-B96A-26259B45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534924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Presentation Slides</a:t>
            </a:r>
            <a:endParaRPr sz="1300"/>
          </a:p>
        </p:txBody>
      </p:sp>
      <p:sp>
        <p:nvSpPr>
          <p:cNvPr id="52" name="Text 43">
            <a:extLst xmlns:a="http://schemas.openxmlformats.org/drawingml/2006/main">
              <a:ext uri="{FF2B5EF4-FFF2-40B4-BE49-F238E27FC236}">
                <a16:creationId xmlns:a16="http://schemas.microsoft.com/office/drawing/2014/main" id="{E40EC5B8-6886-42D2-91C4-FF3A7918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5715000"/>
            <a:ext cx="5120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Siapkan slide masalah, arsitektur, demo, dan bukti uji untuk UAS minggu 14.</a:t>
            </a:r>
            <a:endParaRPr sz="1000"/>
          </a:p>
        </p:txBody>
      </p:sp>
      <p:sp>
        <p:nvSpPr>
          <p:cNvPr id="53" name="Shape 44">
            <a:extLst xmlns:a="http://schemas.openxmlformats.org/drawingml/2006/main">
              <a:ext uri="{FF2B5EF4-FFF2-40B4-BE49-F238E27FC236}">
                <a16:creationId xmlns:a16="http://schemas.microsoft.com/office/drawing/2014/main" id="{776CA5F3-20E1-4F20-994B-F9C489DB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40680"/>
            <a:ext cx="42062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54" name="Text 45">
            <a:extLst xmlns:a="http://schemas.openxmlformats.org/drawingml/2006/main">
              <a:ext uri="{FF2B5EF4-FFF2-40B4-BE49-F238E27FC236}">
                <a16:creationId xmlns:a16="http://schemas.microsoft.com/office/drawing/2014/main" id="{AE39C8E1-F547-4B6E-8AE0-8A40B0A4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5440680"/>
            <a:ext cx="4023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Ikuti tenggat resmi pada LMS sebelum UAS minggu 14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1523757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268B9E-6ECD-43FA-B131-5CB34F4F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76FD690-892D-402E-8FE8-28347B22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D0780B8-5AF1-4A75-AE15-057D6AC4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94DF264-ED83-4659-9BC6-BF00DD23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0899ADB-B957-4159-B34F-77CE39E8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948CE4C-57EC-4827-8441-90E06F79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084A489-16F4-4EC3-B4C5-F14BF0B5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fc57d4cce49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a1442f18c4a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738B0B3-5EEE-45DE-AF4A-A57F457E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02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21984E00-E13A-4F7E-8354-0C031F79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Pilihan Tema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639734A7-917F-4C81-8F48-5D3D1A71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D444189D-5BB6-4E54-82E9-0DA88BAC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4 tema referensi - atau bebas dengan persetujuan dosen.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3833220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A1F7E2E-D84A-4AF8-B64C-E61072D4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C46A1D0-4EC7-4D3C-99D8-DC4D368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0C42130-75DD-4CB0-8116-E87F3B20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d3f57633c43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f4dc383604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D7CAC639-760A-433D-BDB6-72CB23BD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CA7D1D2-A7BA-485B-93FC-B901B53E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4 Tema Referensi Project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3B7E21E-EBD9-4630-9451-6B89E6AF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Pilih salah satu atau jadikan inspirasi - level kesulitan setara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A903B2F-8673-4FCF-B83F-876370C6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3212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171CFCCB-9E38-4E56-B193-F736A2CB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321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2fbe81fdf41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1527048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73924533-03FC-4CB9-9E1F-84B5D187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417320"/>
            <a:ext cx="37033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RAG Knowledge Assistant</a:t>
            </a:r>
            <a:endParaRPr sz="1400"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D2E4F96F-AA61-4DBE-B756-56999B41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554480"/>
            <a:ext cx="109728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4023B97B-C2FA-433E-893C-02F60D28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554480"/>
            <a:ext cx="1097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100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Sedang</a:t>
            </a:r>
            <a:endParaRPr sz="9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51915B8E-18B9-443E-8970-3507625F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03120"/>
            <a:ext cx="5166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Problem:</a:t>
            </a:r>
            <a:endParaRPr sz="900"/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129876BB-7A23-47E3-844E-27B18078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31720"/>
            <a:ext cx="5166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User butuh tanya jawab atas dokumen privat (manual produk, FAQ, materi kuliah).</a:t>
            </a:r>
            <a:endParaRPr sz="105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C7125153-EF4E-4507-BF52-50F0DFE2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34640"/>
            <a:ext cx="5166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Stack yang Dipakai:</a:t>
            </a:r>
            <a:endParaRPr sz="900"/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06B1824F-6F98-4317-A096-D5065501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502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Next.js + Vercel UI</a:t>
            </a:r>
            <a:endParaRPr sz="1000"/>
          </a:p>
          <a:p xmlns:a="http://schemas.openxmlformats.org/drawingml/2006/main">
            <a:pPr marL="342900" indent="-342900">
              <a:spcAft>
                <a:spcPts val="1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Supabase Auth + pgvector</a:t>
            </a:r>
            <a:endParaRPr sz="1000"/>
          </a:p>
          <a:p xmlns:a="http://schemas.openxmlformats.org/drawingml/2006/main">
            <a:pPr marL="342900" indent="-342900">
              <a:spcAft>
                <a:spcPts val="1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OpenAI/Claude embed + LLM</a:t>
            </a:r>
            <a:endParaRPr sz="1000"/>
          </a:p>
          <a:p xmlns:a="http://schemas.openxmlformats.org/drawingml/2006/main">
            <a:pPr marL="342900" indent="-342900">
              <a:spcAft>
                <a:spcPts val="1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Docker FastAPI middleware</a:t>
            </a:r>
            <a:endParaRPr sz="1000"/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13723DC0-0421-4EF9-8FCE-2D939FB8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17320"/>
            <a:ext cx="553212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FC4A0632-3F38-41EE-879D-BF67D0DE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17320"/>
            <a:ext cx="55321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7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1db00321144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9360" y="1527048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0255092F-6480-458E-98FA-BE833A27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37033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Image Classifier Full Stack</a:t>
            </a:r>
            <a:endParaRPr sz="14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D3EE27F3-F90D-4206-B852-8D8B2E8F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1554480"/>
            <a:ext cx="109728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58C5C98B-6046-43FB-96A5-E72E1F05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1554480"/>
            <a:ext cx="1097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Sedang</a:t>
            </a:r>
            <a:endParaRPr sz="900"/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FDFDA84A-47EC-4BDE-86CE-5AD6389D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103120"/>
            <a:ext cx="5166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Problem:</a:t>
            </a:r>
            <a:endParaRPr sz="900"/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4C331B15-EE83-4BF5-8852-AF17A061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31720"/>
            <a:ext cx="5166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Upload gambar -&gt; klasifikasi ML -&gt; simpan history + visualize results.</a:t>
            </a:r>
            <a:endParaRPr sz="1050"/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9F28C375-05A1-4600-B2BE-5CF77653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34640"/>
            <a:ext cx="5166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Stack yang Dipakai:</a:t>
            </a:r>
            <a:endParaRPr sz="900"/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6A903400-D32B-4A09-902D-57980698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63240"/>
            <a:ext cx="502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Vercel Next.js frontend</a:t>
            </a:r>
            <a:endParaRPr sz="1000"/>
          </a:p>
          <a:p xmlns:a="http://schemas.openxmlformats.org/drawingml/2006/main">
            <a:pPr marL="342900" indent="-342900">
              <a:spcAft>
                <a:spcPts val="1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Supabase Storage + DB</a:t>
            </a:r>
            <a:endParaRPr sz="1000"/>
          </a:p>
          <a:p xmlns:a="http://schemas.openxmlformats.org/drawingml/2006/main">
            <a:pPr marL="342900" indent="-342900">
              <a:spcAft>
                <a:spcPts val="1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Gradio lokal / HF bila akses tersedia</a:t>
            </a:r>
            <a:endParaRPr sz="1000"/>
          </a:p>
          <a:p xmlns:a="http://schemas.openxmlformats.org/drawingml/2006/main">
            <a:pPr marL="342900" indent="-342900">
              <a:spcAft>
                <a:spcPts val="1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Docker preprocessing</a:t>
            </a:r>
            <a:endParaRPr sz="1000"/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635D64E-C59B-4E56-9451-360AAEC0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553212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CA79F461-9B5D-4D5B-863A-C2E0C300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55321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8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2510c260c4e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3995928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343A5421-949B-4804-B3F5-23F158FE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886200"/>
            <a:ext cx="37033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Sentiment Analyzer Dashboard</a:t>
            </a:r>
            <a:endParaRPr sz="1400"/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E88F87DB-5926-4672-A2F4-120DD904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023360"/>
            <a:ext cx="109728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027DC6F7-C513-47EC-ABF9-54207839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023360"/>
            <a:ext cx="1097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1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Sedang</a:t>
            </a:r>
            <a:endParaRPr sz="900"/>
          </a:p>
        </p:txBody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45F8C907-311F-4B84-AC48-D999DDA6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5166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Problem:</a:t>
            </a:r>
            <a:endParaRPr sz="900"/>
          </a:p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27590160-B1BF-4AA8-BF53-CC9A4FD2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0600"/>
            <a:ext cx="5166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Analyze sentiment review batch (CSV/API) - dashboard real-time + drift monitor.</a:t>
            </a:r>
            <a:endParaRPr sz="1050"/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10C40E15-5E20-41C2-83A6-CA5E78DE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5166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Stack yang Dipakai:</a:t>
            </a:r>
            <a:endParaRPr sz="900"/>
          </a:p>
        </p:txBody>
      </p:sp>
      <p:sp>
        <p:nvSpPr>
          <p:cNvPr id="39" name="Text 32">
            <a:extLst xmlns:a="http://schemas.openxmlformats.org/drawingml/2006/main">
              <a:ext uri="{FF2B5EF4-FFF2-40B4-BE49-F238E27FC236}">
                <a16:creationId xmlns:a16="http://schemas.microsoft.com/office/drawing/2014/main" id="{83E6574E-33EB-4BAC-B02F-2A32CC09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32120"/>
            <a:ext cx="502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Streamlit/Next.js dashboard</a:t>
            </a:r>
            <a:endParaRPr sz="1000"/>
          </a:p>
          <a:p xmlns:a="http://schemas.openxmlformats.org/drawingml/2006/main">
            <a:pPr marL="342900" indent="-342900">
              <a:spcAft>
                <a:spcPts val="1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Supabase realtime DB</a:t>
            </a:r>
            <a:endParaRPr sz="1000"/>
          </a:p>
          <a:p xmlns:a="http://schemas.openxmlformats.org/drawingml/2006/main">
            <a:pPr marL="342900" indent="-342900">
              <a:spcAft>
                <a:spcPts val="1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HF transformers (IndoBERT)</a:t>
            </a:r>
            <a:endParaRPr sz="1000"/>
          </a:p>
          <a:p xmlns:a="http://schemas.openxmlformats.org/drawingml/2006/main">
            <a:pPr marL="342900" indent="-342900">
              <a:spcAft>
                <a:spcPts val="1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Docker scheduled job</a:t>
            </a:r>
            <a:endParaRPr sz="1000"/>
          </a:p>
        </p:txBody>
      </p:sp>
      <p:sp>
        <p:nvSpPr>
          <p:cNvPr id="40" name="Shape 33">
            <a:extLst xmlns:a="http://schemas.openxmlformats.org/drawingml/2006/main">
              <a:ext uri="{FF2B5EF4-FFF2-40B4-BE49-F238E27FC236}">
                <a16:creationId xmlns:a16="http://schemas.microsoft.com/office/drawing/2014/main" id="{8E1035A8-2591-48F3-8E67-BC3C6B6F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86200"/>
            <a:ext cx="553212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Shape 34">
            <a:extLst xmlns:a="http://schemas.openxmlformats.org/drawingml/2006/main">
              <a:ext uri="{FF2B5EF4-FFF2-40B4-BE49-F238E27FC236}">
                <a16:creationId xmlns:a16="http://schemas.microsoft.com/office/drawing/2014/main" id="{D98D078B-012B-44DB-85CB-3046B91D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86200"/>
            <a:ext cx="55321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pic>
        <p:nvPicPr>
          <p:cNvPr id="9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2e6b5b9c444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9360" y="3995928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3" name="Text 35">
            <a:extLst xmlns:a="http://schemas.openxmlformats.org/drawingml/2006/main">
              <a:ext uri="{FF2B5EF4-FFF2-40B4-BE49-F238E27FC236}">
                <a16:creationId xmlns:a16="http://schemas.microsoft.com/office/drawing/2014/main" id="{310E51F5-913D-4A1E-8AD6-B01449D4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886200"/>
            <a:ext cx="37033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Chatbot dengan Memory</a:t>
            </a:r>
            <a:endParaRPr sz="1400"/>
          </a:p>
        </p:txBody>
      </p:sp>
      <p:sp>
        <p:nvSpPr>
          <p:cNvPr id="44" name="Shape 36">
            <a:extLst xmlns:a="http://schemas.openxmlformats.org/drawingml/2006/main">
              <a:ext uri="{FF2B5EF4-FFF2-40B4-BE49-F238E27FC236}">
                <a16:creationId xmlns:a16="http://schemas.microsoft.com/office/drawing/2014/main" id="{BB404895-CC4A-49D6-A0FF-B4685C83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4023360"/>
            <a:ext cx="109728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45" name="Text 37">
            <a:extLst xmlns:a="http://schemas.openxmlformats.org/drawingml/2006/main">
              <a:ext uri="{FF2B5EF4-FFF2-40B4-BE49-F238E27FC236}">
                <a16:creationId xmlns:a16="http://schemas.microsoft.com/office/drawing/2014/main" id="{7218DDD6-29A2-416D-B32C-BC5FA6A4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4023360"/>
            <a:ext cx="1097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100">
                <a:solidFill>
                  <a:srgbClr val="7C3AED"/>
                </a:solidFill>
                <a:latin typeface="Calibri"/>
                <a:ea typeface="Calibri"/>
                <a:cs typeface="Calibri"/>
              </a:rPr>
              <a:t>Lebih ringan</a:t>
            </a:r>
            <a:endParaRPr sz="900"/>
          </a:p>
        </p:txBody>
      </p:sp>
      <p:sp>
        <p:nvSpPr>
          <p:cNvPr id="46" name="Text 38">
            <a:extLst xmlns:a="http://schemas.openxmlformats.org/drawingml/2006/main">
              <a:ext uri="{FF2B5EF4-FFF2-40B4-BE49-F238E27FC236}">
                <a16:creationId xmlns:a16="http://schemas.microsoft.com/office/drawing/2014/main" id="{9BA02983-D119-48F7-949A-CD7C160E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00"/>
            <a:ext cx="5166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Problem:</a:t>
            </a:r>
            <a:endParaRPr sz="900"/>
          </a:p>
        </p:txBody>
      </p:sp>
      <p:sp>
        <p:nvSpPr>
          <p:cNvPr id="47" name="Text 39">
            <a:extLst xmlns:a="http://schemas.openxmlformats.org/drawingml/2006/main">
              <a:ext uri="{FF2B5EF4-FFF2-40B4-BE49-F238E27FC236}">
                <a16:creationId xmlns:a16="http://schemas.microsoft.com/office/drawing/2014/main" id="{5EEC2EB1-E44C-4CD3-8754-F3DEEB74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800600"/>
            <a:ext cx="5166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Chatbot personalized - ingat conversation history + user profile, deploy ke web.</a:t>
            </a:r>
            <a:endParaRPr sz="1050"/>
          </a:p>
        </p:txBody>
      </p:sp>
      <p:sp>
        <p:nvSpPr>
          <p:cNvPr id="48" name="Text 40">
            <a:extLst xmlns:a="http://schemas.openxmlformats.org/drawingml/2006/main">
              <a:ext uri="{FF2B5EF4-FFF2-40B4-BE49-F238E27FC236}">
                <a16:creationId xmlns:a16="http://schemas.microsoft.com/office/drawing/2014/main" id="{914BAD86-FFA8-47E8-A917-D3F0D4EE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303520"/>
            <a:ext cx="5166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Stack yang Dipakai:</a:t>
            </a:r>
            <a:endParaRPr sz="900"/>
          </a:p>
        </p:txBody>
      </p:sp>
      <p:sp>
        <p:nvSpPr>
          <p:cNvPr id="49" name="Text 41">
            <a:extLst xmlns:a="http://schemas.openxmlformats.org/drawingml/2006/main">
              <a:ext uri="{FF2B5EF4-FFF2-40B4-BE49-F238E27FC236}">
                <a16:creationId xmlns:a16="http://schemas.microsoft.com/office/drawing/2014/main" id="{C3D707B0-EBAE-47D8-BA4B-01E0507D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532120"/>
            <a:ext cx="502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Vercel Next.js chat UI</a:t>
            </a:r>
            <a:endParaRPr sz="1000"/>
          </a:p>
          <a:p xmlns:a="http://schemas.openxmlformats.org/drawingml/2006/main">
            <a:pPr marL="342900" indent="-342900">
              <a:spcAft>
                <a:spcPts val="1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Supabase Auth + JSONB</a:t>
            </a:r>
            <a:endParaRPr sz="1000"/>
          </a:p>
          <a:p xmlns:a="http://schemas.openxmlformats.org/drawingml/2006/main">
            <a:pPr marL="342900" indent="-342900">
              <a:spcAft>
                <a:spcPts val="1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LLM API + function calling</a:t>
            </a:r>
            <a:endParaRPr sz="1000"/>
          </a:p>
          <a:p xmlns:a="http://schemas.openxmlformats.org/drawingml/2006/main">
            <a:pPr marL="342900" indent="-342900">
              <a:spcAft>
                <a:spcPts val="100"/>
              </a:spcAft>
              <a:buSzPct val="100000"/>
              <a:buChar char="▸"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Redis cache (Docker)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305938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EB2C8D4-4F00-4AE5-B8F5-B40001DA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93D610D-5905-4C12-8687-0220D392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DA35EC0-6ABE-40A4-8017-B09B3347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6bcd32bae41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3365b1b924b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0B516CB-305C-40A2-BFFD-87EC7A98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EC20993-1335-4938-AC75-65FBAF89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Bebas Pilih Tema Sendiri? Boleh!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CA69A78-D501-4237-A910-F1FE68C9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Asal memenuhi criteria di bawah - approve dosen sebelum mulai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673FE862-7EAF-44EF-B61B-7AE3243D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7E6373F1-8720-4BF2-9A7A-9CDCCF26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0565F14-162D-4624-91E5-2F492989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CRITERIA - Tema Bebas Diterima</a:t>
            </a:r>
            <a:endParaRPr sz="1400"/>
          </a:p>
        </p:txBody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56223a85549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2860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10E95CEA-311A-4AE5-BE85-6BC5D38A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19456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minimum 4 stack dari 11 pertemuan</a:t>
            </a:r>
            <a:endParaRPr sz="1100"/>
          </a:p>
        </p:txBody>
      </p:sp>
      <p:pic>
        <p:nvPicPr>
          <p:cNvPr id="6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56223a85549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8803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02FA6411-485B-425A-958D-B5DA94FF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78892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Ada komponen ML (HF / LLM / klasifikasi)</a:t>
            </a:r>
            <a:endParaRPr sz="1100"/>
          </a:p>
        </p:txBody>
      </p:sp>
      <p:pic>
        <p:nvPicPr>
          <p:cNvPr id="7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56223a85549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4747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8" name="Text 11">
            <a:extLst xmlns:a="http://schemas.openxmlformats.org/drawingml/2006/main">
              <a:ext uri="{FF2B5EF4-FFF2-40B4-BE49-F238E27FC236}">
                <a16:creationId xmlns:a16="http://schemas.microsoft.com/office/drawing/2014/main" id="{16066A4F-E1A0-4D0B-A479-A542FB6F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38328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Live deployment functional saat presentation</a:t>
            </a:r>
            <a:endParaRPr sz="1100"/>
          </a:p>
        </p:txBody>
      </p:sp>
      <p:pic>
        <p:nvPicPr>
          <p:cNvPr id="7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56223a85549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0690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0" name="Text 12">
            <a:extLst xmlns:a="http://schemas.openxmlformats.org/drawingml/2006/main">
              <a:ext uri="{FF2B5EF4-FFF2-40B4-BE49-F238E27FC236}">
                <a16:creationId xmlns:a16="http://schemas.microsoft.com/office/drawing/2014/main" id="{FC9E294F-CACB-4A9D-B610-5D5C789D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97764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Multi-user (auth) atau multi-step workflow</a:t>
            </a:r>
            <a:endParaRPr sz="1100"/>
          </a:p>
        </p:txBody>
      </p:sp>
      <p:pic>
        <p:nvPicPr>
          <p:cNvPr id="7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56223a85549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6634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2" name="Text 13">
            <a:extLst xmlns:a="http://schemas.openxmlformats.org/drawingml/2006/main">
              <a:ext uri="{FF2B5EF4-FFF2-40B4-BE49-F238E27FC236}">
                <a16:creationId xmlns:a16="http://schemas.microsoft.com/office/drawing/2014/main" id="{96AAFFAB-758B-42E1-98C4-B8CD4CEF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7200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Dapat dikerjakan kelompok 3 orang sesuai lingkup</a:t>
            </a:r>
            <a:endParaRPr sz="1100"/>
          </a:p>
        </p:txBody>
      </p:sp>
      <p:pic>
        <p:nvPicPr>
          <p:cNvPr id="76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56223a85549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578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ext 14">
            <a:extLst xmlns:a="http://schemas.openxmlformats.org/drawingml/2006/main">
              <a:ext uri="{FF2B5EF4-FFF2-40B4-BE49-F238E27FC236}">
                <a16:creationId xmlns:a16="http://schemas.microsoft.com/office/drawing/2014/main" id="{A81329EC-EFC8-41CD-A7A9-CCD25D9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16636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Diskusikan tema melalui kanal kelas resmi</a:t>
            </a:r>
            <a:endParaRPr sz="1100"/>
          </a:p>
        </p:txBody>
      </p:sp>
      <p:sp>
        <p:nvSpPr>
          <p:cNvPr id="25" name="Shape 15">
            <a:extLst xmlns:a="http://schemas.openxmlformats.org/drawingml/2006/main">
              <a:ext uri="{FF2B5EF4-FFF2-40B4-BE49-F238E27FC236}">
                <a16:creationId xmlns:a16="http://schemas.microsoft.com/office/drawing/2014/main" id="{7545F494-1569-437C-B9B4-26938484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6" name="Shape 16">
            <a:extLst xmlns:a="http://schemas.openxmlformats.org/drawingml/2006/main">
              <a:ext uri="{FF2B5EF4-FFF2-40B4-BE49-F238E27FC236}">
                <a16:creationId xmlns:a16="http://schemas.microsoft.com/office/drawing/2014/main" id="{1A507A72-72F0-4F54-92A1-B2889AED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27" name="Text 17">
            <a:extLst xmlns:a="http://schemas.openxmlformats.org/drawingml/2006/main">
              <a:ext uri="{FF2B5EF4-FFF2-40B4-BE49-F238E27FC236}">
                <a16:creationId xmlns:a16="http://schemas.microsoft.com/office/drawing/2014/main" id="{A2FD6608-15C6-4D8F-B1EE-43DED456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HINDARI - Akan Ditolak</a:t>
            </a:r>
            <a:endParaRPr sz="1400"/>
          </a:p>
        </p:txBody>
      </p:sp>
      <p:pic>
        <p:nvPicPr>
          <p:cNvPr id="81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562e8b84946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22860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9" name="Text 18">
            <a:extLst xmlns:a="http://schemas.openxmlformats.org/drawingml/2006/main">
              <a:ext uri="{FF2B5EF4-FFF2-40B4-BE49-F238E27FC236}">
                <a16:creationId xmlns:a16="http://schemas.microsoft.com/office/drawing/2014/main" id="{49BDE7C9-86A3-4C7D-ABC0-D143444C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194560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Re-skin tugas pertemuan tanpa addition baru</a:t>
            </a:r>
            <a:endParaRPr sz="1100"/>
          </a:p>
        </p:txBody>
      </p:sp>
      <p:pic>
        <p:nvPicPr>
          <p:cNvPr id="83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562e8b84946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28803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1" name="Text 19">
            <a:extLst xmlns:a="http://schemas.openxmlformats.org/drawingml/2006/main">
              <a:ext uri="{FF2B5EF4-FFF2-40B4-BE49-F238E27FC236}">
                <a16:creationId xmlns:a16="http://schemas.microsoft.com/office/drawing/2014/main" id="{B3367E00-4B48-4C1C-9699-8485FCB0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788920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Tema yang sudah jadi product (Notion AI clone)</a:t>
            </a:r>
            <a:endParaRPr sz="1100"/>
          </a:p>
        </p:txBody>
      </p:sp>
      <p:pic>
        <p:nvPicPr>
          <p:cNvPr id="85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562e8b84946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34747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3" name="Text 20">
            <a:extLst xmlns:a="http://schemas.openxmlformats.org/drawingml/2006/main">
              <a:ext uri="{FF2B5EF4-FFF2-40B4-BE49-F238E27FC236}">
                <a16:creationId xmlns:a16="http://schemas.microsoft.com/office/drawing/2014/main" id="{E093EC71-5C9A-4F49-88FA-95DBF97C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383280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Crypto/trading bot - regulator + scope</a:t>
            </a:r>
            <a:endParaRPr sz="1100"/>
          </a:p>
        </p:txBody>
      </p:sp>
      <p:pic>
        <p:nvPicPr>
          <p:cNvPr id="87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562e8b84946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40690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5" name="Text 21">
            <a:extLst xmlns:a="http://schemas.openxmlformats.org/drawingml/2006/main">
              <a:ext uri="{FF2B5EF4-FFF2-40B4-BE49-F238E27FC236}">
                <a16:creationId xmlns:a16="http://schemas.microsoft.com/office/drawing/2014/main" id="{B7690300-7CC8-4F34-87AF-FCF5F2C9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977640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Train model from scratch (focus integrasi)</a:t>
            </a:r>
            <a:endParaRPr sz="1100"/>
          </a:p>
        </p:txBody>
      </p:sp>
      <p:pic>
        <p:nvPicPr>
          <p:cNvPr id="89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562e8b84946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46634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7" name="Text 22">
            <a:extLst xmlns:a="http://schemas.openxmlformats.org/drawingml/2006/main">
              <a:ext uri="{FF2B5EF4-FFF2-40B4-BE49-F238E27FC236}">
                <a16:creationId xmlns:a16="http://schemas.microsoft.com/office/drawing/2014/main" id="{FF9D8535-5162-4953-8461-909D17AC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572000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Mobile native (luar scope cloud course)</a:t>
            </a:r>
            <a:endParaRPr sz="1100"/>
          </a:p>
        </p:txBody>
      </p:sp>
      <p:pic>
        <p:nvPicPr>
          <p:cNvPr id="91" name="Im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562e8b84946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52578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9" name="Text 23">
            <a:extLst xmlns:a="http://schemas.openxmlformats.org/drawingml/2006/main">
              <a:ext uri="{FF2B5EF4-FFF2-40B4-BE49-F238E27FC236}">
                <a16:creationId xmlns:a16="http://schemas.microsoft.com/office/drawing/2014/main" id="{53FBA593-9069-4C8A-8FEA-0BC4F846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5166360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Cuma terminal CLI tanpa cloud component</a:t>
            </a:r>
            <a:endParaRPr sz="1100"/>
          </a:p>
        </p:txBody>
      </p:sp>
      <p:sp>
        <p:nvSpPr>
          <p:cNvPr id="40" name="Text 24">
            <a:extLst xmlns:a="http://schemas.openxmlformats.org/drawingml/2006/main">
              <a:ext uri="{FF2B5EF4-FFF2-40B4-BE49-F238E27FC236}">
                <a16:creationId xmlns:a16="http://schemas.microsoft.com/office/drawing/2014/main" id="{E7D68413-F14C-407A-ABF3-6FC0D9C9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Untuk tema sendiri, siapkan ringkasan masalah, stack, dan arsitektur; diskusikan dengan dosen sesuai kanal resmi.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465303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25BB2E7-C00D-4BE8-AB88-341083A9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36C749-C87E-41AD-BD8B-38EF46EC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7D06EFA-CDC8-4CE9-80B6-318DE448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B5F0F8-6772-482D-957A-B840D202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B09FE8F-97F4-4F48-8158-4F018489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50A9220-4C65-4526-A2B9-1451179D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3DF26E4-C106-4008-93E7-CF5BAD7F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fc6684ef94a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8be5733a447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FF57950-59A1-4320-8A6E-416081A4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03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A0C6B357-37D4-4590-91A3-1DD1C2E0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Reference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Architecture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AC7833B3-828B-46EB-9B58-949EF6B2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B8E2EC3-3091-4B22-BCC9-2E2825EA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Template arsitektur full stack yang bisa dimodifikasi.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8296104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26C3BB3-AB7E-4C73-B1A2-81A81C38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08488BF-7BB5-4894-8DDE-D692D8DB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B83257E-0326-475E-9485-B596E45C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08b902d6543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2047faa0244d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E682156-7D89-4363-A162-B5A1FA43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752FEC3-8236-4767-9081-C679A1C0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Reference Architecture - Full Stack Capstone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4A69A6B-BF08-40D6-9C80-B5E2DC8A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Pola umum yang fit semua 4 tema referensi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71DD960-C4A9-4A5E-8C9D-283DE8E9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A0EB67E1-0823-4ABB-8A94-06440FB3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91640"/>
            <a:ext cx="14630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pic>
        <p:nvPicPr>
          <p:cNvPr id="6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c15cd55b24e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17830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7440E3C1-F90F-4896-8172-398C6F56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91640"/>
            <a:ext cx="868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User Browser</a:t>
            </a:r>
            <a:endParaRPr sz="1000"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979299B0-ECC4-4FB0-BE9C-9F79936C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377440"/>
            <a:ext cx="365760" cy="27432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2E92F0C6-3B61-47D1-BB07-E24CDDD7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12471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pic>
        <p:nvPicPr>
          <p:cNvPr id="6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d2df9abf84e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28803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D19CC859-780E-4D51-9A56-4753CFD5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4320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Frontend Layer - Vercel (Next.js)</a:t>
            </a:r>
            <a:endParaRPr sz="1300"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1640FD12-9A3A-459D-920A-EB4802D0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10896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UI + API routes + serverless functions + edge cache</a:t>
            </a:r>
            <a:endParaRPr sz="9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7FEB391A-D05F-4D9A-979D-82CFBF3B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2743200"/>
            <a:ext cx="731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P8</a:t>
            </a:r>
            <a:endParaRPr sz="16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9890FE3B-B853-4775-B7FB-B2BC4A99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548640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F8E"/>
          </a:solidFill>
          <a:ln xmlns:a="http://schemas.openxmlformats.org/drawingml/2006/main" w="12700">
            <a:solidFill>
              <a:srgbClr val="3ECF8E"/>
            </a:solidFill>
            <a:prstDash val="solid"/>
          </a:ln>
        </p:spPr>
      </p:sp>
      <p:pic>
        <p:nvPicPr>
          <p:cNvPr id="7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ed78021da42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379476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3EA91A04-61FD-47AE-B239-3DCD8D36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657600"/>
            <a:ext cx="4160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Supabase (Postgres + Auth + Storage + pgvector)</a:t>
            </a:r>
            <a:endParaRPr sz="1100"/>
          </a:p>
        </p:txBody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EB0641E2-3C0B-4D55-9DF4-5C0F058E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023360"/>
            <a:ext cx="4160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Data, user auth, file storage, vector embeddings</a:t>
            </a:r>
            <a:endParaRPr sz="900"/>
          </a:p>
        </p:txBody>
      </p:sp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FEE15DDD-8129-47F5-ACB6-2028AAE7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97680"/>
            <a:ext cx="4160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RLS + JWT + Real-time subscriptions</a:t>
            </a:r>
            <a:endParaRPr sz="900"/>
          </a:p>
        </p:txBody>
      </p:sp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9EF981A9-E121-4FBA-B32D-4A38AD97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657600"/>
            <a:ext cx="6400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P7+P11</a:t>
            </a:r>
            <a:endParaRPr sz="1400"/>
          </a:p>
        </p:txBody>
      </p:sp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1D8972B9-24EC-489E-8BB6-84329F05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657600"/>
            <a:ext cx="557784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12700">
            <a:solidFill>
              <a:srgbClr val="2496ED"/>
            </a:solidFill>
            <a:prstDash val="solid"/>
          </a:ln>
        </p:spPr>
      </p:sp>
      <p:pic>
        <p:nvPicPr>
          <p:cNvPr id="7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3f46f2fe244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9360" y="379476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9B70AF89-7856-4FB0-A704-2068E18F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657600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Docker Containers (Custom Service)</a:t>
            </a:r>
            <a:endParaRPr sz="1100"/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C7636E59-1174-46FA-9869-D3AFE2AA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023360"/>
            <a:ext cx="4023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FastAPI middleware, async workers, custom logic</a:t>
            </a:r>
            <a:endParaRPr sz="900"/>
          </a:p>
        </p:txBody>
      </p:sp>
      <p:sp>
        <p:nvSpPr>
          <p:cNvPr id="30" name="Text 22">
            <a:extLst xmlns:a="http://schemas.openxmlformats.org/drawingml/2006/main">
              <a:ext uri="{FF2B5EF4-FFF2-40B4-BE49-F238E27FC236}">
                <a16:creationId xmlns:a16="http://schemas.microsoft.com/office/drawing/2014/main" id="{F5F85E3D-E3A8-4A4E-AE4B-57F29708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297680"/>
            <a:ext cx="4023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Deploy ke Railway / Render / Fly.io / Oracle Cloud</a:t>
            </a:r>
            <a:endParaRPr sz="900"/>
          </a:p>
        </p:txBody>
      </p:sp>
      <p:sp>
        <p:nvSpPr>
          <p:cNvPr id="31" name="Text 23">
            <a:extLst xmlns:a="http://schemas.openxmlformats.org/drawingml/2006/main">
              <a:ext uri="{FF2B5EF4-FFF2-40B4-BE49-F238E27FC236}">
                <a16:creationId xmlns:a16="http://schemas.microsoft.com/office/drawing/2014/main" id="{1819784E-5839-4BE5-8A3C-707CEEF3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3657600"/>
            <a:ext cx="7315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P4-6</a:t>
            </a:r>
            <a:endParaRPr sz="1400"/>
          </a:p>
        </p:txBody>
      </p:sp>
      <p:sp>
        <p:nvSpPr>
          <p:cNvPr id="32" name="Shape 24">
            <a:extLst xmlns:a="http://schemas.openxmlformats.org/drawingml/2006/main">
              <a:ext uri="{FF2B5EF4-FFF2-40B4-BE49-F238E27FC236}">
                <a16:creationId xmlns:a16="http://schemas.microsoft.com/office/drawing/2014/main" id="{221EA9D2-6CB0-4155-ACC5-19F6F96A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83480"/>
            <a:ext cx="548640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E"/>
          </a:solidFill>
          <a:ln xmlns:a="http://schemas.openxmlformats.org/drawingml/2006/main" w="12700">
            <a:solidFill>
              <a:srgbClr val="FFD21E"/>
            </a:solidFill>
            <a:prstDash val="solid"/>
          </a:ln>
        </p:spPr>
      </p:sp>
      <p:pic>
        <p:nvPicPr>
          <p:cNvPr id="8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f1131c18747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512064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34" name="Text 25">
            <a:extLst xmlns:a="http://schemas.openxmlformats.org/drawingml/2006/main">
              <a:ext uri="{FF2B5EF4-FFF2-40B4-BE49-F238E27FC236}">
                <a16:creationId xmlns:a16="http://schemas.microsoft.com/office/drawing/2014/main" id="{039343DF-7FEE-48E3-81D6-F4D8E0E8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983480"/>
            <a:ext cx="4160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HF Spaces / Inference API</a:t>
            </a:r>
            <a:endParaRPr sz="1100"/>
          </a:p>
        </p:txBody>
      </p:sp>
      <p:sp>
        <p:nvSpPr>
          <p:cNvPr id="35" name="Text 26">
            <a:extLst xmlns:a="http://schemas.openxmlformats.org/drawingml/2006/main">
              <a:ext uri="{FF2B5EF4-FFF2-40B4-BE49-F238E27FC236}">
                <a16:creationId xmlns:a16="http://schemas.microsoft.com/office/drawing/2014/main" id="{242DE04A-2BF7-49BE-9B29-80996B20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49240"/>
            <a:ext cx="4160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Pretrained model: ViT, BERT, Whisper, IndoBERT</a:t>
            </a:r>
            <a:endParaRPr sz="900"/>
          </a:p>
        </p:txBody>
      </p:sp>
      <p:sp>
        <p:nvSpPr>
          <p:cNvPr id="36" name="Text 27">
            <a:extLst xmlns:a="http://schemas.openxmlformats.org/drawingml/2006/main">
              <a:ext uri="{FF2B5EF4-FFF2-40B4-BE49-F238E27FC236}">
                <a16:creationId xmlns:a16="http://schemas.microsoft.com/office/drawing/2014/main" id="{5A5C6F3A-B2E7-4608-BDFD-E2C9E930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623560"/>
            <a:ext cx="4160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Gradio/Streamlit demo + REST endpoint</a:t>
            </a:r>
            <a:endParaRPr sz="900"/>
          </a:p>
        </p:txBody>
      </p:sp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C4F85EC6-2FCA-4C0A-A31D-4A4CB3CF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4983480"/>
            <a:ext cx="6400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P9-10</a:t>
            </a:r>
            <a:endParaRPr sz="1400"/>
          </a:p>
        </p:txBody>
      </p:sp>
      <p:sp>
        <p:nvSpPr>
          <p:cNvPr id="38" name="Shape 29">
            <a:extLst xmlns:a="http://schemas.openxmlformats.org/drawingml/2006/main">
              <a:ext uri="{FF2B5EF4-FFF2-40B4-BE49-F238E27FC236}">
                <a16:creationId xmlns:a16="http://schemas.microsoft.com/office/drawing/2014/main" id="{8C88CE0D-C305-4E5A-8A3B-FD1577DC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983480"/>
            <a:ext cx="557784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2991"/>
          </a:solidFill>
          <a:ln xmlns:a="http://schemas.openxmlformats.org/drawingml/2006/main" w="12700">
            <a:solidFill>
              <a:srgbClr val="412991"/>
            </a:solidFill>
            <a:prstDash val="solid"/>
          </a:ln>
        </p:spPr>
      </p:sp>
      <p:pic>
        <p:nvPicPr>
          <p:cNvPr id="90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81b80f4144b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9360" y="512064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40" name="Text 30">
            <a:extLst xmlns:a="http://schemas.openxmlformats.org/drawingml/2006/main">
              <a:ext uri="{FF2B5EF4-FFF2-40B4-BE49-F238E27FC236}">
                <a16:creationId xmlns:a16="http://schemas.microsoft.com/office/drawing/2014/main" id="{F5DAB021-3CD1-448B-9589-A7F71032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983480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LLM Provider API</a:t>
            </a:r>
            <a:endParaRPr sz="1100"/>
          </a:p>
        </p:txBody>
      </p:sp>
      <p:sp>
        <p:nvSpPr>
          <p:cNvPr id="41" name="Text 31">
            <a:extLst xmlns:a="http://schemas.openxmlformats.org/drawingml/2006/main">
              <a:ext uri="{FF2B5EF4-FFF2-40B4-BE49-F238E27FC236}">
                <a16:creationId xmlns:a16="http://schemas.microsoft.com/office/drawing/2014/main" id="{C9B5E8F7-BB67-483D-B572-9BF4285C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349240"/>
            <a:ext cx="4023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OpenAI / Anthropic / Gemini - chat + embeddings</a:t>
            </a:r>
            <a:endParaRPr sz="900"/>
          </a:p>
        </p:txBody>
      </p:sp>
      <p:sp>
        <p:nvSpPr>
          <p:cNvPr id="42" name="Text 32">
            <a:extLst xmlns:a="http://schemas.openxmlformats.org/drawingml/2006/main">
              <a:ext uri="{FF2B5EF4-FFF2-40B4-BE49-F238E27FC236}">
                <a16:creationId xmlns:a16="http://schemas.microsoft.com/office/drawing/2014/main" id="{F52F89C7-5196-4BE3-AD9F-3C6B8FBF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623560"/>
            <a:ext cx="4023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Function calling, structured output, RAG</a:t>
            </a:r>
            <a:endParaRPr sz="900"/>
          </a:p>
        </p:txBody>
      </p:sp>
      <p:sp>
        <p:nvSpPr>
          <p:cNvPr id="43" name="Text 33">
            <a:extLst xmlns:a="http://schemas.openxmlformats.org/drawingml/2006/main">
              <a:ext uri="{FF2B5EF4-FFF2-40B4-BE49-F238E27FC236}">
                <a16:creationId xmlns:a16="http://schemas.microsoft.com/office/drawing/2014/main" id="{1DA94C51-E83E-424C-BAFB-DEED7F11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4983480"/>
            <a:ext cx="7315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P11</a:t>
            </a:r>
            <a:endParaRPr sz="1400"/>
          </a:p>
        </p:txBody>
      </p:sp>
      <p:sp>
        <p:nvSpPr>
          <p:cNvPr id="44" name="Text 34">
            <a:extLst xmlns:a="http://schemas.openxmlformats.org/drawingml/2006/main">
              <a:ext uri="{FF2B5EF4-FFF2-40B4-BE49-F238E27FC236}">
                <a16:creationId xmlns:a16="http://schemas.microsoft.com/office/drawing/2014/main" id="{7DF4492D-150A-4A25-B405-CCA10CD8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11247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Label P1-P11 = layer berasal dari pertemuan mana. Tidak semua perlu dipakai - minimum 4 stack.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068484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54B3C3C-6E4C-4D46-ACE3-BE56F35D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D7646C-3C6D-4D2E-8113-294EE088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57F8894-3D77-4C67-82DD-8E7151B1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17017710141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74e81348545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551B84F-4FED-4FE9-8067-F9A8268C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78DE4D1-F755-4222-98A8-625A1B6B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Stack Mapping - Pertemuan ke Component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25E34F2-DE0E-41FE-A28A-3B58B2F3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Tabel reference: cocokkan kebutuhan ke pertemuan terkait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BFF731C-B6AA-43F1-9B0F-A3C7457D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391C8CF-EEEC-4E49-861D-F41D50F3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Component</a:t>
            </a:r>
            <a:endParaRPr sz="11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BFC23A4-908D-41B7-BAA3-3052BC41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41732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Pertemuan Reference</a:t>
            </a:r>
            <a:endParaRPr sz="11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CA021D42-4B8B-47FA-A4D5-A920FE89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417320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Pilihan Tech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B4DC3062-BA16-4799-BA7B-84D9E2CB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41732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Cost Estimate</a:t>
            </a:r>
            <a:endParaRPr sz="11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1358DBE-1C84-4E76-A798-CFDF6E95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112471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D68EB008-D3E2-40EE-A08E-C9E610ED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1371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E034C73-2E8B-4BFF-B539-81FFDC23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2331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Infrastructure dasar</a:t>
            </a:r>
            <a:endParaRPr sz="11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C0F6DC9D-2A3F-4859-872C-9985B67C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28800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P1-3</a:t>
            </a:r>
            <a:endParaRPr sz="11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7C1BF65C-2C9A-453F-92B9-F4D7A98C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828800"/>
            <a:ext cx="3108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Linux + networking knowledge</a:t>
            </a:r>
            <a:endParaRPr sz="10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2606F13-5AD9-4D28-8046-1E424C7B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828800"/>
            <a:ext cx="32004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Free (learning material)</a:t>
            </a:r>
            <a:endParaRPr sz="100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636C844B-31B6-4975-B8BC-F4BE133C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112471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8C048531-B191-424A-8327-A05B529A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1371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B3FEE32-E94E-49F5-A73D-CC495885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23160"/>
            <a:ext cx="2331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Backend container</a:t>
            </a:r>
            <a:endParaRPr sz="11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7440D0E7-1074-4793-95AE-0A1204CE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23160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P4-6</a:t>
            </a:r>
            <a:endParaRPr sz="11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D533ABCE-5F88-4923-ACF4-21B8902E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423160"/>
            <a:ext cx="3108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Docker + docker-compose;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hosting sesuai akses dan tarif aktif</a:t>
            </a:r>
            <a:endParaRPr sz="10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FEA9B0AE-63E4-4980-BB9B-1C97D5CB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423160"/>
            <a:ext cx="32004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cek kuota resmi</a:t>
            </a:r>
            <a:endParaRPr sz="1000"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07013EEF-A067-4DCB-B27D-7DA399F0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E1A9E0E7-60D5-4067-B8E2-F4F78D83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371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071AA50C-19B9-4533-AEFB-F6F8912F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331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Database + Auth</a:t>
            </a:r>
            <a:endParaRPr sz="11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A44F1B25-E2A1-4F82-A930-2545CBE7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17520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P7</a:t>
            </a:r>
            <a:endParaRPr sz="11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88C9FB5D-8394-4C5B-B67D-3DD738FA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017520"/>
            <a:ext cx="3108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Supabase: cek limit paket aktif</a:t>
            </a:r>
            <a:endParaRPr sz="10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683E29B-FF06-4549-8AB9-5DD15621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017520"/>
            <a:ext cx="32004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cek kuota</a:t>
            </a:r>
            <a:endParaRPr sz="1000"/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37AE84E3-1756-4FD3-950B-87FBF9E9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12471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F998A2A7-5CD4-458F-8CC8-717526CC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371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BABF9CA-9EE0-4C65-B21E-72B8B09D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11880"/>
            <a:ext cx="2331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Frontend hosting</a:t>
            </a:r>
            <a:endParaRPr sz="11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F5A51691-EFF2-4E4D-A2C1-009DF718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11880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P8</a:t>
            </a:r>
            <a:endParaRPr sz="11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DA88B7BF-55C8-4968-9403-1D5B147A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611880"/>
            <a:ext cx="3108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Vercel Hobby: cek limit resmi</a:t>
            </a:r>
            <a:endParaRPr sz="10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C464724D-8D8F-4B8C-A59D-0F62ECDF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611880"/>
            <a:ext cx="32004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Free</a:t>
            </a:r>
            <a:endParaRPr sz="1000"/>
          </a:p>
        </p:txBody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BA59E5AE-0994-4201-AAA2-B60294B1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112471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33B28380-3469-4856-AA2A-642E99AA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1371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1C1DE81F-0F4E-445B-BBDC-34612DD5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06240"/>
            <a:ext cx="2331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ML demo / Inference</a:t>
            </a:r>
            <a:endParaRPr sz="11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8BC74FF9-CB8B-4A72-8D8A-D7A1653F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06240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P9</a:t>
            </a:r>
            <a:endParaRPr sz="11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45FFFA9A-32C6-487F-8CF1-1A653390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4206240"/>
            <a:ext cx="3108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HF Spaces (compute bersyarat)</a:t>
            </a:r>
            <a:endParaRPr sz="1000"/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4918430E-9F37-4B65-B8DA-4D5FE002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206240"/>
            <a:ext cx="32004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Gradio lokal tersedia</a:t>
            </a:r>
            <a:endParaRPr sz="1000"/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31993190-393E-4EA5-9D7F-374614FB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112471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6" name="Shape 42">
            <a:extLst xmlns:a="http://schemas.openxmlformats.org/drawingml/2006/main">
              <a:ext uri="{FF2B5EF4-FFF2-40B4-BE49-F238E27FC236}">
                <a16:creationId xmlns:a16="http://schemas.microsoft.com/office/drawing/2014/main" id="{C39B7CCF-71F8-435A-82FA-F637BB8F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1371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0902806F-90ED-48CB-87CC-A9559885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00600"/>
            <a:ext cx="2331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ML production concerns</a:t>
            </a:r>
            <a:endParaRPr sz="1100"/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706027A6-5580-483D-9631-4CD8CB45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00600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P10</a:t>
            </a:r>
            <a:endParaRPr sz="1100"/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BEA182F3-AF75-46E9-BAB5-6819D1B7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4800600"/>
            <a:ext cx="3108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Monitoring + drift + cost optimization</a:t>
            </a:r>
            <a:endParaRPr sz="1000"/>
          </a:p>
        </p:txBody>
      </p:sp>
      <p:sp>
        <p:nvSpPr>
          <p:cNvPr id="50" name="Text 46">
            <a:extLst xmlns:a="http://schemas.openxmlformats.org/drawingml/2006/main">
              <a:ext uri="{FF2B5EF4-FFF2-40B4-BE49-F238E27FC236}">
                <a16:creationId xmlns:a16="http://schemas.microsoft.com/office/drawing/2014/main" id="{3C660EB4-A5F5-4D2D-B8D2-C4BAF643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800600"/>
            <a:ext cx="32004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Wajib bahas di README</a:t>
            </a:r>
            <a:endParaRPr sz="1000"/>
          </a:p>
        </p:txBody>
      </p:sp>
      <p:sp>
        <p:nvSpPr>
          <p:cNvPr id="51" name="Shape 47">
            <a:extLst xmlns:a="http://schemas.openxmlformats.org/drawingml/2006/main">
              <a:ext uri="{FF2B5EF4-FFF2-40B4-BE49-F238E27FC236}">
                <a16:creationId xmlns:a16="http://schemas.microsoft.com/office/drawing/2014/main" id="{7B097DBD-E661-402A-8922-4F6BF158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4960"/>
            <a:ext cx="112471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2" name="Shape 48">
            <a:extLst xmlns:a="http://schemas.openxmlformats.org/drawingml/2006/main">
              <a:ext uri="{FF2B5EF4-FFF2-40B4-BE49-F238E27FC236}">
                <a16:creationId xmlns:a16="http://schemas.microsoft.com/office/drawing/2014/main" id="{698B61EB-93B4-4EA2-AE41-65E7604D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4960"/>
            <a:ext cx="1371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53" name="Text 49">
            <a:extLst xmlns:a="http://schemas.openxmlformats.org/drawingml/2006/main">
              <a:ext uri="{FF2B5EF4-FFF2-40B4-BE49-F238E27FC236}">
                <a16:creationId xmlns:a16="http://schemas.microsoft.com/office/drawing/2014/main" id="{4D034BDF-3C94-4E0A-B3A8-A6E8A93E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94960"/>
            <a:ext cx="2331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LLM API + RAG</a:t>
            </a:r>
            <a:endParaRPr sz="1100"/>
          </a:p>
        </p:txBody>
      </p:sp>
      <p:sp>
        <p:nvSpPr>
          <p:cNvPr id="54" name="Text 50">
            <a:extLst xmlns:a="http://schemas.openxmlformats.org/drawingml/2006/main">
              <a:ext uri="{FF2B5EF4-FFF2-40B4-BE49-F238E27FC236}">
                <a16:creationId xmlns:a16="http://schemas.microsoft.com/office/drawing/2014/main" id="{88FD04E6-E070-4B3E-A543-F9EA68E7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94960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P11</a:t>
            </a:r>
            <a:endParaRPr sz="1100"/>
          </a:p>
        </p:txBody>
      </p:sp>
      <p:sp>
        <p:nvSpPr>
          <p:cNvPr id="55" name="Text 51">
            <a:extLst xmlns:a="http://schemas.openxmlformats.org/drawingml/2006/main">
              <a:ext uri="{FF2B5EF4-FFF2-40B4-BE49-F238E27FC236}">
                <a16:creationId xmlns:a16="http://schemas.microsoft.com/office/drawing/2014/main" id="{16732B10-BEF0-4ABC-82E6-76F64992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5394960"/>
            <a:ext cx="3108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OpenAI/Anthropic/Gemini + pgvector</a:t>
            </a:r>
            <a:endParaRPr sz="1000"/>
          </a:p>
        </p:txBody>
      </p:sp>
      <p:sp>
        <p:nvSpPr>
          <p:cNvPr id="56" name="Text 52">
            <a:extLst xmlns:a="http://schemas.openxmlformats.org/drawingml/2006/main">
              <a:ext uri="{FF2B5EF4-FFF2-40B4-BE49-F238E27FC236}">
                <a16:creationId xmlns:a16="http://schemas.microsoft.com/office/drawing/2014/main" id="{4AFAE2A0-706A-4484-915B-336178C6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394960"/>
            <a:ext cx="32004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API berbayar opsional</a:t>
            </a:r>
            <a:endParaRPr sz="1000"/>
          </a:p>
        </p:txBody>
      </p:sp>
      <p:sp>
        <p:nvSpPr>
          <p:cNvPr id="57" name="Text 53">
            <a:extLst xmlns:a="http://schemas.openxmlformats.org/drawingml/2006/main">
              <a:ext uri="{FF2B5EF4-FFF2-40B4-BE49-F238E27FC236}">
                <a16:creationId xmlns:a16="http://schemas.microsoft.com/office/drawing/2014/main" id="{603984F9-06E1-485C-8376-8E09286F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Tip: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Biaya capstone tergantung akun dan kuota; jalur lokal tersedia.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1568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92C6B8-7CD0-433A-B4DE-AFAD2CCE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D026042-E1CB-446C-AB34-341C51CA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D54AAD8-7EE8-4E6E-8895-B5CB97E6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AE330A8-2A9B-40A2-AC44-5CC86B7B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2767189-5376-4987-A122-1507EE1D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06ACEAD-DAC7-4CB3-B61C-0B6B86B4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7D71D9D-C8EF-4AC3-8CBD-7FD422A6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a5bac00b84f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cfb05744748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A48E58D9-0F66-47C4-999F-C80C8BAB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04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4F65AE39-073F-49F9-8B57-1B231140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Planning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5F33603F-0D7E-4AEF-AD4A-A0E2BDEB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4BE82D1E-F6F1-4E3D-9695-927393D1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Tahap proyek kelompok dari checkpoint UTS menuju UAS minggu 14.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5647632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65009D7-459B-487C-AF84-CEEC86B9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670922B-AD71-442C-AF23-0920DF69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2130BCB-B0B4-4588-8FB5-BB7618A5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fd953a6314f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1ff7f9e8043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B93574BE-CE05-4B9E-AF07-0F67D616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E96D382-72FC-4622-B0DE-8B161079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Rencana finalisasi menuju UAS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DF496B4-EBF8-49B6-98B7-70ED450D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Sesi 13 untuk gladi; presentasi UAS berlangsung minggu 14 sesuai LMS.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9BB2E1D-ECB7-4010-A36E-930B8A4D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220912C4-129C-4C56-832E-361791D5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Tiga tahap kerja: alur end to end, fitur inti, lalu bukti uji dan demo. Tenggat mengikuti LMS.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Integrasikan komponen sedini mungkin agar masalah antar service muncul sebelum UAS.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6A2B0008-DC62-4423-AEAB-84DE3940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370332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C942620C-252D-4E5C-84DC-CA5D1218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37033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185F8FCB-56A6-42C7-B544-F4C3FE5D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56032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Tahap 1</a:t>
            </a:r>
            <a:endParaRPr sz="18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6A17303-95F6-4E34-B828-57152B5A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 spc="2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Skeleton + Integration</a:t>
            </a:r>
            <a:endParaRPr sz="11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16EDE446-FBFD-4502-B7BB-396F1711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3375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200"/>
              </a:spcAft>
              <a:buSzPct val="100000"/>
              <a:buChar char="▸"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Mulai:</a:t>
            </a: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pick theme + setup repo</a:t>
            </a:r>
            <a:endParaRPr sz="950"/>
          </a:p>
          <a:p xmlns:a="http://schemas.openxmlformats.org/drawingml/2006/main">
            <a:pPr marL="342900" indent="-342900">
              <a:spcAft>
                <a:spcPts val="200"/>
              </a:spcAft>
              <a:buSzPct val="100000"/>
              <a:buChar char="▸"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Lanjut:</a:t>
            </a: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bootstrap Vercel + Supabase project</a:t>
            </a:r>
            <a:endParaRPr sz="950"/>
          </a:p>
          <a:p xmlns:a="http://schemas.openxmlformats.org/drawingml/2006/main">
            <a:pPr marL="342900" indent="-342900">
              <a:spcAft>
                <a:spcPts val="200"/>
              </a:spcAft>
              <a:buSzPct val="100000"/>
              <a:buChar char="▸"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Berikutnya:</a:t>
            </a: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hello-world end-to-end (UI -&gt; DB)</a:t>
            </a:r>
            <a:endParaRPr sz="950"/>
          </a:p>
          <a:p xmlns:a="http://schemas.openxmlformats.org/drawingml/2006/main">
            <a:pPr marL="342900" indent="-342900">
              <a:spcAft>
                <a:spcPts val="200"/>
              </a:spcAft>
              <a:buSzPct val="100000"/>
              <a:buChar char="▸"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Uji:</a:t>
            </a: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add ML/LLM call basic</a:t>
            </a:r>
            <a:endParaRPr sz="950"/>
          </a:p>
          <a:p xmlns:a="http://schemas.openxmlformats.org/drawingml/2006/main">
            <a:pPr marL="342900" indent="-342900">
              <a:spcAft>
                <a:spcPts val="200"/>
              </a:spcAft>
              <a:buSzPct val="100000"/>
              <a:buChar char="▸"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Akhiri:</a:t>
            </a: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hubungkan semua + push first deploy</a:t>
            </a:r>
            <a:endParaRPr sz="95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509EC7B0-BBF6-47D6-ABB1-F504D015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333756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2BEDB19A-8106-4226-B72B-9BA548BC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49240"/>
            <a:ext cx="3154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Bukti tahap: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Live URL 'hello world' yang sudah integrate 4 stack</a:t>
            </a:r>
            <a:endParaRPr sz="95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9B5046D0-F900-46D4-BA39-A2DEB958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14600"/>
            <a:ext cx="370332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A6C21CA-712A-4A6A-B53B-EF569185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14600"/>
            <a:ext cx="37033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B517BE56-BAFA-4B71-AC17-5F2692A5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56032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Tahap 2</a:t>
            </a:r>
            <a:endParaRPr sz="18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B05B527-C3CA-4ACD-AEDE-468B1330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92608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 spc="2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Features + Data</a:t>
            </a:r>
            <a:endParaRPr sz="11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5EEC3684-7B01-40DE-8E8A-AE7369F1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429000"/>
            <a:ext cx="33375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200"/>
              </a:spcAft>
              <a:buSzPct val="100000"/>
              <a:buChar char="▸"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Mulai:</a:t>
            </a: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design data model + RLS</a:t>
            </a:r>
            <a:endParaRPr sz="950"/>
          </a:p>
          <a:p xmlns:a="http://schemas.openxmlformats.org/drawingml/2006/main">
            <a:pPr marL="342900" indent="-342900">
              <a:spcAft>
                <a:spcPts val="200"/>
              </a:spcAft>
              <a:buSzPct val="100000"/>
              <a:buChar char="▸"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Berikutnya:</a:t>
            </a: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implement core features</a:t>
            </a:r>
            <a:endParaRPr sz="950"/>
          </a:p>
          <a:p xmlns:a="http://schemas.openxmlformats.org/drawingml/2006/main">
            <a:pPr marL="342900" indent="-342900">
              <a:spcAft>
                <a:spcPts val="200"/>
              </a:spcAft>
              <a:buSzPct val="100000"/>
              <a:buChar char="▸"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Uji:</a:t>
            </a: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add error handling + loading state</a:t>
            </a:r>
            <a:endParaRPr sz="950"/>
          </a:p>
          <a:p xmlns:a="http://schemas.openxmlformats.org/drawingml/2006/main">
            <a:pPr marL="342900" indent="-342900">
              <a:spcAft>
                <a:spcPts val="200"/>
              </a:spcAft>
              <a:buSzPct val="100000"/>
              <a:buChar char="▸"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Akhiri:</a:t>
            </a: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testing + bug fix</a:t>
            </a:r>
            <a:endParaRPr sz="95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6042C588-8ACA-465B-BFB6-3B264307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303520"/>
            <a:ext cx="333756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42B001C8-E37E-4628-8584-EA74C428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49240"/>
            <a:ext cx="3154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Bukti tahap: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Functional MVP - semua user journey jalan, tapi UI masih mentah</a:t>
            </a:r>
            <a:endParaRPr sz="9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EA27259A-0D83-48EC-A031-FF6035C4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514600"/>
            <a:ext cx="370332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3CA2DF68-9B86-44B5-850E-1C346E0E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514600"/>
            <a:ext cx="37033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EDC7EAAC-B3F9-44E2-9615-86916028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56032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Tahap 3</a:t>
            </a:r>
            <a:endParaRPr sz="18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8B189541-F6B7-4932-88C0-40B96CF9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92608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 spc="2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Polish + Demo</a:t>
            </a:r>
            <a:endParaRPr sz="11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3C503865-99C6-48D4-A309-7921D90C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429000"/>
            <a:ext cx="33375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200"/>
              </a:spcAft>
              <a:buSzPct val="100000"/>
              <a:buChar char="▸"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Mulai:</a:t>
            </a: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UI polish + responsive</a:t>
            </a:r>
            <a:endParaRPr sz="950"/>
          </a:p>
          <a:p xmlns:a="http://schemas.openxmlformats.org/drawingml/2006/main">
            <a:pPr marL="342900" indent="-342900">
              <a:spcAft>
                <a:spcPts val="200"/>
              </a:spcAft>
              <a:buSzPct val="100000"/>
              <a:buChar char="▸"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Lanjut:</a:t>
            </a: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monitoring + logging setup</a:t>
            </a:r>
            <a:endParaRPr sz="950"/>
          </a:p>
          <a:p xmlns:a="http://schemas.openxmlformats.org/drawingml/2006/main">
            <a:pPr marL="342900" indent="-342900">
              <a:spcAft>
                <a:spcPts val="200"/>
              </a:spcAft>
              <a:buSzPct val="100000"/>
              <a:buChar char="▸"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Rabu: write README + arsitektur diagram</a:t>
            </a:r>
            <a:endParaRPr sz="950"/>
          </a:p>
          <a:p xmlns:a="http://schemas.openxmlformats.org/drawingml/2006/main">
            <a:pPr marL="342900" indent="-342900">
              <a:spcAft>
                <a:spcPts val="200"/>
              </a:spcAft>
              <a:buSzPct val="100000"/>
              <a:buChar char="▸"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Cek:</a:t>
            </a: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record demo video</a:t>
            </a:r>
            <a:endParaRPr sz="950"/>
          </a:p>
          <a:p xmlns:a="http://schemas.openxmlformats.org/drawingml/2006/main">
            <a:pPr marL="342900" indent="-342900">
              <a:spcAft>
                <a:spcPts val="200"/>
              </a:spcAft>
              <a:buSzPct val="100000"/>
              <a:buChar char="▸"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Uji:</a:t>
            </a: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presentation slides + dry run</a:t>
            </a:r>
            <a:endParaRPr sz="95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830C4DE4-69E6-4AFE-9589-1CCD9BF4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303520"/>
            <a:ext cx="333756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F9916293-2D12-48E3-9388-8133C338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349240"/>
            <a:ext cx="3154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Bukti tahap: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Production-ready + dokumentasi lengkap + 5-min demo video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9592205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9E1C652-D9C9-4093-83CD-47070677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C235B3C-E018-476F-9D6C-08EFCB53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8693E1E-C4F8-4666-B2C9-09E85425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34d41e1b04f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548e3d40a4e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B22A1B2D-06EE-4FAA-9543-06339300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C7F0837-4E9A-447C-A3E5-C6880926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Milestones - 5 Checkpoint Wajib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CDFDED4-CD80-4B68-89A4-E7989234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Sinkronisasi dengan dosen di setiap milestone supaya tidak nyasar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C3E9A3A-F763-4E79-BA54-11934E7E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3915B438-DD85-4036-B9F2-F8DB5DE1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6236BD9F-FD90-4A14-A4CB-6E6C2E5C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7276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A8C77648-0950-44D6-83D7-21EB063C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7276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M1</a:t>
            </a:r>
            <a:endParaRPr sz="1600"/>
          </a:p>
        </p:txBody>
      </p:sp>
      <p:pic>
        <p:nvPicPr>
          <p:cNvPr id="7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df63286d841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8760" y="16459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CF4EB53C-0BC4-4839-82B0-B21BF121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463040"/>
            <a:ext cx="4206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Theme Selected + Repo Init</a:t>
            </a:r>
            <a:endParaRPr sz="120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3CD99038-602E-45B8-90B6-52C009D9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554480"/>
            <a:ext cx="210312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B772BAC7-6D40-4F48-9FC5-399AFCE0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554480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Awal proyek</a:t>
            </a:r>
            <a:endParaRPr sz="9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C1020768-F991-43E6-8F8B-D7DFF00F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828800"/>
            <a:ext cx="941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Tema dikonfirmasi (4 referensi atau bebas approved). GitHub repo created + README placeholder + .gitignore. Stack list final.</a:t>
            </a:r>
            <a:endParaRPr sz="100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E0E5EF28-35C4-4DF5-B1B3-B54198FA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F99B81D4-281A-45B2-9378-CFD470C4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E762979D-E8DC-48BC-87C2-360B3EF5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328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FC45C76C-E572-44CD-B90B-936D3D27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3288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M2</a:t>
            </a:r>
            <a:endParaRPr sz="1600"/>
          </a:p>
        </p:txBody>
      </p:sp>
      <p:pic>
        <p:nvPicPr>
          <p:cNvPr id="8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896f32ec14f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8760" y="260604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F180F890-2CEB-41F8-ABBB-1D4714B4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423160"/>
            <a:ext cx="4206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Skeleton End-to-End</a:t>
            </a:r>
            <a:endParaRPr sz="1200"/>
          </a:p>
        </p:txBody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99929F03-C5C5-41CD-82FC-3E7EDBD0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514600"/>
            <a:ext cx="210312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102929CC-DF4A-4B08-B9C9-CDFB18E5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514600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Setelah integrasi awal</a:t>
            </a:r>
            <a:endParaRPr sz="900"/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B17CED49-A14F-43FC-9F06-4CA8DA00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88920"/>
            <a:ext cx="941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Live URL functional walaupun fitur minimal.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Catat URL dan hasil uji; bawa kendala ke kelas atau kanal resmi.</a:t>
            </a:r>
            <a:endParaRPr sz="1000"/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951D44B2-A90A-445F-8CF5-0E87FDDB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756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9003824B-7A0C-48F8-A4A2-9DD2161E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756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A6F88558-E387-4812-B4AD-21AC19C9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9300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43B7C6CE-DCA4-4BC7-BF90-22769D2E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930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M3</a:t>
            </a:r>
            <a:endParaRPr sz="1600"/>
          </a:p>
        </p:txBody>
      </p:sp>
      <p:pic>
        <p:nvPicPr>
          <p:cNvPr id="9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1bac7cfac4d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8760" y="356616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7B921375-407C-4CE8-A5F5-40BA6695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83280"/>
            <a:ext cx="4206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Core Features Done</a:t>
            </a:r>
            <a:endParaRPr sz="1200"/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D572837C-46A1-4F79-92DA-FCB9A651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474720"/>
            <a:ext cx="210312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14CCCAA9-4A4D-455E-B1D9-875E4657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474720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Setelah fitur inti</a:t>
            </a:r>
            <a:endParaRPr sz="900"/>
          </a:p>
        </p:txBody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A0398037-C9E9-41F5-9737-C4B8C695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9040"/>
            <a:ext cx="941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Primary user journey lengkap. Auth working, data persist, ML/LLM call return result. UI tidak perlu polish dulu.</a:t>
            </a:r>
            <a:endParaRPr sz="1000"/>
          </a:p>
        </p:txBody>
      </p:sp>
      <p:sp>
        <p:nvSpPr>
          <p:cNvPr id="37" name="Shape 30">
            <a:extLst xmlns:a="http://schemas.openxmlformats.org/drawingml/2006/main">
              <a:ext uri="{FF2B5EF4-FFF2-40B4-BE49-F238E27FC236}">
                <a16:creationId xmlns:a16="http://schemas.microsoft.com/office/drawing/2014/main" id="{CFA2F18E-3AF3-4B7F-86E1-457D7C08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768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8E1EB7FC-3FB2-46AC-B504-42984DFF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768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39" name="Shape 32">
            <a:extLst xmlns:a="http://schemas.openxmlformats.org/drawingml/2006/main">
              <a:ext uri="{FF2B5EF4-FFF2-40B4-BE49-F238E27FC236}">
                <a16:creationId xmlns:a16="http://schemas.microsoft.com/office/drawing/2014/main" id="{87B915BC-0F4F-4D23-B6BD-651EDC65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5312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40" name="Text 33">
            <a:extLst xmlns:a="http://schemas.openxmlformats.org/drawingml/2006/main">
              <a:ext uri="{FF2B5EF4-FFF2-40B4-BE49-F238E27FC236}">
                <a16:creationId xmlns:a16="http://schemas.microsoft.com/office/drawing/2014/main" id="{932C21B3-6DA1-4184-841D-90D8F9A8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5312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M4</a:t>
            </a:r>
            <a:endParaRPr sz="1600"/>
          </a:p>
        </p:txBody>
      </p:sp>
      <p:pic>
        <p:nvPicPr>
          <p:cNvPr id="10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df63286d841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8760" y="452628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42" name="Text 34">
            <a:extLst xmlns:a="http://schemas.openxmlformats.org/drawingml/2006/main">
              <a:ext uri="{FF2B5EF4-FFF2-40B4-BE49-F238E27FC236}">
                <a16:creationId xmlns:a16="http://schemas.microsoft.com/office/drawing/2014/main" id="{1754647D-D514-45F2-83C6-70714BAC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43400"/>
            <a:ext cx="4206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Documentation + Polish</a:t>
            </a:r>
            <a:endParaRPr sz="1200"/>
          </a:p>
        </p:txBody>
      </p:sp>
      <p:sp>
        <p:nvSpPr>
          <p:cNvPr id="43" name="Shape 35">
            <a:extLst xmlns:a="http://schemas.openxmlformats.org/drawingml/2006/main">
              <a:ext uri="{FF2B5EF4-FFF2-40B4-BE49-F238E27FC236}">
                <a16:creationId xmlns:a16="http://schemas.microsoft.com/office/drawing/2014/main" id="{33EB6D22-F3AB-4122-9C2C-D6CB8E61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434840"/>
            <a:ext cx="210312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44" name="Text 36">
            <a:extLst xmlns:a="http://schemas.openxmlformats.org/drawingml/2006/main">
              <a:ext uri="{FF2B5EF4-FFF2-40B4-BE49-F238E27FC236}">
                <a16:creationId xmlns:a16="http://schemas.microsoft.com/office/drawing/2014/main" id="{8DE4005D-F76B-475D-8BAB-5A5D91F5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434840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Sebelum gladi sesi 13</a:t>
            </a:r>
            <a:endParaRPr sz="900"/>
          </a:p>
        </p:txBody>
      </p:sp>
      <p:sp>
        <p:nvSpPr>
          <p:cNvPr id="45" name="Text 37">
            <a:extLst xmlns:a="http://schemas.openxmlformats.org/drawingml/2006/main">
              <a:ext uri="{FF2B5EF4-FFF2-40B4-BE49-F238E27FC236}">
                <a16:creationId xmlns:a16="http://schemas.microsoft.com/office/drawing/2014/main" id="{EC123B82-2627-45B5-9589-048C2E26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09160"/>
            <a:ext cx="941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README lengkap dengan diagram + setup steps. Loading states, error handling, mobile responsive. Production logs setup.</a:t>
            </a:r>
            <a:endParaRPr sz="1000"/>
          </a:p>
        </p:txBody>
      </p:sp>
      <p:sp>
        <p:nvSpPr>
          <p:cNvPr id="46" name="Shape 38">
            <a:extLst xmlns:a="http://schemas.openxmlformats.org/drawingml/2006/main">
              <a:ext uri="{FF2B5EF4-FFF2-40B4-BE49-F238E27FC236}">
                <a16:creationId xmlns:a16="http://schemas.microsoft.com/office/drawing/2014/main" id="{72BB6092-EB33-46E1-B059-CEDE8F6C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7" name="Shape 39">
            <a:extLst xmlns:a="http://schemas.openxmlformats.org/drawingml/2006/main">
              <a:ext uri="{FF2B5EF4-FFF2-40B4-BE49-F238E27FC236}">
                <a16:creationId xmlns:a16="http://schemas.microsoft.com/office/drawing/2014/main" id="{C96F49AE-C2C8-4391-86C7-93D23612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8" name="Shape 40">
            <a:extLst xmlns:a="http://schemas.openxmlformats.org/drawingml/2006/main">
              <a:ext uri="{FF2B5EF4-FFF2-40B4-BE49-F238E27FC236}">
                <a16:creationId xmlns:a16="http://schemas.microsoft.com/office/drawing/2014/main" id="{9A4CE5AA-90CE-4B20-A3BA-A1A60D47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1324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9" name="Text 41">
            <a:extLst xmlns:a="http://schemas.openxmlformats.org/drawingml/2006/main">
              <a:ext uri="{FF2B5EF4-FFF2-40B4-BE49-F238E27FC236}">
                <a16:creationId xmlns:a16="http://schemas.microsoft.com/office/drawing/2014/main" id="{446AF1E2-B0F6-4541-BB9B-0660C87B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132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M5</a:t>
            </a:r>
            <a:endParaRPr sz="1600"/>
          </a:p>
        </p:txBody>
      </p:sp>
      <p:pic>
        <p:nvPicPr>
          <p:cNvPr id="11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3c9bd05b14b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8760" y="54864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51" name="Text 42">
            <a:extLst xmlns:a="http://schemas.openxmlformats.org/drawingml/2006/main">
              <a:ext uri="{FF2B5EF4-FFF2-40B4-BE49-F238E27FC236}">
                <a16:creationId xmlns:a16="http://schemas.microsoft.com/office/drawing/2014/main" id="{61337A02-D1D3-4EEC-A41D-51B4529E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03520"/>
            <a:ext cx="4206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Demo Ready</a:t>
            </a:r>
            <a:endParaRPr sz="1200"/>
          </a:p>
        </p:txBody>
      </p:sp>
      <p:sp>
        <p:nvSpPr>
          <p:cNvPr id="52" name="Shape 43">
            <a:extLst xmlns:a="http://schemas.openxmlformats.org/drawingml/2006/main">
              <a:ext uri="{FF2B5EF4-FFF2-40B4-BE49-F238E27FC236}">
                <a16:creationId xmlns:a16="http://schemas.microsoft.com/office/drawing/2014/main" id="{AD4FD23E-079D-43F4-AC44-B3F70744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394960"/>
            <a:ext cx="210312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53" name="Text 44">
            <a:extLst xmlns:a="http://schemas.openxmlformats.org/drawingml/2006/main">
              <a:ext uri="{FF2B5EF4-FFF2-40B4-BE49-F238E27FC236}">
                <a16:creationId xmlns:a16="http://schemas.microsoft.com/office/drawing/2014/main" id="{8E58ECC5-0757-4411-9B1B-A86C4CBB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394960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Sebelum UAS minggu 14</a:t>
            </a:r>
            <a:endParaRPr sz="900"/>
          </a:p>
        </p:txBody>
      </p:sp>
      <p:sp>
        <p:nvSpPr>
          <p:cNvPr id="54" name="Text 45">
            <a:extLst xmlns:a="http://schemas.openxmlformats.org/drawingml/2006/main">
              <a:ext uri="{FF2B5EF4-FFF2-40B4-BE49-F238E27FC236}">
                <a16:creationId xmlns:a16="http://schemas.microsoft.com/office/drawing/2014/main" id="{6CECFB19-C298-42FC-B6ED-D5E2EDAA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69280"/>
            <a:ext cx="941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Demo video uploaded. Presentation slide submitted. Dry run dengan teman/diri sendiri. Backup screenshot kalau live demo fail.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699796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0BC8810-8B3B-4894-AE15-7490D526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5783E55-3575-4755-916D-EB6CA96B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A762716-5069-4E55-B67C-07F33F40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2d81f7d7a4a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a1f1a9ff147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9ED53B0C-8D43-4B81-9992-8F74A5A1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7587FA0-2D19-4103-B3CF-696C8FE7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Git Workflow - Branch Strategy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3522D27-F56F-4DC3-99C4-348E3002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Disiplin git = aman bereksperimen tanpa rusak yang sudah jalan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79AAFA9-83F6-493A-A154-AD6BDE98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5AF4680-5BD3-4BE7-817A-92B2C608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Pola Branch yang Disarankan</a:t>
            </a:r>
            <a:endParaRPr sz="14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5AD44A53-3A75-4274-AB93-66916084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7B3E6CD7-CC59-4F81-8A5E-66BE9D98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15544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B59F98D-1A65-450E-AE48-870522AD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1463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main</a:t>
            </a:r>
            <a:endParaRPr sz="10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ED83945D-25FC-4D5A-85C6-170BBDC4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57400"/>
            <a:ext cx="3520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Production - selalu deploy-able</a:t>
            </a:r>
            <a:endParaRPr sz="10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01E3E9E-2392-4FB7-BFBD-E333F1C7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86000"/>
            <a:ext cx="3520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Yang Vercel auto-deploy ke prod URL</a:t>
            </a:r>
            <a:endParaRPr sz="9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883EC493-625A-485A-8311-BC6604B1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5176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ADAA8C00-5539-4A9E-8C14-0C7A7756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51760"/>
            <a:ext cx="15544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F91EB773-B1D8-416C-B35D-D881B615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51760"/>
            <a:ext cx="1463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develop</a:t>
            </a:r>
            <a:endParaRPr sz="10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C5DDD67-9FE2-4714-9C29-5ADA6F6D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97480"/>
            <a:ext cx="3520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Integration branch (opsional)</a:t>
            </a:r>
            <a:endParaRPr sz="10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330CC7A6-BB58-4A36-84C5-921854E2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26080"/>
            <a:ext cx="3520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Merge dari feature lalu test sebelum main</a:t>
            </a:r>
            <a:endParaRPr sz="9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095697D7-AB25-41B6-A077-DB975A70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9184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FCAE57D8-265B-451E-B36E-8C20AE9E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91840"/>
            <a:ext cx="15544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F91F15B-CF14-4682-97D2-8D4A83FB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91840"/>
            <a:ext cx="1463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feature/auth</a:t>
            </a:r>
            <a:endParaRPr sz="10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D2F3EBD6-7B74-4D68-BFB3-C9C1D9F9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37560"/>
            <a:ext cx="3520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Work in progress - 1 fitur</a:t>
            </a:r>
            <a:endParaRPr sz="10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04FD2142-EBB9-49F3-96EF-1873B3BA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66160"/>
            <a:ext cx="3520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1 PR per feature. Preview deploy Vercel auto-bikin</a:t>
            </a:r>
            <a:endParaRPr sz="900"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69E59AFC-4410-49B4-8C6D-B3FC3437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F8FA8481-1F4A-404A-9446-4C3A96F8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0"/>
            <a:ext cx="15544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071ED8B1-C78B-4F4F-B56A-4368F8ED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31920"/>
            <a:ext cx="1463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feature/rag-flow</a:t>
            </a:r>
            <a:endParaRPr sz="10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FD254696-A812-481B-9270-F5B7B7D5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77640"/>
            <a:ext cx="3520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Branch untuk RAG implementation</a:t>
            </a:r>
            <a:endParaRPr sz="10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1D45CAFE-681D-42A5-882C-B84A20FF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06240"/>
            <a:ext cx="3520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Bisa parallel dengan feature lain</a:t>
            </a:r>
            <a:endParaRPr sz="90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CD608A28-5E8F-42EA-9511-F1B4B059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1995B70B-CC34-4338-9824-5BB46F4C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15544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EE309139-39A5-4244-9737-427FE866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1463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fix/cors-issue</a:t>
            </a:r>
            <a:endParaRPr sz="10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CD4B07F0-6A0E-47F3-86CA-F09BC1FA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17720"/>
            <a:ext cx="3520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Bug fix branch</a:t>
            </a:r>
            <a:endParaRPr sz="10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EC04E82B-351E-48AC-B6FB-2A01C3E6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46320"/>
            <a:ext cx="3520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Hotfix langsung merge ke main</a:t>
            </a:r>
            <a:endParaRPr sz="900"/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32E83D87-A6F9-45EE-AC88-40D8DB66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B6374EEE-FFF9-4FB6-BF94-BFFFB76C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3EB69A06-3992-4838-A720-558A2B5A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E8E5F42E-714C-44F3-8BB2-60F2D706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3F236ED2-0988-4464-9F46-C1B9D383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A5BEA761-2BF8-495A-ABC9-FF87E948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git workflow ideal capstone</a:t>
            </a:r>
            <a:endParaRPr sz="9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F537DF37-2FA1-43D2-8B80-3629E74C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Setup awal (1x saja)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git init &amp;&amp; git remote add origin &lt;repo&gt;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git checkout -b develop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Untuk tiap feature baru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git checkout -b feature/login-flow</a:t>
            </a: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... code, commit, code, commit ...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git push origin feature/login-flow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Buat PR di GitHub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Vercel auto bikin preview deployment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Test di preview URL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 Merge ke main = auto deploy production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Commit message convention: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git commit -m "feat: add auth flow"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git commit -m "fix: CORS in /api/embed"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git commit -m "docs: update README"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1356753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5143B5A-E01E-4B13-BB81-36A678A7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10C72A9-7B34-48F6-BE8A-48019CF2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A4A4CBE-52A9-426E-BE42-6F213805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0A7025B-585B-4A7F-B4F8-B07EF668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D002B4D-CF13-4613-9B56-54472B7B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2C5C9F2-BB17-4744-973F-38D2EDC9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2AC5F21-58BF-4422-8D81-52C01415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121f4f2304b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432a32d3b44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2E34002E-A324-4896-8BAE-E43C24F7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05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03FC1B90-3729-4102-80D4-A4B923F5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Integration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Patterns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0F02CAC8-1893-4BD7-85E4-25E3D285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32FF5EB6-63F5-41B8-B95E-F9D8B38A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Cara menggabung Vercel + Supabase + HF + LLM jadi 1 sistem.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1810487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35B0D7E-683B-4829-88EC-92A5DABA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0931058-B242-46A0-B061-BAD1F8E5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E315928-B2AB-46EC-8D8E-D3E35153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b1862223d47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2d8ae18f6443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D2C49DE-A6FA-468D-B155-7A3B1756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B8807CF-E7E1-4DCA-98B4-3273D4FF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Auth Flow Lintas Service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E9670CF-E4BF-4C4B-AC67-E8BB2E4C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Pattern utama: Supabase JWT yang dipakai oleh semua layer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E1DC80BD-6616-459D-B917-198F786D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44A0093-AC7C-4844-AEAD-B8923B01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Pattern: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Supabase Auth jadi single source of truth. JWT-nya dipakai semua service downstream.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Frontend simpan JWT di cookie. Backend (Docker/Vercel API) validate JWT pakai Supabase secret.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A1FFE4C5-0EDF-433E-A305-545017A3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4712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B3A55DAF-4266-4A4E-ACDA-5ED352BD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Flow: User Login -&gt; Authenticated API Call</a:t>
            </a:r>
            <a:endParaRPr sz="13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EEC63E10-8ECF-4D75-9CEE-E8272511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361188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32377DD9-ECA5-4F57-BCC3-92575779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5468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916E7F98-1D90-4388-A2A5-6F2B2B7B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5468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8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2ACA903-A267-46EB-9F96-62540D12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154680"/>
            <a:ext cx="2788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User Login</a:t>
            </a:r>
            <a:endParaRPr sz="12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A6AC9856-1BA8-4877-96EC-C6194A15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3337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Email/password atau OAuth (Google). Pakai supabase-js client.</a:t>
            </a:r>
            <a:endParaRPr sz="95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4C1C7D93-0A55-44F2-BB2A-EB6A6FDD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017520"/>
            <a:ext cx="361188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3116B697-C89D-4B7B-A9F2-CF4EACD8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15468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102B227B-40A9-473C-9485-D1EB12BA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15468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8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DA968D85-433A-478C-A887-DE38A06D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154680"/>
            <a:ext cx="2788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Supabase Returns JWT</a:t>
            </a:r>
            <a:endParaRPr sz="12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53D6716B-EF85-46D4-8760-87FA3629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00"/>
            <a:ext cx="3337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session.access_token = JWT signed dengan project secret.</a:t>
            </a:r>
            <a:endParaRPr sz="95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FF1D57B2-CFB0-4F34-B134-5C25E960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017520"/>
            <a:ext cx="361188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8E986FB6-DBD9-47F5-9305-5E1EAC09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15468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0C3ABC06-F7FE-4655-BA9E-9E463E79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15468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8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DC83D0B0-2E0B-43C6-B4C4-A0100722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3154680"/>
            <a:ext cx="2788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Frontend Store JWT</a:t>
            </a:r>
            <a:endParaRPr sz="12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2DA482A3-D36F-400B-9D9C-7921EF05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657600"/>
            <a:ext cx="3337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Cookie httpOnly + secure. Atau localStorage (kurang aman).</a:t>
            </a:r>
            <a:endParaRPr sz="950"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8555FC10-13D8-437A-9535-09C04E64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361188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E8EA88FE-92A9-4125-A743-1F8831E4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091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B4CC5B6F-29BE-44B2-B61A-78F60500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091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8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33336767-E13F-4F6B-A446-7E5F0D77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709160"/>
            <a:ext cx="2788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Call /api dengan JWT</a:t>
            </a:r>
            <a:endParaRPr sz="12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28E4D2CA-F02D-4F3C-8DE6-CE13E2BA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12080"/>
            <a:ext cx="3337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Authorization: Bearer &lt;jwt&gt; di tiap request ke backend.</a:t>
            </a:r>
            <a:endParaRPr sz="95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0241B53C-3A11-46E2-BFA7-72471DCA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572000"/>
            <a:ext cx="361188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E5E71EE2-E999-45EC-8A13-37499152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7091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76CB1792-427C-4E37-9207-1F3C3E24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7091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8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DF50952A-5C74-4E21-80E9-391AB563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709160"/>
            <a:ext cx="2788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Backend Validate</a:t>
            </a:r>
            <a:endParaRPr sz="12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9CF13874-67FF-423C-B974-174A6D43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12080"/>
            <a:ext cx="3337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Verify JWT signature, extract user_id, check RLS / authz logic.</a:t>
            </a:r>
            <a:endParaRPr sz="950"/>
          </a:p>
        </p:txBody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1C219F4F-851C-4453-A059-771F4956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572000"/>
            <a:ext cx="361188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A26E2D8C-6857-423D-BEB2-3E24A9D2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7091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7062CE09-AACD-492A-B482-2B0D07FF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7091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8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815ED6C7-7AB2-4AB8-A2C8-13CB45D5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4709160"/>
            <a:ext cx="2788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Return Data User-scoped</a:t>
            </a:r>
            <a:endParaRPr sz="12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20BECBCE-6FAB-4011-B495-7C553245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212080"/>
            <a:ext cx="3337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Hanya data milik user yang return. RLS auto-filter di Supabase.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6228635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EA32CDA-E85F-4922-AFFE-64EE03C6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9251353-305B-4C2C-B48D-28E0EB66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19E23B2-DD90-4B5C-9A6F-3C5C1EC4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3cccfc9e842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4a1be96e348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412E8D9F-C03D-4AD3-B3F0-A937E171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111B5F1-D444-4A15-AF5C-02183356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Data Flow + Caching Strategy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0154605-A149-43C1-BBC9-5C7E762A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Path data dari user -&gt; model -&gt; DB -&gt; back. Cache di tier yang tepat.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6F8EB9CF-65FD-4481-9E70-222FEB59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3045EBA6-1575-4194-BDB8-2FF6DD36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3 Tier Caching</a:t>
            </a:r>
            <a:endParaRPr sz="14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556864E2-464A-44A4-B2FE-47D3E607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2120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A2D4AC63-0F65-4E1F-A501-167A8182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2120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A91C5D9-4AF9-479A-B325-59FFF3B8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68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L1: Edge Cache</a:t>
            </a:r>
            <a:endParaRPr sz="12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73AED0B3-3093-4476-A0A3-FF6E55AD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23160"/>
            <a:ext cx="49377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Yang di-cache: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Static asset + ISR pages</a:t>
            </a:r>
            <a:endParaRPr sz="1000"/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Lokasi: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Vercel edge (100+ POPs)</a:t>
            </a:r>
            <a:endParaRPr sz="1000"/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TTL: </a:t>
            </a: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1 jam - 1 hari</a:t>
            </a:r>
            <a:endParaRPr sz="10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251F6C0-1E63-4626-B079-7C79BA5E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52120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736D941A-9BB7-4028-ADCE-E794E003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52120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E45F04C9-EFEA-4A8D-BECD-C96705EB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L2: App Cache</a:t>
            </a:r>
            <a:endParaRPr sz="12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77692323-BEE5-4B87-8D24-846AFE79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49040"/>
            <a:ext cx="49377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Yang di-cache: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API response + LLM result</a:t>
            </a:r>
            <a:endParaRPr sz="1000"/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Lokasi: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Vercel KV / Redis</a:t>
            </a:r>
            <a:endParaRPr sz="1000"/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TTL: </a:t>
            </a: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5-30 menit</a:t>
            </a:r>
            <a:endParaRPr sz="10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0A8DCC73-A59A-4F65-8DB5-F13CBC5E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63440"/>
            <a:ext cx="52120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61BDCA0-F1EC-496F-A58E-8B7B97B9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63440"/>
            <a:ext cx="52120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8D041076-23FE-427B-A307-C33E4A9C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6344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L3: DB Cache</a:t>
            </a:r>
            <a:endParaRPr sz="12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0FF46E7-6E2A-4FD6-8B3C-10040633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49377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Yang di-cache: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Query result + materialized view</a:t>
            </a:r>
            <a:endParaRPr sz="1000"/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Lokasi: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Supabase Postgres</a:t>
            </a:r>
            <a:endParaRPr sz="1000"/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TTL: </a:t>
            </a: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Per session</a:t>
            </a:r>
            <a:endParaRPr sz="100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4667EE34-DAAD-4363-902C-7C8B06D4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1BE7F9E2-DB5A-4D9B-8D59-EEA2AD41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C1A932F-1CC6-4402-9F7B-D820144C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A3B090C0-EAC0-4FC1-BAD9-72237820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6F067542-A59A-46A0-98AD-A64DC647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44270CC0-D8CF-4C49-B762-768EFD12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Caching pattern di code</a:t>
            </a:r>
            <a:endParaRPr sz="9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B2C4B18F-4941-4592-A87A-A8E02473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1. Edge cache via Next.js ISR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export const revalidate = 3600  // 1h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2. App cache via Vercel KV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import { kv } from '@vercel/kv'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async function getCached(key) {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const hit = await kv.get(key)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if (hit) return hit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const fresh = await expensiveLLMCall()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await kv.set(key, fresh, { ex: 600 })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return fresh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}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3. DB cache via Postgres view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CREATE MATERIALIZED VIEW user_stats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 SELECT user_id, COUNT(*) ...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-- Refresh per hour via cron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REFRESH MATERIALIZED VIEW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  CONCURRENTLY user_stats;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9631311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0B6611E-0D24-43F2-BD75-0D4F4E1F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14CDC0C-86C8-486B-8174-15879E98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77F3D19-0842-4E84-9A24-63FB2CD1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7e65215b14b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9bb1ac2d14d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4778837A-B998-49AA-981F-69F2EB60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EBC4CD5-169B-475E-9B2D-5209D13C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Async Job Pattern - Long-running Task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C9EA8AC-0E7C-457D-B38F-FE2DFACF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ML inference / batch process &gt; 10s? Pakai async, jangan block request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04D17045-8511-4599-B39E-628DD05F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E4B28F1-D9B2-4518-B86A-7EAF1BBB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Problem: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Vercel function timeout 10s (hobby) / 60s (pro). ML inference bisa lebih lama.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Solusi: kirim task ke queue, return job_id ke user. User polling/subscribe untuk hasil.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B08C0EF0-1D3B-4BE3-9056-9F471C4C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4712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D06CC0E2-C751-4A72-B057-F42846CC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Architecture - Producer + Worker</a:t>
            </a:r>
            <a:endParaRPr sz="13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DA25199D-26E9-4EA5-9A22-64F8457F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0"/>
            <a:ext cx="228600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43b33864448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88720" y="3246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0A5D70E5-9D05-425A-9E93-3AB017E9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Vercel API</a:t>
            </a:r>
            <a:endParaRPr sz="1100"/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8A0F10AE-EC12-495C-9B9C-28A5DF1E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2336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FFE0B2"/>
                </a:solidFill>
                <a:latin typeface="Consolas"/>
                <a:ea typeface="Consolas"/>
                <a:cs typeface="Consolas"/>
              </a:rPr>
              <a:t>/api/start-task</a:t>
            </a:r>
            <a:endParaRPr sz="9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9FC7FBA8-16AD-4F48-9349-9FB2EC9B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9768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Insert job + return id</a:t>
            </a:r>
            <a:endParaRPr sz="90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3F6D6441-EBEF-4ACE-B936-3A27FCDA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03320"/>
            <a:ext cx="365760" cy="2743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663091BA-2135-4E78-8239-1CA88DDF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08960"/>
            <a:ext cx="228600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F8E"/>
          </a:solidFill>
          <a:ln xmlns:a="http://schemas.openxmlformats.org/drawingml/2006/main" w="12700">
            <a:solidFill>
              <a:srgbClr val="3ECF8E"/>
            </a:solidFill>
            <a:prstDash val="solid"/>
          </a:ln>
        </p:spPr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655b8e07640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77640" y="3246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956321DC-6DD8-48B1-95FC-0455846E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4904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Job Queue</a:t>
            </a:r>
            <a:endParaRPr sz="11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50823C1C-A246-44C7-AE8E-89C71F57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2336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table: jobs</a:t>
            </a:r>
            <a:endParaRPr sz="90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CC903ED4-C189-433E-B05A-725F57A4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9768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status: pending/done</a:t>
            </a:r>
            <a:endParaRPr sz="900"/>
          </a:p>
        </p:txBody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BAC210FF-8EFC-4E86-AED1-11F2B2DA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703320"/>
            <a:ext cx="365760" cy="2743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CC4B391D-7C60-42FB-903D-A68B11AF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108960"/>
            <a:ext cx="228600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12700">
            <a:solidFill>
              <a:srgbClr val="2496ED"/>
            </a:solidFill>
            <a:prstDash val="solid"/>
          </a:ln>
        </p:spPr>
      </p:sp>
      <p:pic>
        <p:nvPicPr>
          <p:cNvPr id="7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66d5be15444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6560" y="3246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FC992844-2FC6-465D-957D-0E039A9E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74904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Worker Container</a:t>
            </a:r>
            <a:endParaRPr sz="1100"/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ADD17339-BF06-4A3A-A524-AFC0BF59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02336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Poll queue 5s</a:t>
            </a:r>
            <a:endParaRPr sz="900"/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3B5F5F87-50A4-469F-9FD5-0D5A8077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29768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Run ML + update DB</a:t>
            </a:r>
            <a:endParaRPr sz="90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70D20B67-3850-4A51-A85D-004A2CE1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703320"/>
            <a:ext cx="365760" cy="2743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8A9E27E7-9D7F-46BF-BA15-FCB983DA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108960"/>
            <a:ext cx="228600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E"/>
          </a:solidFill>
          <a:ln xmlns:a="http://schemas.openxmlformats.org/drawingml/2006/main" w="12700">
            <a:solidFill>
              <a:srgbClr val="FFD21E"/>
            </a:solidFill>
            <a:prstDash val="solid"/>
          </a:ln>
        </p:spPr>
      </p:sp>
      <p:pic>
        <p:nvPicPr>
          <p:cNvPr id="7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d1ecdc73e4f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5480" y="3246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66B3352C-BA25-49C8-8ABD-EAA50793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74904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HF Inference</a:t>
            </a:r>
            <a:endParaRPr sz="1100"/>
          </a:p>
        </p:txBody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6F667985-5E0F-4DE8-861A-043D90C0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02336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Long-running ML</a:t>
            </a:r>
            <a:endParaRPr sz="900"/>
          </a:p>
        </p:txBody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4B974C69-79AE-4F4E-A22A-EEAB2FE3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29768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30s+ inference</a:t>
            </a:r>
            <a:endParaRPr sz="900"/>
          </a:p>
        </p:txBody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41417A4F-1480-4D23-9E30-E87C6A48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3776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Frontend polling pattern:</a:t>
            </a:r>
            <a:endParaRPr sz="1200"/>
          </a:p>
        </p:txBody>
      </p:sp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DF310173-4D31-4FEF-AAB7-F086CBB4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5780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1. POST /api/start-task -&gt; dapat {job_id: 'abc'}.   2. GET /api/jobs/abc tiap 2 detik.   3. Status: pending -&gt; running -&gt; done. Saat done, ambil result_url.</a:t>
            </a:r>
            <a:endParaRPr sz="1100"/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F5A43E42-7730-4277-8E03-E94B8CA4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9788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Bonus: </a:t>
            </a:r>
            <a:r>
              <a:rPr sz="10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Supabase Realtime subscribe untuk push notification - no polling, lebih elegant + hemat request.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9539738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75A008C-F3E0-47F1-B7A5-4D71BCD8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ECB2E1F-5BD4-4D8F-9413-02B0824C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DE3397A-CED9-42CB-AFF7-D88BE6FC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7894E86-996E-458D-B101-B29D0876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664E1B6-395C-4549-A69D-0923381A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2DEB5E9-87F5-4248-9B60-AF11D02F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D93E899-7464-4318-896A-ED4D35EA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2c2bf145941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2755debf14f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D027932-61A4-4E74-8780-96867A27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06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27434F1-BB39-4583-B1E5-38F9509F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Production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Polish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21366216-441C-4310-B3AC-66F7FCA7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279A3112-71A0-4060-AD85-E32F6D38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Monitoring, error handling, cost - bedakan demo dari production-ready.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148242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E503EFD-B0F1-4CBE-9549-530958CD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26EB89-ED98-4965-9A12-D6DF6C78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CFFA961-452F-420B-83A8-790E8E4D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73e8dd6c645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fa41b19fb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61D7C11-8280-4E8B-BD0C-E7952B48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2B1355D-E6F4-4218-9139-0D59245B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Monitoring &amp; Logging Setup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892C6C3-57A0-4305-9671-BD503575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Tanpa observability, debug production = guessing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EFCF8F7-1D38-4431-91E6-D7704077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5959E49-C9F2-4A9B-AD98-1E079746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Yang HARUS di-monitor</a:t>
            </a:r>
            <a:endParaRPr sz="14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1EE99B21-DDC0-4F09-AC3F-C7D4F2BD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21208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6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75909867341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488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488B310F-A887-4996-834F-A8E33BC5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05740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Latency p95 per endpoint</a:t>
            </a:r>
            <a:endParaRPr sz="105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A2595C75-88CD-4DC3-AEEA-EBEDFCAD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0428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Vercel Speed Insights</a:t>
            </a:r>
            <a:endParaRPr sz="95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E8039CBF-010D-4804-BA8B-0A3A1869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480"/>
            <a:ext cx="521208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487bf365744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8346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C657DBE6-21BD-4084-80BD-FFF56279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74320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Error rate (4xx, 5xx)</a:t>
            </a:r>
            <a:endParaRPr sz="105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29D5058A-E5DC-4B27-BA04-B5106F7F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99008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Vercel logs / Sentry</a:t>
            </a:r>
            <a:endParaRPr sz="95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03B20F89-9435-497A-8D06-A1A54A21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83280"/>
            <a:ext cx="521208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7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622e472f54f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5204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5BDF77F4-E473-4CCB-9AAB-823FD06C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2900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LLM token usage + cost</a:t>
            </a:r>
            <a:endParaRPr sz="1050"/>
          </a:p>
        </p:txBody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6C8A17EA-7288-4192-AF9D-ADEC179A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67588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Log per call ke Supabase</a:t>
            </a:r>
            <a:endParaRPr sz="950"/>
          </a:p>
        </p:txBody>
      </p:sp>
      <p:sp>
        <p:nvSpPr>
          <p:cNvPr id="24" name="Shape 17">
            <a:extLst xmlns:a="http://schemas.openxmlformats.org/drawingml/2006/main">
              <a:ext uri="{FF2B5EF4-FFF2-40B4-BE49-F238E27FC236}">
                <a16:creationId xmlns:a16="http://schemas.microsoft.com/office/drawing/2014/main" id="{23FA8331-F5CD-4CA2-B02F-13A135F6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69080"/>
            <a:ext cx="521208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7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b69e53e724e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6" name="Text 18">
            <a:extLst xmlns:a="http://schemas.openxmlformats.org/drawingml/2006/main">
              <a:ext uri="{FF2B5EF4-FFF2-40B4-BE49-F238E27FC236}">
                <a16:creationId xmlns:a16="http://schemas.microsoft.com/office/drawing/2014/main" id="{1A6D4867-76ED-4D4C-BDFC-01DFC4BF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11480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DB query slow log</a:t>
            </a:r>
            <a:endParaRPr sz="1050"/>
          </a:p>
        </p:txBody>
      </p:sp>
      <p:sp>
        <p:nvSpPr>
          <p:cNvPr id="27" name="Text 19">
            <a:extLst xmlns:a="http://schemas.openxmlformats.org/drawingml/2006/main">
              <a:ext uri="{FF2B5EF4-FFF2-40B4-BE49-F238E27FC236}">
                <a16:creationId xmlns:a16="http://schemas.microsoft.com/office/drawing/2014/main" id="{469B6E79-E372-46EE-9C33-A3CB2245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36168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Supabase observability tab</a:t>
            </a:r>
            <a:endParaRPr sz="950"/>
          </a:p>
        </p:txBody>
      </p:sp>
      <p:sp>
        <p:nvSpPr>
          <p:cNvPr id="28" name="Shape 20">
            <a:extLst xmlns:a="http://schemas.openxmlformats.org/drawingml/2006/main">
              <a:ext uri="{FF2B5EF4-FFF2-40B4-BE49-F238E27FC236}">
                <a16:creationId xmlns:a16="http://schemas.microsoft.com/office/drawing/2014/main" id="{B6B89D7D-0AA9-421B-9A75-B004C7C6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0"/>
            <a:ext cx="521208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7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a10fe1f9543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8920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4B94274C-D473-44E4-AF28-857B2092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80060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ML model inference time</a:t>
            </a:r>
            <a:endParaRPr sz="1050"/>
          </a:p>
        </p:txBody>
      </p:sp>
      <p:sp>
        <p:nvSpPr>
          <p:cNvPr id="31" name="Text 22">
            <a:extLst xmlns:a="http://schemas.openxmlformats.org/drawingml/2006/main">
              <a:ext uri="{FF2B5EF4-FFF2-40B4-BE49-F238E27FC236}">
                <a16:creationId xmlns:a16="http://schemas.microsoft.com/office/drawing/2014/main" id="{84EC94B4-8657-4198-8A16-369CDC38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04748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HF Spaces logs</a:t>
            </a:r>
            <a:endParaRPr sz="950"/>
          </a:p>
        </p:txBody>
      </p:sp>
      <p:sp>
        <p:nvSpPr>
          <p:cNvPr id="32" name="Shape 23">
            <a:extLst xmlns:a="http://schemas.openxmlformats.org/drawingml/2006/main">
              <a:ext uri="{FF2B5EF4-FFF2-40B4-BE49-F238E27FC236}">
                <a16:creationId xmlns:a16="http://schemas.microsoft.com/office/drawing/2014/main" id="{8DECE653-85F1-49F9-A8B2-1A95EE36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40680"/>
            <a:ext cx="521208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82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af560cf4441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5778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4" name="Text 24">
            <a:extLst xmlns:a="http://schemas.openxmlformats.org/drawingml/2006/main">
              <a:ext uri="{FF2B5EF4-FFF2-40B4-BE49-F238E27FC236}">
                <a16:creationId xmlns:a16="http://schemas.microsoft.com/office/drawing/2014/main" id="{2A506323-C5A5-4A0B-A3F7-1D359FA3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48640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Auth failure pattern</a:t>
            </a:r>
            <a:endParaRPr sz="1050"/>
          </a:p>
        </p:txBody>
      </p:sp>
      <p:sp>
        <p:nvSpPr>
          <p:cNvPr id="35" name="Text 25">
            <a:extLst xmlns:a="http://schemas.openxmlformats.org/drawingml/2006/main">
              <a:ext uri="{FF2B5EF4-FFF2-40B4-BE49-F238E27FC236}">
                <a16:creationId xmlns:a16="http://schemas.microsoft.com/office/drawing/2014/main" id="{CE0A690E-F778-405F-8814-526950E3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73328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Supabase Auth dashboard</a:t>
            </a:r>
            <a:endParaRPr sz="950"/>
          </a:p>
        </p:txBody>
      </p:sp>
      <p:sp>
        <p:nvSpPr>
          <p:cNvPr id="36" name="Shape 26">
            <a:extLst xmlns:a="http://schemas.openxmlformats.org/drawingml/2006/main">
              <a:ext uri="{FF2B5EF4-FFF2-40B4-BE49-F238E27FC236}">
                <a16:creationId xmlns:a16="http://schemas.microsoft.com/office/drawing/2014/main" id="{D9B478C9-1DC4-4824-ADFA-A8C6711B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7" name="Shape 27">
            <a:extLst xmlns:a="http://schemas.openxmlformats.org/drawingml/2006/main">
              <a:ext uri="{FF2B5EF4-FFF2-40B4-BE49-F238E27FC236}">
                <a16:creationId xmlns:a16="http://schemas.microsoft.com/office/drawing/2014/main" id="{75D9CD5A-60A7-4516-8EDE-ACCA55AC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8" name="Shape 28">
            <a:extLst xmlns:a="http://schemas.openxmlformats.org/drawingml/2006/main">
              <a:ext uri="{FF2B5EF4-FFF2-40B4-BE49-F238E27FC236}">
                <a16:creationId xmlns:a16="http://schemas.microsoft.com/office/drawing/2014/main" id="{568F7B7F-B27C-4616-AC9A-A81DF42F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39" name="Shape 29">
            <a:extLst xmlns:a="http://schemas.openxmlformats.org/drawingml/2006/main">
              <a:ext uri="{FF2B5EF4-FFF2-40B4-BE49-F238E27FC236}">
                <a16:creationId xmlns:a16="http://schemas.microsoft.com/office/drawing/2014/main" id="{D7A5C9B6-371B-4BD0-BCBA-AA2177A5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40" name="Shape 30">
            <a:extLst xmlns:a="http://schemas.openxmlformats.org/drawingml/2006/main">
              <a:ext uri="{FF2B5EF4-FFF2-40B4-BE49-F238E27FC236}">
                <a16:creationId xmlns:a16="http://schemas.microsoft.com/office/drawing/2014/main" id="{2AF3C639-FACB-40CB-B431-1EED40C2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41" name="Text 31">
            <a:extLst xmlns:a="http://schemas.openxmlformats.org/drawingml/2006/main">
              <a:ext uri="{FF2B5EF4-FFF2-40B4-BE49-F238E27FC236}">
                <a16:creationId xmlns:a16="http://schemas.microsoft.com/office/drawing/2014/main" id="{493D280F-139E-40ED-905A-8D56812E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Structured logging - JSON ke stdout</a:t>
            </a:r>
            <a:endParaRPr sz="900"/>
          </a:p>
        </p:txBody>
      </p:sp>
      <p:sp>
        <p:nvSpPr>
          <p:cNvPr id="42" name="Text 32">
            <a:extLst xmlns:a="http://schemas.openxmlformats.org/drawingml/2006/main">
              <a:ext uri="{FF2B5EF4-FFF2-40B4-BE49-F238E27FC236}">
                <a16:creationId xmlns:a16="http://schemas.microsoft.com/office/drawing/2014/main" id="{AA3E4721-3317-437C-A11B-C12669F4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Pakai pino atau winston (Node.js)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import pino from 'pino'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const log = pino({ level: 'info' })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Log dengan context yang useful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log.info({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user_id, request_id,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endpoint: '/api/chat',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llm_model: 'gpt-4o-mini',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tokens_in: 150, tokens_out: 320,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duration_ms: 1240,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cost_usd: 0.0021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}, 'chat completion')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Vercel auto-collect logs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Search/filter di dashboard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Bisa export ke external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// (Datadog/Logflare) saat scale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4820650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BB26CE-575B-4BED-84B2-69A6C201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14CA4B6-325B-4CE3-9C21-9034F92C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F2B29D3-75C5-4134-B0A0-BD5B7E51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cd89deea248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a511e3a0840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A4A2BA5-78C2-470D-A3DC-40338D56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C57372A-80FC-482B-8BDA-A8BE62AF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Error Handling - Graceful Degradation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28BB689-BC3C-42D3-B8D2-10E72929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Service eksternal pasti gagal kadang - app Anda harus tetap usable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8384C86-A25A-4B59-AB8F-835C9A81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D979A4F-71FD-4AFF-B6E0-7537C222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Aturan: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tidak pernah show stack trace ke user. Tidak crash full page kalau 1 service down.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Tampilkan pesan ramah + retry option. Log full error ke server untuk debug.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CBCDAFD9-F4AE-4D6A-814D-91EBF5A6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0F3347A-8626-496D-A281-7C9AE265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37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3B3472F-BCBF-416E-863A-94EA93F2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06040"/>
            <a:ext cx="3337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Retry with Backoff</a:t>
            </a:r>
            <a:endParaRPr sz="12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6D71C93-1F16-492A-ABEF-9E5231B0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71800"/>
            <a:ext cx="3337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Untuk transient error (rate limit, network blip).</a:t>
            </a:r>
            <a:endParaRPr sz="10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BC68F08E-1FD0-4018-8CDC-E42BF9C5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74720"/>
            <a:ext cx="32461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0EE96744-1AA0-4AA3-9D68-99226DE5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3063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tenacity (Py) / async-retry (JS)</a:t>
            </a:r>
            <a:endParaRPr sz="9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DF67A30-C951-4AA3-88E3-C81C9369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1460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3D669A92-2E70-42CC-BD52-4E28DFDC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14600"/>
            <a:ext cx="137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BDF5D7D-E982-4BBB-AF6D-AAAFC7B5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6040"/>
            <a:ext cx="3337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Circuit Breaker</a:t>
            </a:r>
            <a:endParaRPr sz="12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89745AEC-0BB5-4ADD-BAAD-26AABE23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3337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Kalau service down 5 menit, stop call sementara, fallback.</a:t>
            </a:r>
            <a:endParaRPr sz="10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D60BD6AC-A0A7-47C9-9CCE-8DC446BB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74720"/>
            <a:ext cx="32461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AC2208-2A6F-4666-8D8C-A4B09264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474720"/>
            <a:ext cx="3063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opossum (JS) / pybreaker (Py)</a:t>
            </a:r>
            <a:endParaRPr sz="90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66709AF6-B717-48BA-B9D7-A74869CA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51460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04E928C-9FD1-46B9-A841-CA1DDDE2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514600"/>
            <a:ext cx="137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B47BED8-B37F-45E8-89EB-2F488ED6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606040"/>
            <a:ext cx="3337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Fallback Response</a:t>
            </a:r>
            <a:endParaRPr sz="12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A661961-2476-46C8-BC44-05D13657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971800"/>
            <a:ext cx="3337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LLM down? Pakai cached answer. DB down? Show cached UI.</a:t>
            </a:r>
            <a:endParaRPr sz="10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ED140D40-598C-4AEC-A572-AB525DE9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474720"/>
            <a:ext cx="32461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13D04539-F56A-4B42-813B-426FB965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474720"/>
            <a:ext cx="3063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stale-while-revalidate cache</a:t>
            </a:r>
            <a:endParaRPr sz="90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CEA8031D-61A4-4215-BDC9-9AC2B46C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6908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A8A2714A-C3FB-456C-9B99-C8623899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69080"/>
            <a:ext cx="137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18B84EB5-BDE5-4D8A-A690-2C1F58E1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0520"/>
            <a:ext cx="3337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Timeout per Call</a:t>
            </a:r>
            <a:endParaRPr sz="12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B4D87EB3-3A66-4C79-9B2F-0C1A5B53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26280"/>
            <a:ext cx="3337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Set max 5s untuk LLM, 2s untuk DB. Hindari hang forever.</a:t>
            </a:r>
            <a:endParaRPr sz="10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FD87DCC8-D8E5-4A5E-A4C0-5B9B9A6F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0"/>
            <a:ext cx="32461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90FBE115-0B09-41C8-B319-1AC89F53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29200"/>
            <a:ext cx="3063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AbortController (JS) / timeout (Py)</a:t>
            </a:r>
            <a:endParaRPr sz="900"/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D9C55E60-6B77-4A77-BD8C-154673B2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06908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49E04235-3F84-497C-BEE6-2E424433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069080"/>
            <a:ext cx="137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3F5CA04A-C4DC-4E40-B280-A318833B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60520"/>
            <a:ext cx="3337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Loading + Error State</a:t>
            </a:r>
            <a:endParaRPr sz="120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AC35C026-865A-4BBB-A931-ADE95D17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6280"/>
            <a:ext cx="3337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UI selalu show: loading / data / error - tidak blank screen.</a:t>
            </a:r>
            <a:endParaRPr sz="100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44740C8F-2662-4E13-B3C5-61723CC1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29200"/>
            <a:ext cx="32461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458B5D97-0EE0-46C4-A9EB-1F9446BC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5029200"/>
            <a:ext cx="3063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React Suspense + ErrorBoundary</a:t>
            </a:r>
            <a:endParaRPr sz="900"/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E91009C6-55C0-4BF8-8B42-799244D0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06908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3" name="Shape 39">
            <a:extLst xmlns:a="http://schemas.openxmlformats.org/drawingml/2006/main">
              <a:ext uri="{FF2B5EF4-FFF2-40B4-BE49-F238E27FC236}">
                <a16:creationId xmlns:a16="http://schemas.microsoft.com/office/drawing/2014/main" id="{395E9A08-7961-469F-BF48-8278904B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069080"/>
            <a:ext cx="137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1444C175-9320-47C8-ABCF-D40D3AD2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160520"/>
            <a:ext cx="3337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User-friendly Message</a:t>
            </a:r>
            <a:endParaRPr sz="1200"/>
          </a:p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A5A26F6F-7B8E-4A33-9BCA-F7FE2646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526280"/>
            <a:ext cx="3337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Translate technical error jadi: 'Coba lagi sebentar'.</a:t>
            </a:r>
            <a:endParaRPr sz="1000"/>
          </a:p>
        </p:txBody>
      </p:sp>
      <p:sp>
        <p:nvSpPr>
          <p:cNvPr id="46" name="Shape 42">
            <a:extLst xmlns:a="http://schemas.openxmlformats.org/drawingml/2006/main">
              <a:ext uri="{FF2B5EF4-FFF2-40B4-BE49-F238E27FC236}">
                <a16:creationId xmlns:a16="http://schemas.microsoft.com/office/drawing/2014/main" id="{7AEF3FE8-7532-43E1-8CCF-E66203CD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029200"/>
            <a:ext cx="32461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3B272926-7BFF-48C5-84D2-3ECC704F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029200"/>
            <a:ext cx="3063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Error catalog + i18n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0028829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DA8FD7A-0564-4F86-BFBC-538D1BAA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7B940E1-7676-43E5-83F4-3BC180F5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6560841-DA9A-401D-B469-540CA257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A1639CC-65EC-4D3C-8427-883CE660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CE43956-795B-4D68-AA4B-2D14BD3C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FF6101F-5698-4836-86EF-CD9E0496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86C8126-8DDD-46B7-B29F-23CDA424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a40e8773a49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4a08d8a734f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C2C75EB-D4AC-422B-B50E-D09A11B4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07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73217B4C-98C2-4E38-9504-6BF6CC3A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Documentation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Demo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CEEB50B4-5A23-4D41-AD20-A37BFDA7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2DD601E3-BBAC-42EB-BA7C-9F3BFD1C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README + demo video - bagian yang sering dilupakan tapi nilai tinggi.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07595823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6AA83DB-AD3A-4D12-BE8B-E77D7C0A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BD7310-03C2-4EC9-BBA7-EE15583E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C0798EF-7ECE-4A68-8658-38A12207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699985fb341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3bf36c53143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B624219E-E6EB-46D2-B942-CE31C8C5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0634A11-3AF5-484B-B7D6-217F5191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README Template - 8 Section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BBB8D6F-8C74-4C68-A611-AEA154C8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Bukan novel - tapi cukup buat orang asing setup project Anda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D3C0187-7440-4E0B-B552-E18C599C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B3157BFE-08EB-427F-87AF-98DEFF25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Struktur README Wajib</a:t>
            </a:r>
            <a:endParaRPr sz="14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CB851B9B-2034-400C-95B0-25912B71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2462116-05FB-43A9-86D4-A189EF73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680"/>
            <a:ext cx="320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1.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2536E5B6-381A-4D3B-9EAF-FAEA7787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574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Title + 1-liner pitch</a:t>
            </a:r>
            <a:endParaRPr sz="105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D86FD561-FCD3-4C1D-A098-630C0758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258568"/>
            <a:ext cx="4617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Apa app ini, untuk siapa</a:t>
            </a:r>
            <a:endParaRPr sz="95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29C60AD3-122B-4D70-9CFF-C1F49470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11CCF273-9114-4520-9AF5-FB21A2DE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14600"/>
            <a:ext cx="320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2.</a:t>
            </a:r>
            <a:endParaRPr sz="11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1DA4AF64-DFF9-4CAA-AB00-F59D2AA7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56032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Live Demo + Screenshots</a:t>
            </a:r>
            <a:endParaRPr sz="105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433274F-A6A4-4271-A87F-3C024314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61488"/>
            <a:ext cx="4617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URL + GIF/screenshot 2-3 fitur utama</a:t>
            </a:r>
            <a:endParaRPr sz="9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320B1BE-F9F6-48E5-BD6D-11FC4AE7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DA93A913-4C7A-4D5F-87BD-E3EFA123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320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3.</a:t>
            </a:r>
            <a:endParaRPr sz="11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5C644B72-DFC7-4ECD-8E95-EEC01D90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06324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Architecture Diagram</a:t>
            </a:r>
            <a:endParaRPr sz="105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A0B00E8-2E9D-4B36-8DAA-746B8C19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64408"/>
            <a:ext cx="4617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Komponen + data flow (PNG di /docs)</a:t>
            </a:r>
            <a:endParaRPr sz="95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40311239-225E-404E-A5AB-333659C7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7221D8F4-FB8F-4CC7-B7CB-0A2D7C55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320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4.</a:t>
            </a:r>
            <a:endParaRPr sz="11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2C1AFC3-986E-4955-9A00-9BAE67EB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6616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Tech Stack</a:t>
            </a:r>
            <a:endParaRPr sz="105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6C41343-6A8D-451B-97DD-2DDA4566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67328"/>
            <a:ext cx="4617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Daftar tools + kenapa pilih (bukan random)</a:t>
            </a:r>
            <a:endParaRPr sz="95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AC003792-E7A1-45AE-A57D-46BC06D3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2336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A1A8D2EC-07DB-49FD-A592-EF2AE4DD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320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5.</a:t>
            </a:r>
            <a:endParaRPr sz="11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74E3B66-CBC7-432B-9F3D-499150EA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06908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Setup Instructions</a:t>
            </a:r>
            <a:endParaRPr sz="105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55483CA-8FE3-49F4-89B4-EE04B642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270248"/>
            <a:ext cx="4617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Clone -&gt; install -&gt; .env -&gt; run (test fresh)</a:t>
            </a:r>
            <a:endParaRPr sz="95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7DFD40EA-C19E-4855-B426-B4D81C4D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2628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177CF7EF-24A4-422B-8FBF-1A552101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26280"/>
            <a:ext cx="320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6.</a:t>
            </a:r>
            <a:endParaRPr sz="11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2FE974CC-EB1A-432F-B947-A1FFCDD7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72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Environment Variables</a:t>
            </a:r>
            <a:endParaRPr sz="105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A65C9BD4-1EAD-403F-A0EE-EE2FEDCD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773168"/>
            <a:ext cx="4617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.env.example dengan semua key dummy</a:t>
            </a:r>
            <a:endParaRPr sz="950"/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ED5A6CFB-8287-4049-8FCF-2EFE33FA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771FC76D-2819-4281-8EDB-7EAD5A63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29200"/>
            <a:ext cx="320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7.</a:t>
            </a:r>
            <a:endParaRPr sz="11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07D327CB-82AD-419D-BB31-27E67702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7492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Trade-offs + Decisions</a:t>
            </a:r>
            <a:endParaRPr sz="105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820A326B-775A-48A1-89F5-D97DF965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276088"/>
            <a:ext cx="4617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Kenapa Supabase bukan Firebase, dll</a:t>
            </a:r>
            <a:endParaRPr sz="95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90F8E995-55AE-4D23-826F-E42B1F4E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3212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DA5E2E04-5280-4ECA-AD79-C0C31DC4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32120"/>
            <a:ext cx="320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8.</a:t>
            </a:r>
            <a:endParaRPr sz="11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9A03FB41-DB43-402E-9D07-EF1F785B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57784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Future Work + Limitations</a:t>
            </a:r>
            <a:endParaRPr sz="105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2D77AF3D-D6E4-4F41-AD65-63354208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779008"/>
            <a:ext cx="4617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Apa belum done, apa scope-out</a:t>
            </a:r>
            <a:endParaRPr sz="950"/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90E30479-FBE4-46AA-824B-9732B854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A6789DB5-7205-4A61-B51D-811EAA78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46" name="Shape 42">
            <a:extLst xmlns:a="http://schemas.openxmlformats.org/drawingml/2006/main">
              <a:ext uri="{FF2B5EF4-FFF2-40B4-BE49-F238E27FC236}">
                <a16:creationId xmlns:a16="http://schemas.microsoft.com/office/drawing/2014/main" id="{6D3C1767-15BC-4057-A1F6-42C277FB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E98C9B4E-92AF-4743-B3C3-51DCAC70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48" name="Shape 44">
            <a:extLst xmlns:a="http://schemas.openxmlformats.org/drawingml/2006/main">
              <a:ext uri="{FF2B5EF4-FFF2-40B4-BE49-F238E27FC236}">
                <a16:creationId xmlns:a16="http://schemas.microsoft.com/office/drawing/2014/main" id="{3C8675E0-E119-47CD-8DBB-346D43F8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BA61EB8F-F6AD-4EB5-AE68-CA221232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Contoh README.md skeleton</a:t>
            </a:r>
            <a:endParaRPr sz="900"/>
          </a:p>
        </p:txBody>
      </p:sp>
      <p:sp>
        <p:nvSpPr>
          <p:cNvPr id="50" name="Text 46">
            <a:extLst xmlns:a="http://schemas.openxmlformats.org/drawingml/2006/main">
              <a:ext uri="{FF2B5EF4-FFF2-40B4-BE49-F238E27FC236}">
                <a16:creationId xmlns:a16="http://schemas.microsoft.com/office/drawing/2014/main" id="{B4F98A3A-79F0-4ABB-9139-E727FD2A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# CapstoneRAG - Kuliah Q&amp;A Bot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Chatbot AI yang jawab pertanyaan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dari materi kuliah pakai RAG.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## 🚀 Live Demo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https://capstone.budijuarto.com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![demo](docs/demo.gif)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## 🏗️ Architecture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![arch](docs/architecture.png)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## 🛠️ Tech Stack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 Next.js 15 + Vercel (frontend)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 Supabase (DB + Auth + pgvector)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 OpenAI GPT-4o-mini + embeddings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 Docker FastAPI worker (Fly.io)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## ⚙️ Setup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```bash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git clone &lt;repo&gt; &amp;&amp; cd capstone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cp .env.example .env  # fill keys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npm install &amp;&amp; npm run dev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7587710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7BEE8B2-5BA7-4003-BAC8-4E0F6BFA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C83958B-002D-4F43-ABE1-1685EF70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8B6F0F5-5006-4592-836A-D3B104EE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7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cf92ee0d144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7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2428b4c8243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0FB0EEA-EA28-439A-8510-7186B093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F6EB135-0C51-4D55-B6E1-0F9B9C19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Demo Video - 5 Menit Max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01AE7DB-ECC9-4A69-97C8-F9251088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Bukan unboxing - tunjukkan value app dalam 5 menit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FEC2B41-20FC-4593-9503-A45A1D82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C144FAE4-D0FB-498F-89DA-23D41E37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Struktur Video 5 Menit</a:t>
            </a:r>
            <a:endParaRPr sz="14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38BEE871-CCE2-4BF1-940E-95D2F106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21208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F1B84A3-89E4-497C-9CA9-2B891091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109728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3ED2160-E547-438B-9D88-B3468487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10972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0:00-0:30</a:t>
            </a:r>
            <a:endParaRPr sz="10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3AA7175E-1B4A-4F97-A134-239AAAA7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057400"/>
            <a:ext cx="3977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Hook + Problem</a:t>
            </a:r>
            <a:endParaRPr sz="11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7D4477A3-9C64-4D48-8AC4-84453A90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331720"/>
            <a:ext cx="3977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Show user problem dalam 30 detik. Hindari panjang lebar intro.</a:t>
            </a:r>
            <a:endParaRPr sz="95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D7F7952A-16CB-4D38-AFBC-55364386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34640"/>
            <a:ext cx="521208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58146DB2-1815-429F-9CB8-F250CFDF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34640"/>
            <a:ext cx="109728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609F75FF-31D6-42EB-BC47-37E23CB2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34640"/>
            <a:ext cx="10972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0:30-1:00</a:t>
            </a:r>
            <a:endParaRPr sz="10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714768D-E3BD-4FA6-BE9A-16A581E8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80360"/>
            <a:ext cx="3977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Solution Overview</a:t>
            </a:r>
            <a:endParaRPr sz="11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86FC8738-B575-4D86-8633-E7D9C7F4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977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Apa app Anda, demo singkat 1 user journey.</a:t>
            </a:r>
            <a:endParaRPr sz="95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8D82C55A-0023-40D3-A476-FE6BA76B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0"/>
            <a:ext cx="521208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CF889AF9-3205-4AD8-A1D9-61119226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0"/>
            <a:ext cx="109728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1BBED9B-1275-4AE4-ADF1-CCD7226B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0"/>
            <a:ext cx="10972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1:00-3:00</a:t>
            </a:r>
            <a:endParaRPr sz="10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488B08AB-464D-4233-AB4B-0442F522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703320"/>
            <a:ext cx="3977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Live Demo (Walk-through)</a:t>
            </a:r>
            <a:endParaRPr sz="11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0A814AE5-69A0-4586-AA1B-8724A716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977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Login -&gt; use 2-3 fitur utama. Smooth, jangan stuck.</a:t>
            </a:r>
            <a:endParaRPr sz="950"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E68C7856-B9BD-482C-B7FF-DAEB99AF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0560"/>
            <a:ext cx="521208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28B6246F-6B5E-46B8-9DF9-0A2076E6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0560"/>
            <a:ext cx="109728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B819CDF1-A8EE-42BE-9584-C411244E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0560"/>
            <a:ext cx="10972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3:00-4:00</a:t>
            </a:r>
            <a:endParaRPr sz="10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8C803F3A-92AF-4871-A3BF-ECEEB37D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26280"/>
            <a:ext cx="3977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Architecture Tour</a:t>
            </a:r>
            <a:endParaRPr sz="11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6892DAB-2535-4E5D-B75F-4D5BFAA3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00600"/>
            <a:ext cx="3977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Show diagram. Jelaskan 'data flow saat user click X'.</a:t>
            </a:r>
            <a:endParaRPr sz="95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E22A749D-FA1A-42C7-B157-598DB6B2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521208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AD3F253-6B03-473E-938D-265A74E1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109728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3119A75-4177-4F06-96C8-632CB570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10972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4:00-5:00</a:t>
            </a:r>
            <a:endParaRPr sz="10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22B62CB5-531D-4B02-AE5B-362C8377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49240"/>
            <a:ext cx="3977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Lessons + Wrap</a:t>
            </a:r>
            <a:endParaRPr sz="11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FD0DFCE-8E67-4DFD-92AE-57EDA234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623560"/>
            <a:ext cx="3977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1 challenge solved, 1 thing learned, 1 future improvement.</a:t>
            </a:r>
            <a:endParaRPr sz="950"/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411D76FF-268D-403D-B8FA-C2950249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8352726D-99D3-42CE-9601-59BF9A92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Production Tips</a:t>
            </a:r>
            <a:endParaRPr sz="1400"/>
          </a:p>
        </p:txBody>
      </p:sp>
      <p:pic>
        <p:nvPicPr>
          <p:cNvPr id="11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97bbe7d8c4f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031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40" name="Text 35">
            <a:extLst xmlns:a="http://schemas.openxmlformats.org/drawingml/2006/main">
              <a:ext uri="{FF2B5EF4-FFF2-40B4-BE49-F238E27FC236}">
                <a16:creationId xmlns:a16="http://schemas.microsoft.com/office/drawing/2014/main" id="{75DF304E-A6D4-4171-8216-EE5A7C55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05740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Record di 1080p minimum</a:t>
            </a:r>
            <a:endParaRPr sz="1000"/>
          </a:p>
        </p:txBody>
      </p:sp>
      <p:sp>
        <p:nvSpPr>
          <p:cNvPr id="41" name="Text 36">
            <a:extLst xmlns:a="http://schemas.openxmlformats.org/drawingml/2006/main">
              <a:ext uri="{FF2B5EF4-FFF2-40B4-BE49-F238E27FC236}">
                <a16:creationId xmlns:a16="http://schemas.microsoft.com/office/drawing/2014/main" id="{711474D1-0CCC-40DA-8879-5BBCF06D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267712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OBS Studio (free) atau Loom</a:t>
            </a:r>
            <a:endParaRPr sz="900"/>
          </a:p>
        </p:txBody>
      </p:sp>
      <p:pic>
        <p:nvPicPr>
          <p:cNvPr id="11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97bbe7d8c4f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60604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43" name="Text 37">
            <a:extLst xmlns:a="http://schemas.openxmlformats.org/drawingml/2006/main">
              <a:ext uri="{FF2B5EF4-FFF2-40B4-BE49-F238E27FC236}">
                <a16:creationId xmlns:a16="http://schemas.microsoft.com/office/drawing/2014/main" id="{7A20A4B3-570F-4073-8F65-F21BF3A6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56032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Audio yang clear</a:t>
            </a:r>
            <a:endParaRPr sz="1000"/>
          </a:p>
        </p:txBody>
      </p:sp>
      <p:sp>
        <p:nvSpPr>
          <p:cNvPr id="44" name="Text 38">
            <a:extLst xmlns:a="http://schemas.openxmlformats.org/drawingml/2006/main">
              <a:ext uri="{FF2B5EF4-FFF2-40B4-BE49-F238E27FC236}">
                <a16:creationId xmlns:a16="http://schemas.microsoft.com/office/drawing/2014/main" id="{9CC881F7-0EAF-43AA-A9DE-0B6BE144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70632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headset mic, hindari ambient noise</a:t>
            </a:r>
            <a:endParaRPr sz="900"/>
          </a:p>
        </p:txBody>
      </p:sp>
      <p:pic>
        <p:nvPicPr>
          <p:cNvPr id="11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97bbe7d8c4f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10896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46" name="Text 39">
            <a:extLst xmlns:a="http://schemas.openxmlformats.org/drawingml/2006/main">
              <a:ext uri="{FF2B5EF4-FFF2-40B4-BE49-F238E27FC236}">
                <a16:creationId xmlns:a16="http://schemas.microsoft.com/office/drawing/2014/main" id="{AAD4A2CF-3EBF-49D2-8C07-1776E04A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06324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Script kasar dulu</a:t>
            </a:r>
            <a:endParaRPr sz="1000"/>
          </a:p>
        </p:txBody>
      </p:sp>
      <p:sp>
        <p:nvSpPr>
          <p:cNvPr id="47" name="Text 40">
            <a:extLst xmlns:a="http://schemas.openxmlformats.org/drawingml/2006/main">
              <a:ext uri="{FF2B5EF4-FFF2-40B4-BE49-F238E27FC236}">
                <a16:creationId xmlns:a16="http://schemas.microsoft.com/office/drawing/2014/main" id="{D189CB4E-3FA5-43D5-8233-249D9EC3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273552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Bullet points, jangan baca paragraph kaku</a:t>
            </a:r>
            <a:endParaRPr sz="900"/>
          </a:p>
        </p:txBody>
      </p:sp>
      <p:pic>
        <p:nvPicPr>
          <p:cNvPr id="11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97bbe7d8c4f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61188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49" name="Text 41">
            <a:extLst xmlns:a="http://schemas.openxmlformats.org/drawingml/2006/main">
              <a:ext uri="{FF2B5EF4-FFF2-40B4-BE49-F238E27FC236}">
                <a16:creationId xmlns:a16="http://schemas.microsoft.com/office/drawing/2014/main" id="{86CE6FC6-2343-408A-83B2-2229C39B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56616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Edit kalau perlu</a:t>
            </a:r>
            <a:endParaRPr sz="1000"/>
          </a:p>
        </p:txBody>
      </p:sp>
      <p:sp>
        <p:nvSpPr>
          <p:cNvPr id="50" name="Text 42">
            <a:extLst xmlns:a="http://schemas.openxmlformats.org/drawingml/2006/main">
              <a:ext uri="{FF2B5EF4-FFF2-40B4-BE49-F238E27FC236}">
                <a16:creationId xmlns:a16="http://schemas.microsoft.com/office/drawing/2014/main" id="{4F2EFCCB-3573-4AC3-9E12-BD052B12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776472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DaVinci Resolve / CapCut - cut filler</a:t>
            </a:r>
            <a:endParaRPr sz="900"/>
          </a:p>
        </p:txBody>
      </p:sp>
      <p:pic>
        <p:nvPicPr>
          <p:cNvPr id="122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97bbe7d8c4f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411480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52" name="Text 43">
            <a:extLst xmlns:a="http://schemas.openxmlformats.org/drawingml/2006/main">
              <a:ext uri="{FF2B5EF4-FFF2-40B4-BE49-F238E27FC236}">
                <a16:creationId xmlns:a16="http://schemas.microsoft.com/office/drawing/2014/main" id="{18D0A6BF-19C0-41F1-AB99-E0062158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06908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Subtitle / caption</a:t>
            </a:r>
            <a:endParaRPr sz="1000"/>
          </a:p>
        </p:txBody>
      </p:sp>
      <p:sp>
        <p:nvSpPr>
          <p:cNvPr id="53" name="Text 44">
            <a:extLst xmlns:a="http://schemas.openxmlformats.org/drawingml/2006/main">
              <a:ext uri="{FF2B5EF4-FFF2-40B4-BE49-F238E27FC236}">
                <a16:creationId xmlns:a16="http://schemas.microsoft.com/office/drawing/2014/main" id="{AD428570-C1B0-48D0-A444-A1D7C7E3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279392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YouTube auto-caption bisa diedit</a:t>
            </a:r>
            <a:endParaRPr sz="900"/>
          </a:p>
        </p:txBody>
      </p:sp>
      <p:pic>
        <p:nvPicPr>
          <p:cNvPr id="12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0392376c246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46177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55" name="Text 45">
            <a:extLst xmlns:a="http://schemas.openxmlformats.org/drawingml/2006/main">
              <a:ext uri="{FF2B5EF4-FFF2-40B4-BE49-F238E27FC236}">
                <a16:creationId xmlns:a16="http://schemas.microsoft.com/office/drawing/2014/main" id="{7EB3AC18-DE86-4200-9F51-187EF5BF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57200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JANGAN: 30 detik intro nama + NIM</a:t>
            </a:r>
            <a:endParaRPr sz="1000"/>
          </a:p>
        </p:txBody>
      </p:sp>
      <p:sp>
        <p:nvSpPr>
          <p:cNvPr id="56" name="Text 46">
            <a:extLst xmlns:a="http://schemas.openxmlformats.org/drawingml/2006/main">
              <a:ext uri="{FF2B5EF4-FFF2-40B4-BE49-F238E27FC236}">
                <a16:creationId xmlns:a16="http://schemas.microsoft.com/office/drawing/2014/main" id="{804272BC-0C3E-4257-AFD2-24812A76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782312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Langsung problem statement</a:t>
            </a:r>
            <a:endParaRPr sz="900"/>
          </a:p>
        </p:txBody>
      </p:sp>
      <p:pic>
        <p:nvPicPr>
          <p:cNvPr id="128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0392376c246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512064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58" name="Text 47">
            <a:extLst xmlns:a="http://schemas.openxmlformats.org/drawingml/2006/main">
              <a:ext uri="{FF2B5EF4-FFF2-40B4-BE49-F238E27FC236}">
                <a16:creationId xmlns:a16="http://schemas.microsoft.com/office/drawing/2014/main" id="{50612978-BC7B-49E5-979F-C404D453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507492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JANGAN: tunjukkan code line-by-line</a:t>
            </a:r>
            <a:endParaRPr sz="1000"/>
          </a:p>
        </p:txBody>
      </p:sp>
      <p:sp>
        <p:nvSpPr>
          <p:cNvPr id="59" name="Text 48">
            <a:extLst xmlns:a="http://schemas.openxmlformats.org/drawingml/2006/main">
              <a:ext uri="{FF2B5EF4-FFF2-40B4-BE49-F238E27FC236}">
                <a16:creationId xmlns:a16="http://schemas.microsoft.com/office/drawing/2014/main" id="{A6DE44D7-D3B7-4AFB-8038-0C95B482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5285232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Tampilkan UI + output, code di GitHub</a:t>
            </a:r>
            <a:endParaRPr sz="900"/>
          </a:p>
        </p:txBody>
      </p:sp>
      <p:pic>
        <p:nvPicPr>
          <p:cNvPr id="131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0392376c246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562356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61" name="Text 49">
            <a:extLst xmlns:a="http://schemas.openxmlformats.org/drawingml/2006/main">
              <a:ext uri="{FF2B5EF4-FFF2-40B4-BE49-F238E27FC236}">
                <a16:creationId xmlns:a16="http://schemas.microsoft.com/office/drawing/2014/main" id="{D73C68DA-3B2E-4E56-997D-3CA26249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557784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JANGAN: live demo tanpa rehearsal</a:t>
            </a:r>
            <a:endParaRPr sz="1000"/>
          </a:p>
        </p:txBody>
      </p:sp>
      <p:sp>
        <p:nvSpPr>
          <p:cNvPr id="62" name="Text 50">
            <a:extLst xmlns:a="http://schemas.openxmlformats.org/drawingml/2006/main">
              <a:ext uri="{FF2B5EF4-FFF2-40B4-BE49-F238E27FC236}">
                <a16:creationId xmlns:a16="http://schemas.microsoft.com/office/drawing/2014/main" id="{D84CE602-A003-4345-AB3D-EB70D893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5788152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Pre-record + voice over kalau perlu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4487205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8EA8A2C-2D6F-4F00-B571-7F9BF7F4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683249E-302B-400F-BA77-873FDB2E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FA2E1-1369-4AE8-9558-22F0C36C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8e1d8ee0d41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921700db047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97388C7F-029A-4AC3-8F61-E46D7A27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8E30A40-390B-4896-8B7B-166D1244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Pre-Demo Deployment Checklist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7729D0E-701C-4DA6-A665-EDB08257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Periksa sebelum gladi sesi 13 dan ulangi sebelum UAS minggu 14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AC3E219-446F-4254-A1AF-9CAC93CF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4CB8E716-2AEB-4826-9532-0CABC863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C08319C1-C3BC-41B8-BD37-0C72DCA7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Stability</a:t>
            </a:r>
            <a:endParaRPr sz="13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214D9952-22FE-40D2-8DF7-F07A0D2A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33375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☐ Live URL accessible (uptimerobot.com cek 5 min)</a:t>
            </a:r>
            <a:endParaRPr sz="10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☐ Auth flow jalan dari incognito</a:t>
            </a:r>
            <a:endParaRPr sz="10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☐ Tidak ada console error di production</a:t>
            </a:r>
            <a:endParaRPr sz="10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EEF586EC-5FBD-49B4-A53D-53711786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7773375-E35A-4A93-9F92-1A4811C7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47DB43AA-11AA-4019-AB67-6516E830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Performance</a:t>
            </a:r>
            <a:endParaRPr sz="13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7AC36BF-A742-49A9-89F5-61FB6E16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65960"/>
            <a:ext cx="33375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☐ Lighthouse score &gt; 80 (untuk frontend)</a:t>
            </a:r>
            <a:endParaRPr sz="10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☐ First load &lt; 3 detik di mobile 4G</a:t>
            </a:r>
            <a:endParaRPr sz="10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☐ API response &lt; 1 detik (cached) atau pakai loading state</a:t>
            </a:r>
            <a:endParaRPr sz="10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33472048-4AA2-4E5F-B8AF-24539453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3820204A-2A40-4C29-9C46-AC2CFE09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E03603B8-B6DE-4D6C-98BF-3364E144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Security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44D09344-F01A-42C7-8290-E5B5635F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65960"/>
            <a:ext cx="33375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☐ RLS enabled di semua table Supabase</a:t>
            </a:r>
            <a:endParaRPr sz="10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☐ API keys tidak ada di client code (cek bundle)</a:t>
            </a:r>
            <a:endParaRPr sz="10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☐ CORS dikonfigurasi proper - bukan '*'</a:t>
            </a:r>
            <a:endParaRPr sz="10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D43D8A54-D849-4769-B4DF-04034E37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D3BCC77-8FAA-41E0-A2BB-5DAFD573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7D440290-8FC1-4BEF-BA9C-E2286991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Docs</a:t>
            </a:r>
            <a:endParaRPr sz="13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BFDB0858-DB2A-43D6-A95D-614DBCC5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33375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☐ README.md complete (8 section)</a:t>
            </a:r>
            <a:endParaRPr sz="10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☐ .env.example punya semua key (dummy value)</a:t>
            </a:r>
            <a:endParaRPr sz="10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☐ Architecture diagram di /docs folder</a:t>
            </a:r>
            <a:endParaRPr sz="10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7292A654-05BC-41EE-B23D-09EFCE5B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F2A61AF8-80B3-4956-A76C-1D0ACF42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0B106130-B53D-4F90-BF85-E880D8F1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 Materials</a:t>
            </a:r>
            <a:endParaRPr sz="13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277EF690-72F6-4E31-BBB1-8BCF6B1A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343400"/>
            <a:ext cx="33375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☐ Demo video uploaded + accessible link</a:t>
            </a:r>
            <a:endParaRPr sz="10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☐ Backup screenshots kalau live demo crash</a:t>
            </a:r>
            <a:endParaRPr sz="10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☐ Presentation slides ready + cloud-saved</a:t>
            </a:r>
            <a:endParaRPr sz="100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88D3AD6F-649C-48EC-B4C4-830BF608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577B75EF-C333-4A57-985D-F8486C77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ED1D3E9-28C6-4251-97E1-33ACA300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GitHub</a:t>
            </a:r>
            <a:endParaRPr sz="13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A7617F48-C79D-4BC6-8249-5F769B55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33375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☐ Repo public + descriptive title</a:t>
            </a:r>
            <a:endParaRPr sz="10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☐ Branch main = latest stable</a:t>
            </a:r>
            <a:endParaRPr sz="10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☐ Commit messages clear (bukan 'wip wip')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13960638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0C482BD-7F8A-426F-8D11-3D63B8B2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5DBDACC-8B2E-462E-A5F0-9DDD2B16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B8ADCC7-2A81-478B-BDFC-7E366AB6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ccc91999c41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07b4f913449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EC99E34-5F9D-4072-9478-172A5612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0097EE7-AF5C-478F-BF02-9CB3D4A2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Contoh Rubrik Internal Proyek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18DD6F1-BBCB-4C4E-9A65-2F4988B6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Proyek kelompok lab bernilai 50%; bobot antar kriteria di bawah hanya contoh.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3695183-1F9F-481A-9E09-476D4D3D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E9348F3-D377-4A7B-9AD9-D02371AA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Dimensi</a:t>
            </a:r>
            <a:endParaRPr sz="11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D45E01B4-CCB0-4735-918D-475113D6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417320"/>
            <a:ext cx="731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Bobot</a:t>
            </a:r>
            <a:endParaRPr sz="11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0F2FB01-E856-4AC8-A637-6DBB1F70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417320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Excellent (A)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2D357C08-FD11-4900-AD39-B51F8A4C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41732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Good (B)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84CB0E54-4360-405C-8E9B-7CC75E7B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41732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Needs Work (C)</a:t>
            </a:r>
            <a:endParaRPr sz="11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F75AEAA9-42C0-45B7-8933-D6EBB05D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0E1143CD-232D-4A5E-B7C9-0425AD04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C4EC355B-DE01-4149-B7B8-9935F336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21488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Implementation</a:t>
            </a:r>
            <a:endParaRPr sz="12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39812146-6D1C-457D-A714-BA8B0C2A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828800"/>
            <a:ext cx="7315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30%</a:t>
            </a:r>
            <a:endParaRPr sz="14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EF0217CE-ABD8-42FC-B745-7656759B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828800"/>
            <a:ext cx="25603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4+ stack integrated, semua jalan, edge case handled</a:t>
            </a:r>
            <a:endParaRPr sz="95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31CF64CA-3F99-4CD0-92C1-A3389655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2468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3 stack integrated, fitur utama jalan</a:t>
            </a:r>
            <a:endParaRPr sz="95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245E9DA4-493F-4F12-85BB-393A201F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828800"/>
            <a:ext cx="2468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1-2 stack saja atau ada broken feature</a:t>
            </a:r>
            <a:endParaRPr sz="95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5DFFBAE-99BB-4CE7-9A90-4833C03F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15BE342B-6818-49B8-9C37-060BAF2C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FCDB817-72AC-4F4A-B071-3B621457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43200"/>
            <a:ext cx="21488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Integration</a:t>
            </a:r>
            <a:endParaRPr sz="12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0D0FDA9-9CE1-40CB-B1C6-CCD53B79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43200"/>
            <a:ext cx="7315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25%</a:t>
            </a:r>
            <a:endParaRPr sz="14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F9B5326-7815-46EF-BBC5-7A2ADEEB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2743200"/>
            <a:ext cx="25603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Service speak ke service lain seamlessly, data consistent</a:t>
            </a:r>
            <a:endParaRPr sz="95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15C4F233-D97A-4090-BD6C-95522554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743200"/>
            <a:ext cx="2468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Integrasi jalan tapi kadang inconsistent state</a:t>
            </a:r>
            <a:endParaRPr sz="95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BBE616A4-5945-45B7-AA74-678DAE07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743200"/>
            <a:ext cx="2468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Service terpisah, copy-paste manual antar service</a:t>
            </a:r>
            <a:endParaRPr sz="95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018497EF-FFCB-46C8-91D5-DD45CBFB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31F381DB-65A7-4558-88C9-B12629D0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24E322FC-1B1A-4A0B-BF8B-80C882D7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57600"/>
            <a:ext cx="21488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Documentation</a:t>
            </a:r>
            <a:endParaRPr sz="12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CB9A8E6-A5FC-44F5-A9BA-4D03C059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657600"/>
            <a:ext cx="7315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20%</a:t>
            </a:r>
            <a:endParaRPr sz="14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3CEDBAEE-E8C1-4C54-9EEA-BD4B35F5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657600"/>
            <a:ext cx="25603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README 8 section + diagram + trade-off discussion</a:t>
            </a:r>
            <a:endParaRPr sz="95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302A404C-7C8B-467C-A291-3438B024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657600"/>
            <a:ext cx="2468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README ada 5+ section, setup jalan</a:t>
            </a:r>
            <a:endParaRPr sz="95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2D86303D-902D-4E5E-A973-094E6A1D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657600"/>
            <a:ext cx="2468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README cuma judul + setup hint</a:t>
            </a:r>
            <a:endParaRPr sz="950"/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421FB5C1-D789-4C7C-B25C-00BEACF2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F7E5FCAD-4EE3-436D-A900-2071A1B4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9925A611-E40F-42F0-B740-688257F7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72000"/>
            <a:ext cx="21488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Demo + Presentation</a:t>
            </a:r>
            <a:endParaRPr sz="1200"/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241DC2A-F1CF-4E9D-8C7E-14E1B5F5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572000"/>
            <a:ext cx="7315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25%</a:t>
            </a:r>
            <a:endParaRPr sz="14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E33E9F43-416F-45B9-8D7A-E85478D7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572000"/>
            <a:ext cx="25603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Smooth demo, jelas problem-solution-architecture, jawab Q&amp;A</a:t>
            </a:r>
            <a:endParaRPr sz="95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520BB82D-8EE1-42A1-8891-5C887FF7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2468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Demo jalan tapi presenter gugup atau skip detail</a:t>
            </a:r>
            <a:endParaRPr sz="95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E30577C9-C735-4A2A-8DAA-F3385B59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572000"/>
            <a:ext cx="2468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Live demo crash + presenter tidak paham code-nya</a:t>
            </a:r>
            <a:endParaRPr sz="950"/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1630F7CF-1DE2-48D2-9D97-81EAA571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Prioritaskan alur utama yang berjalan dan punya bukti uji; jelaskan batas fitur secara jujur.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1604007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59C80FB-425E-47E3-A9F3-7D41483B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3CACAD-C87F-44BF-AD9D-FE529732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C304DFE-8336-49C6-BE80-A62A61B4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c412dc37c45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f7aa4451a49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E8EFBEA6-73DE-4A91-BF40-77F6C848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9FD09F8-5BC2-4457-9D7F-63E3B97B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6 Common Pitfalls - Hindari di Capstone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EBCCB7B-0E1B-43D9-9414-20FBB696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Masalah yang sering menghambat demo dan evaluasi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CBF842CE-8C9F-479C-BC16-A0AD2027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D400EFEE-D003-4F15-B0AA-582CB622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8E598A12-597E-4F58-8CE0-FB013F4C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Scope creep sejak awal</a:t>
            </a:r>
            <a:endParaRPr sz="12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D34EDD6-746A-43D4-B64B-F7B0909D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Terlalu banyak fitur membuat alur utama belum selesai saat gladi.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068A4776-6687-44AC-B51B-7125D59B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3337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A27E75F-0CBE-42D1-BFE3-50F6DB89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2608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Definisikan MVP (3 fitur core) di hari 1. Fitur tambahan = nice-to-have list.</a:t>
            </a:r>
            <a:endParaRPr sz="10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0EB62974-B9C3-43BB-BA44-1A7292DB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450D6A90-42F1-4408-84B0-CA85776D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C11725A6-F8D5-434A-BD24-5730D231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4173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Coding solo tanpa commit</a:t>
            </a:r>
            <a:endParaRPr sz="12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6770195F-BC28-4F4B-A2F5-9FBBD54A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6596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Code 1 minggu di laptop, baru push. Kalau crash = kehilangan semua.</a:t>
            </a:r>
            <a:endParaRPr sz="10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040CBD8D-F717-4BFD-ADA4-7B8A6E65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880360"/>
            <a:ext cx="3337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74C71D43-BB28-4389-8AB7-9D82C1D6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608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Commit + push minimum tiap selesai 1 fitur (~2-4 jam coding).</a:t>
            </a:r>
            <a:endParaRPr sz="10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CD38170E-800E-467A-9837-1F35DA50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4C737823-167A-49FB-B227-5A693496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946320B-8406-4942-989E-389AAABF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4173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Pakai secret hardcoded</a:t>
            </a:r>
            <a:endParaRPr sz="12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8CFA56FD-F545-4D7A-8F12-3789D54C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6596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API key OpenAI di-commit ke GitHub public. GitHub auto-scan + revoke!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59153FC2-81D0-4DCA-8EE6-69847D22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880360"/>
            <a:ext cx="3337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1348F8BE-F83E-4D66-A883-E14566F0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92608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.env + .gitignore. Dosen cek bundle deployed, bukan repo.</a:t>
            </a:r>
            <a:endParaRPr sz="10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6F2011EF-0DDE-41B6-AB8E-3A1A0595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EBAE1EA3-EBC7-4FAA-88A0-E5E5464F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AC75DE16-9ED2-4C73-9D22-CF4FBA08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947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 crash saat live</a:t>
            </a:r>
            <a:endParaRPr sz="12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17981B86-3BDA-4C5F-B838-98DED740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Saat gladi atau UAS, layanan bisa gagal karena timeout atau DB sleep.</a:t>
            </a:r>
            <a:endParaRPr sz="105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1393E8DB-57A5-4406-AFE3-550FD60B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57800"/>
            <a:ext cx="3337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513FBB5B-5D0B-485D-A56B-449F24D2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0352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Simpan video/screenshot cadangan dan uji lagi sebelum UAS.</a:t>
            </a:r>
            <a:endParaRPr sz="10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99BF4950-6562-4262-91A2-8A5E26B3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F7DD3C0F-1614-481B-9FDD-34B94908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2C5156C6-FB8D-4922-8EF2-F9C66AAD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7947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README seadanya</a:t>
            </a:r>
            <a:endParaRPr sz="12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F8A5B4DF-B100-4EF8-83A4-4BBA890C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34340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README cuma title + 1 paragraf. Dosen tidak bisa setup local untuk test.</a:t>
            </a:r>
            <a:endParaRPr sz="105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6EFE6274-0212-4FAF-B6DB-79459A0A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257800"/>
            <a:ext cx="3337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7B2F66E6-ED1A-40D5-BAFF-A409299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0352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Test setup dari fresh laptop dengan README sendiri. Iterate sampai bisa.</a:t>
            </a:r>
            <a:endParaRPr sz="100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1240C895-A48F-42DC-A0D7-8703CC1C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050D5261-F796-49BE-96C5-C8660019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7D9ED9D4-0F93-43C4-92BF-5F8B4F5C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7947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Tidak bisa explain own code</a:t>
            </a:r>
            <a:endParaRPr sz="12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8A96A1C5-1080-4545-A1DF-C49685C3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Copy paste dari tutorial. Saat dosen tanya, tidak bisa jelaskan.</a:t>
            </a:r>
            <a:endParaRPr sz="1050"/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0CCCAB64-AD51-42F9-BB03-F85B29E1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257800"/>
            <a:ext cx="3337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F4C60416-B981-4E7A-BF91-C75AB1C7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30352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Pahami setiap line. Catat 'kenapa pilih X bukan Y' di doc.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7368782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8D77BEB-0695-412A-A041-907A6A7E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1D36E2F-30ED-4ECA-87E0-B489E903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55E269-70FE-4050-9E8F-3C5BCBDF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fd8a2e2554e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d386075884f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16C25FBD-88D1-4781-B48B-B38191D6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8337E773-6780-4897-B2A6-FF2C65E2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Cheat Sheet - Capstone Roadmap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DA327AE-82E7-4EE3-A5E0-3B5F93E5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Gunakan sebagai cek sebelum gladi dan UAS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2A6F20D7-41FD-438A-8448-34587FA2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6D66F0D7-FEE9-4754-8966-1DF92FDA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34A478B9-01B1-407B-BA69-A0755955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Setup awal</a:t>
            </a:r>
            <a:endParaRPr sz="13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B83B677-D1FB-43FA-96E7-501CFA8D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Pilih 1 dari 4 tema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GitHub repo public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Vercel + Supabase project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OpenAI/Claude API key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Branch: main + develop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README placeholder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D12606B-0E56-480E-BB75-2A0DB181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D5E5F848-44EB-400B-8772-C9568573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374BC3E-08B4-4EAD-B074-D7E8F913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Deliverables</a:t>
            </a:r>
            <a:endParaRPr sz="13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84DADD4C-303A-4C96-B6A2-8EB2C3BD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Live URL functional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GitHub repo public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README 8 section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Architecture diagram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Demo video 5 min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Presentation 10 slide</a:t>
            </a:r>
            <a:endParaRPr sz="105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1668D5E-BF9D-4E29-803E-AE2758C0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B0914176-76EA-48A3-9494-1F3E9C0F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DAB9BB4-EE0C-4772-9A0B-06D06C68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Tech Default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B1690AFB-7794-4976-BDBD-1F5751CE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Frontend: Next.js + Vercel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Backend: Supabase + Docker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ML: HF Spaces + OpenAI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Vector: pgvector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Cache: Vercel KV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Logs: structured JSON</a:t>
            </a:r>
            <a:endParaRPr sz="105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EFEA66F-7970-4089-ABB8-917F330E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EB661442-A801-4BBA-96A6-9BE12864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88EEB966-4815-42D4-90DB-A4C726DE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Tahap 1</a:t>
            </a:r>
            <a:endParaRPr sz="13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0EA63B40-2831-45BF-B825-61F6D1F5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Skeleton end-to-end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Hello world deployed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Auth flow working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1 DB table + RLS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1 ML call success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Push every day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07B1A058-07AB-49F1-8F8F-3E766F49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2C330DF9-05D0-4341-8074-B9B5413C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E212D328-1B0E-46A1-8F04-FC684F33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Tahap 2</a:t>
            </a:r>
            <a:endParaRPr sz="13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1227AD8A-48BF-45CA-B628-11B67397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3 core features done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Loading + error state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Data model finalized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Backend integrate ML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Logging setup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Basic monitoring</a:t>
            </a:r>
            <a:endParaRPr sz="105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7F2BBED2-F70C-48B5-A2CC-9D5F4D45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54497822-CCED-4ABC-AAA4-79F5AC65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13934405-9E57-49C6-8081-3A55EEE6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Tahap 3</a:t>
            </a:r>
            <a:endParaRPr sz="13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1F9C1E18-4BD0-4D66-AC43-137CB2F1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UI polish + responsive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README finalized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Diagram + screenshots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Record demo video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Pre-demo checklist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Presentation slides</a:t>
            </a:r>
            <a:endParaRPr sz="105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CDBAC3E-1FA6-42EC-84B1-9AFA7531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1465BE18-D0DA-4B0E-9F6F-2A526499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65250E6B-2F8A-4864-B147-3A192DE5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Pitfall Avoid</a:t>
            </a:r>
            <a:endParaRPr sz="13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3A4F2BD2-5440-4FAF-874B-87A6DC8F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No scope creep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Commit daily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Secret in .env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Pre-record demo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Test README fresh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Understand your code</a:t>
            </a:r>
            <a:endParaRPr sz="105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58138083-4647-4DCA-8E04-3EBD589E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EC0F02A3-DC6C-4285-BFD3-32AEEDE5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8C84C82-BA60-4679-BD61-0E1DCDAD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Cek kualitas</a:t>
            </a:r>
            <a:endParaRPr sz="13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08D65D77-0C7A-4B4F-9460-51881A7E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Integrasi 4+ stack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Alur lintas layanan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Dokumentasi jelas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Demo teruji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Trade-off discussed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Production polish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0514793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CEF2D01-0710-4A31-83FB-403A300E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889548-B202-434C-B3E8-C089C3C1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527EF1F-8A28-41E8-87B9-7F6E9F28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2a8c55ae64c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0caf6d74d4f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9DE07116-836A-4D21-A6BF-58794125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8683020-5F68-4AAB-89DF-3EF40F94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Wrap-Up &amp; Persiapan Pertemuan 13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4947A22-1AEB-4614-83DA-E986800E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Sesi 13 untuk gladi; presentasi proyek UAS di minggu 14.</a:t>
            </a:r>
            <a:endParaRPr sz="12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7717AF22-A20F-4D2F-8B42-F67EEC37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Key Takeaways Hari Ini</a:t>
            </a:r>
            <a:endParaRPr sz="160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E0B4143-E509-4BE3-ACEC-D731AE86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089CD56-ECA4-4807-84D5-0EDF0FCE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1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2DF9A86A-C77B-4955-8D14-C972BE34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745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Capstone = integrasi minimum 4 stack, bukan fitur baru dari nol.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D7490674-EABF-48FA-94A5-8140BB3E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9B920E8-2951-4A60-A13D-21AEE6B6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1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158459F6-DEEE-4491-B54F-DD1CC1F3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17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Bukti: live URL, repo, README, video, slide, dan makalah IEEE.</a:t>
            </a:r>
            <a:endParaRPr sz="105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74711F93-722B-4D25-AB39-9CE4D546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97054F86-09FB-4A7C-9356-CA2C6012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1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9FC5C239-7B42-4420-91E3-E559B55C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889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4 tema referensi atau bebas - approve dosen dulu kalau bebas.</a:t>
            </a:r>
            <a:endParaRPr sz="10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2EFBE665-00E0-4BD5-BEB2-E7062341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5A2DFCF1-5693-4971-B19C-53580C80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1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0ADABD3E-7C84-4D7A-ABF4-CD317719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Tahap kerja: alur end to end, fitur inti, lalu bukti uji dan demo.</a:t>
            </a:r>
            <a:endParaRPr sz="105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596FB9FA-F749-4A30-A34C-64F822CB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FC6A7184-B1EE-4EB9-882A-181F9E24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1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4CAB0A14-06E0-417D-AD6A-B8DA3EF0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033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Auth via Supabase JWT - source of truth untuk semua service.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5F7ED4BA-EBD4-408D-888F-54B20982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F24A436-637C-4FC8-8E3D-74475B8F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1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D0256026-1E65-4206-B483-40770D46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Async pattern untuk long task, retry/circuit untuk reliability.</a:t>
            </a:r>
            <a:endParaRPr sz="1050"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29F4F03B-8362-4DB3-B743-5367CEFE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34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03752484-C086-4157-A48B-CC54BC5D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34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  <a:endParaRPr sz="11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915CDE2-F5C6-4243-A5C4-F7613D76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177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Gunakan rubrik pada slide sebagai alat evaluasi diri, bukan bobot resmi.</a:t>
            </a:r>
            <a:endParaRPr sz="105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3A97AA46-5DE8-49EF-9D75-679D5472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8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fc793e89e4a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5544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AEFFE77E-248D-44CB-A836-4C8AB1B9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55448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ACTION ITEMS - MULAI HARI INI</a:t>
            </a:r>
            <a:endParaRPr sz="1100"/>
          </a:p>
        </p:txBody>
      </p:sp>
      <p:sp>
        <p:nvSpPr>
          <p:cNvPr id="35" name="Text 30">
            <a:extLst xmlns:a="http://schemas.openxmlformats.org/drawingml/2006/main">
              <a:ext uri="{FF2B5EF4-FFF2-40B4-BE49-F238E27FC236}">
                <a16:creationId xmlns:a16="http://schemas.microsoft.com/office/drawing/2014/main" id="{B5B62E03-3D19-4465-816D-F5C53238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1680"/>
            <a:ext cx="5212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Setup awal capstone Anda</a:t>
            </a:r>
            <a:endParaRPr sz="1300"/>
          </a:p>
        </p:txBody>
      </p:sp>
      <p:sp>
        <p:nvSpPr>
          <p:cNvPr id="36" name="Text 31">
            <a:extLst xmlns:a="http://schemas.openxmlformats.org/drawingml/2006/main">
              <a:ext uri="{FF2B5EF4-FFF2-40B4-BE49-F238E27FC236}">
                <a16:creationId xmlns:a16="http://schemas.microsoft.com/office/drawing/2014/main" id="{84B099A7-3629-426D-BB88-A721C750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5120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Cek:</a:t>
            </a: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Pilih tema (4 referensi atau bebas)</a:t>
            </a:r>
            <a:endParaRPr sz="10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Lanjut:</a:t>
            </a: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GitHub repo + Vercel + Supabase project</a:t>
            </a:r>
            <a:endParaRPr sz="10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Uji:</a:t>
            </a: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Hello world end-to-end deployed</a:t>
            </a:r>
            <a:endParaRPr sz="10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Diskusikan tema dan status repo melalui kanal kelas resmi.</a:t>
            </a:r>
            <a:endParaRPr sz="1050"/>
          </a:p>
        </p:txBody>
      </p:sp>
      <p:sp>
        <p:nvSpPr>
          <p:cNvPr id="37" name="Shape 32">
            <a:extLst xmlns:a="http://schemas.openxmlformats.org/drawingml/2006/main">
              <a:ext uri="{FF2B5EF4-FFF2-40B4-BE49-F238E27FC236}">
                <a16:creationId xmlns:a16="http://schemas.microsoft.com/office/drawing/2014/main" id="{7A62295A-FC7F-4EA6-9744-349B825E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657600"/>
            <a:ext cx="5486400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8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d1d86aa034a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7947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9" name="Text 33">
            <a:extLst xmlns:a="http://schemas.openxmlformats.org/drawingml/2006/main">
              <a:ext uri="{FF2B5EF4-FFF2-40B4-BE49-F238E27FC236}">
                <a16:creationId xmlns:a16="http://schemas.microsoft.com/office/drawing/2014/main" id="{2A1C919A-DEE4-4658-B994-5AC53B79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79476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PERTEMUAN 13</a:t>
            </a:r>
            <a:endParaRPr sz="1100"/>
          </a:p>
        </p:txBody>
      </p:sp>
      <p:sp>
        <p:nvSpPr>
          <p:cNvPr id="40" name="Text 34">
            <a:extLst xmlns:a="http://schemas.openxmlformats.org/drawingml/2006/main">
              <a:ext uri="{FF2B5EF4-FFF2-40B4-BE49-F238E27FC236}">
                <a16:creationId xmlns:a16="http://schemas.microsoft.com/office/drawing/2014/main" id="{D4EEAB55-C1F7-4F8A-8D37-C72E70D7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5196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Gladi sebelum UAS</a:t>
            </a:r>
            <a:endParaRPr sz="1400"/>
          </a:p>
        </p:txBody>
      </p:sp>
      <p:sp>
        <p:nvSpPr>
          <p:cNvPr id="41" name="Text 35">
            <a:extLst xmlns:a="http://schemas.openxmlformats.org/drawingml/2006/main">
              <a:ext uri="{FF2B5EF4-FFF2-40B4-BE49-F238E27FC236}">
                <a16:creationId xmlns:a16="http://schemas.microsoft.com/office/drawing/2014/main" id="{9E56E6B0-BA54-45D3-8570-9678823D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52120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Tiap kelompok 3 orang latihan presentasi, demo, dan Q&amp;A sebelum UAS.</a:t>
            </a:r>
            <a:endParaRPr sz="1100"/>
          </a:p>
        </p:txBody>
      </p:sp>
      <p:sp>
        <p:nvSpPr>
          <p:cNvPr id="42" name="Shape 36">
            <a:extLst xmlns:a="http://schemas.openxmlformats.org/drawingml/2006/main">
              <a:ext uri="{FF2B5EF4-FFF2-40B4-BE49-F238E27FC236}">
                <a16:creationId xmlns:a16="http://schemas.microsoft.com/office/drawing/2014/main" id="{34D27A93-293E-4D66-AA49-F8874C64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548640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9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d21ab509d41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525780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44" name="Text 37">
            <a:extLst xmlns:a="http://schemas.openxmlformats.org/drawingml/2006/main">
              <a:ext uri="{FF2B5EF4-FFF2-40B4-BE49-F238E27FC236}">
                <a16:creationId xmlns:a16="http://schemas.microsoft.com/office/drawing/2014/main" id="{8F68A21A-87B4-4DB6-9928-F6AE6F90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07492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Pertanyaan?</a:t>
            </a:r>
            <a:endParaRPr sz="2200"/>
          </a:p>
        </p:txBody>
      </p:sp>
      <p:sp>
        <p:nvSpPr>
          <p:cNvPr id="45" name="Text 38">
            <a:extLst xmlns:a="http://schemas.openxmlformats.org/drawingml/2006/main">
              <a:ext uri="{FF2B5EF4-FFF2-40B4-BE49-F238E27FC236}">
                <a16:creationId xmlns:a16="http://schemas.microsoft.com/office/drawing/2014/main" id="{70282206-82CF-4D48-8D9C-0EBB454D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57784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Atau brainstorm tema bareng</a:t>
            </a:r>
            <a:endParaRPr sz="1200"/>
          </a:p>
        </p:txBody>
      </p:sp>
      <p:sp>
        <p:nvSpPr>
          <p:cNvPr id="46" name="Shape 39">
            <a:extLst xmlns:a="http://schemas.openxmlformats.org/drawingml/2006/main">
              <a:ext uri="{FF2B5EF4-FFF2-40B4-BE49-F238E27FC236}">
                <a16:creationId xmlns:a16="http://schemas.microsoft.com/office/drawing/2014/main" id="{8BD9B26B-7E8B-4EF5-A63C-44C60BBD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440680"/>
            <a:ext cx="54864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47" name="Text 40">
            <a:extLst xmlns:a="http://schemas.openxmlformats.org/drawingml/2006/main">
              <a:ext uri="{FF2B5EF4-FFF2-40B4-BE49-F238E27FC236}">
                <a16:creationId xmlns:a16="http://schemas.microsoft.com/office/drawing/2014/main" id="{28578E79-D254-493B-B2D3-D3E30E53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440680"/>
            <a:ext cx="5486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Sesi ini mendukung:  </a:t>
            </a: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LO1 + LO2 + LO3</a:t>
            </a:r>
            <a:r>
              <a:rPr sz="1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  (capstone integrates semua)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95367252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6725781-816D-3291-D9EE-93D28A1E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800"/>
            <a:ext cx="8890000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7738429-DE90-DAF3-717D-08FDA932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3100"/>
            <a:ext cx="112776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04690"/>
                </a:solidFill>
                <a:latin typeface="Calibri"/>
                <a:ea typeface="Calibri"/>
                <a:cs typeface="Calibri"/>
              </a:rPr>
              <a:t>Bukti capstone dan makalah IEEE</a:t>
            </a:r>
            <a:endParaRPr sz="2800" b="1">
              <a:solidFill>
                <a:srgbClr val="00469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3472F8F-2811-B62F-A4DD-194D31C8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 i="1">
                <a:solidFill>
                  <a:srgbClr val="606060"/>
                </a:solidFill>
                <a:latin typeface="Calibri"/>
                <a:ea typeface="Calibri"/>
                <a:cs typeface="Calibri"/>
              </a:rPr>
              <a:t>Satukan hasil teknis dan evaluasi yang dapat diulang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D05219F-0C84-9F71-A234-45F26558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0447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Repo memuat Dockerfile/Compose, migrasi SQL, env.example, dan riwayat commit.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CE3668-1CC3-FBDF-7239-E35468B7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8448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Sertakan URL Vercel, bukti Auth/RLS, model ML, monitoring, dan demo video.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221F76B-CBAD-A804-8855-A3F06D54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6449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Paper IEEE: abstrak, metode, arsitektur, eksperimen, hasil, dan sitasi.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82E170D-765E-7B31-9B5C-E9251964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4450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Laporkan p50/p95 latensi, biaya, akurasi/relevansi, serta batas pengujian.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C1188A7-0D9F-8F5D-BD4E-B8AF99AF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2451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Gunakan hasil Lab 01–11 dan checklist proyek kelompok di repo sendiri.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A8504D0-2FD5-90C5-A8B3-CD61AA3F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3500"/>
            <a:ext cx="112776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Sumber: RPS COMP6991031  |  Capstone dan presentasi</a:t>
            </a:r>
            <a:endParaRPr sz="900">
              <a:solidFill>
                <a:srgbClr val="696969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845602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0D00E-7750-4E48-B5DD-6E5D2BCF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BINUS UNIVERSITY  |  Cloud Services  |  Pertemuan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D2226-B1B3-4BB6-9936-964307DD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 i="0">
                <a:solidFill>
                  <a:srgbClr val="07529A"/>
                </a:solidFill>
                <a:latin typeface="Calibri"/>
                <a:ea typeface="Calibri"/>
                <a:cs typeface="Calibri"/>
              </a:defRPr>
            </a:pPr>
            <a:r>
              <a:rPr sz="2850" b="1" i="0">
                <a:solidFill>
                  <a:srgbClr val="07529A"/>
                </a:solidFill>
                <a:latin typeface="Calibri"/>
                <a:ea typeface="Calibri"/>
                <a:cs typeface="Calibri"/>
              </a:rPr>
              <a:t>Capstone: satu alur yang bisa diuji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F3487-7E0F-465C-B6E6-03A25EA1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 i="0">
                <a:solidFill>
                  <a:srgbClr val="F37721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37721"/>
                </a:solidFill>
                <a:latin typeface="Calibri"/>
                <a:ea typeface="Calibri"/>
                <a:cs typeface="Calibri"/>
              </a:rPr>
              <a:t>KASUS KERJA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003EE-D843-4DD3-A58D-2EFF4EBF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76425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 i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Kasus kerja: tim 3 orang menyatukan frontend, API, database, dan komponen ML menjadi satu layanan yang dapat ditunjukkan kepada pengguna.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D7A58-3FF6-4027-B74A-5B86EFF5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 i="0">
                <a:solidFill>
                  <a:srgbClr val="07529A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07529A"/>
                </a:solidFill>
                <a:latin typeface="Calibri"/>
                <a:ea typeface="Calibri"/>
                <a:cs typeface="Calibri"/>
              </a:rPr>
              <a:t>HUBUNGAN DENGAN PROYEK KELOMPOK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25FC9-5C28-42C7-92DB-4B98E65C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5619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 i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Lab 01–11 menjadi bahan latihan untuk satu proyek besar. Setelah checkpoint UTS minggu 7, periksa integrasi dan bukti uji. Sesi 12–13 menyiapkan UAS minggu 14.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FD9D3-D5CD-4B22-B48F-6E13BA7E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67325"/>
            <a:ext cx="1127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07529A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07529A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7374b58aaee84772"/>
              </a:rPr>
              <a:t>Bacaan resmi: Supabase + Next.js quickstart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5E94B-1609-4839-BC25-556B5369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67375"/>
            <a:ext cx="1127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07529A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07529A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7823b80386324811"/>
              </a:rPr>
              <a:t>Video resmi: Docker build best practices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7FB8F-7A8F-4F00-8A96-A4C2E54B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4575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Klik judul sumber saat tayang; tautan lengkap ada di catatan pembicara.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99E2A-7AA4-49FE-B008-BA3ACCBF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 i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Sumber: dokumentasi dan video resmi  |  Diverifikasi 8 Okt 2026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6cad9dd134dd6"/>
          <a:stretch xmlns:a="http://schemas.openxmlformats.org/drawingml/2006/main"/>
        </p:blipFill>
        <p:spPr>
          <a:xfrm xmlns:a="http://schemas.openxmlformats.org/drawingml/2006/main">
            <a:off x="6286500" y="1893792"/>
            <a:ext cx="5286375" cy="29751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82055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2026-10-07T19:05:06.0490000Z</dcterms:created>
  <dcterms:modified xsi:type="dcterms:W3CDTF">2026-10-07T19:05:06.0490000Z</dcterms:modified>
</coreProperties>
</file>